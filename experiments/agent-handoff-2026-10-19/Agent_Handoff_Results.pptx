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Data!$B$1</c:f>
              <c:strCache>
                <c:ptCount val="1"/>
                <c:pt idx="0">
                  <c:v>Free-form summary</c:v>
                </c:pt>
              </c:strCache>
            </c:strRef>
          </c:tx>
          <c:spPr>
            <a:solidFill>
              <a:srgbClr val="B9C4D5"/>
            </a:solidFill>
            <a:ln>
              <a:noFill/>
            </a:ln>
          </c:spPr>
          <c:invertIfNegative val="0"/>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GPT-5.6 Sol</c:v>
                </c:pt>
                <c:pt idx="1">
                  <c:v>GPT-5.6 Luna</c:v>
                </c:pt>
                <c:pt idx="2">
                  <c:v>Claude Opus 5.5</c:v>
                </c:pt>
                <c:pt idx="3">
                  <c:v>Claude Sonnet 5.5</c:v>
                </c:pt>
              </c:strCache>
            </c:strRef>
          </c:cat>
          <c:val>
            <c:numRef>
              <c:f>Data!$B$2:$B$5</c:f>
              <c:numCache>
                <c:formatCode>0.0%</c:formatCode>
                <c:ptCount val="4"/>
                <c:pt idx="0">
                  <c:v>0.57352941176500005</c:v>
                </c:pt>
                <c:pt idx="1">
                  <c:v>0.47058823529400001</c:v>
                </c:pt>
                <c:pt idx="2">
                  <c:v>0.57352941176500005</c:v>
                </c:pt>
                <c:pt idx="3">
                  <c:v>0.54411764705900001</c:v>
                </c:pt>
              </c:numCache>
            </c:numRef>
          </c:val>
          <c:extLst>
            <c:ext xmlns:c16="http://schemas.microsoft.com/office/drawing/2014/chart" uri="{C3380CC4-5D6E-409C-BE32-E72D297353CC}">
              <c16:uniqueId val="{00000000-8285-4569-B065-21D2BCB8BD01}"/>
            </c:ext>
          </c:extLst>
        </c:ser>
        <c:ser>
          <c:idx val="1"/>
          <c:order val="1"/>
          <c:tx>
            <c:strRef>
              <c:f>Data!$C$1</c:f>
              <c:strCache>
                <c:ptCount val="1"/>
                <c:pt idx="0">
                  <c:v>Checklist</c:v>
                </c:pt>
              </c:strCache>
            </c:strRef>
          </c:tx>
          <c:spPr>
            <a:solidFill>
              <a:srgbClr val="69DECC"/>
            </a:solidFill>
            <a:ln>
              <a:noFill/>
            </a:ln>
          </c:spPr>
          <c:invertIfNegative val="0"/>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GPT-5.6 Sol</c:v>
                </c:pt>
                <c:pt idx="1">
                  <c:v>GPT-5.6 Luna</c:v>
                </c:pt>
                <c:pt idx="2">
                  <c:v>Claude Opus 5.5</c:v>
                </c:pt>
                <c:pt idx="3">
                  <c:v>Claude Sonnet 5.5</c:v>
                </c:pt>
              </c:strCache>
            </c:strRef>
          </c:cat>
          <c:val>
            <c:numRef>
              <c:f>Data!$C$2:$C$5</c:f>
              <c:numCache>
                <c:formatCode>0.0%</c:formatCode>
                <c:ptCount val="4"/>
                <c:pt idx="0">
                  <c:v>0.53676470588199998</c:v>
                </c:pt>
                <c:pt idx="1">
                  <c:v>0.45588235294099999</c:v>
                </c:pt>
                <c:pt idx="2">
                  <c:v>0.58088235294099999</c:v>
                </c:pt>
                <c:pt idx="3">
                  <c:v>0.55147058823499995</c:v>
                </c:pt>
              </c:numCache>
            </c:numRef>
          </c:val>
          <c:extLst>
            <c:ext xmlns:c16="http://schemas.microsoft.com/office/drawing/2014/chart" uri="{C3380CC4-5D6E-409C-BE32-E72D297353CC}">
              <c16:uniqueId val="{00000001-8285-4569-B065-21D2BCB8BD01}"/>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legend>
      <c:legendPos val="b"/>
      <c:overlay val="0"/>
      <c:txPr>
        <a:bodyPr/>
        <a:lstStyle/>
        <a:p>
          <a:pPr>
            <a:defRPr sz="1600">
              <a:solidFill>
                <a:srgbClr val="F5F3EB"/>
              </a:solidFill>
              <a:latin typeface="Arial"/>
            </a:defRPr>
          </a:pPr>
          <a:endParaRPr lang="en-US"/>
        </a:p>
      </c:txPr>
    </c:legend>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3"/>
          <c:y val="0.02"/>
          <c:w val="0.61"/>
          <c:h val="0.86"/>
        </c:manualLayout>
      </c:layout>
      <c:barChart>
        <c:barDir val="bar"/>
        <c:grouping val="clustered"/>
        <c:varyColors val="0"/>
        <c:ser>
          <c:idx val="0"/>
          <c:order val="0"/>
          <c:tx>
            <c:strRef>
              <c:f>Data!$B$1</c:f>
              <c:strCache>
                <c:ptCount val="1"/>
                <c:pt idx="0">
                  <c:v>Facts recovered</c:v>
                </c:pt>
              </c:strCache>
            </c:strRef>
          </c:tx>
          <c:spPr>
            <a:solidFill>
              <a:srgbClr val="69DECC"/>
            </a:solidFill>
            <a:ln>
              <a:noFill/>
            </a:ln>
          </c:spPr>
          <c:invertIfNegative val="0"/>
          <c:dPt>
            <c:idx val="4"/>
            <c:invertIfNegative val="0"/>
            <c:bubble3D val="0"/>
            <c:spPr>
              <a:solidFill>
                <a:srgbClr val="FFC36A"/>
              </a:solidFill>
              <a:ln>
                <a:noFill/>
              </a:ln>
            </c:spPr>
            <c:extLst>
              <c:ext xmlns:c16="http://schemas.microsoft.com/office/drawing/2014/chart" uri="{C3380CC4-5D6E-409C-BE32-E72D297353CC}">
                <c16:uniqueId val="{00000001-1F59-4B8D-A3AA-D6AB788858FB}"/>
              </c:ext>
            </c:extLst>
          </c:dPt>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Data!$A$2:$A$7</c:f>
              <c:strCache>
                <c:ptCount val="6"/>
                <c:pt idx="0">
                  <c:v>Files changed</c:v>
                </c:pt>
                <c:pt idx="1">
                  <c:v>Checks and results</c:v>
                </c:pt>
                <c:pt idx="2">
                  <c:v>What wasn’t verified</c:v>
                </c:pt>
                <c:pt idx="3">
                  <c:v>Timeout: how and why</c:v>
                </c:pt>
                <c:pt idx="4">
                  <c:v>What counts as success</c:v>
                </c:pt>
                <c:pt idx="5">
                  <c:v>Proxy and headers</c:v>
                </c:pt>
              </c:strCache>
            </c:strRef>
          </c:cat>
          <c:val>
            <c:numRef>
              <c:f>Data!$B$2:$B$7</c:f>
              <c:numCache>
                <c:formatCode>0.0%</c:formatCode>
                <c:ptCount val="6"/>
                <c:pt idx="0">
                  <c:v>1</c:v>
                </c:pt>
                <c:pt idx="1">
                  <c:v>1</c:v>
                </c:pt>
                <c:pt idx="2">
                  <c:v>0.86458333333299997</c:v>
                </c:pt>
                <c:pt idx="3">
                  <c:v>0.45</c:v>
                </c:pt>
                <c:pt idx="4">
                  <c:v>1.1111111111100001E-2</c:v>
                </c:pt>
                <c:pt idx="5">
                  <c:v>1</c:v>
                </c:pt>
              </c:numCache>
            </c:numRef>
          </c:val>
          <c:extLst>
            <c:ext xmlns:c16="http://schemas.microsoft.com/office/drawing/2014/chart" uri="{C3380CC4-5D6E-409C-BE32-E72D297353CC}">
              <c16:uniqueId val="{00000000-2903-45DA-A470-FF4DD54A6783}"/>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AD5A2C-7A87-4C6E-B9D5-E78D2408C15A}" type="datetimeFigureOut">
              <a:rPr lang="en-SG" smtClean="0"/>
              <a:t>19/10/2026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976E82-AB8E-4592-BB13-A06718EC07DB}" type="slidenum">
              <a:rPr lang="en-SG" smtClean="0"/>
              <a:t>‹#›</a:t>
            </a:fld>
            <a:endParaRPr lang="en-SG"/>
          </a:p>
        </p:txBody>
      </p:sp>
    </p:spTree>
    <p:extLst>
      <p:ext uri="{BB962C8B-B14F-4D97-AF65-F5344CB8AC3E}">
        <p14:creationId xmlns:p14="http://schemas.microsoft.com/office/powerpoint/2010/main" val="2827479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experiment compares two handoff formats for passing task context between AI agents, using a real MP3 coding task. It draws on Week 8 (multi-agent coordination) and Week 9 (context engineering).</a:t>
            </a:r>
          </a:p>
          <a:p>
            <a:endParaRPr lang="en-SG" dirty="0"/>
          </a:p>
          <a:p>
            <a:r>
              <a:rPr lang="en-SG" dirty="0"/>
              <a:t>Sources: setup-original.md (the experiment proposal) and the results ZIP in this folder (report.html).</a:t>
            </a:r>
          </a:p>
        </p:txBody>
      </p:sp>
      <p:sp>
        <p:nvSpPr>
          <p:cNvPr id="4" name="Slide Number Placeholder 3"/>
          <p:cNvSpPr>
            <a:spLocks noGrp="1"/>
          </p:cNvSpPr>
          <p:nvPr>
            <p:ph type="sldNum" sz="quarter" idx="5"/>
          </p:nvPr>
        </p:nvSpPr>
        <p:spPr/>
        <p:txBody>
          <a:bodyPr/>
          <a:lstStyle/>
          <a:p>
            <a:fld id="{EA976E82-AB8E-4592-BB13-A06718EC07DB}" type="slidenum">
              <a:rPr lang="en-SG"/>
              <a:t>1</a:t>
            </a:fld>
            <a:endParaRPr lang="en-SG"/>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This is the slice workflow in workflow/skills/slice.md: spec-writer, test-writer, implementer and reviewer, with the orchestrating session passing each agent the earlier handoffs. Every role agent ends its run with the handoff block defined in AGENTS.md (Agent and Status, Inputs, Changed, Checks, Decisions needed, Assumptions, Untrusted content seen). The experiment's checklist uses those same fields.</a:t>
            </a:r>
          </a:p>
          <a:p>
            <a:endParaRPr lang="en-SG" dirty="0"/>
          </a:p>
          <a:p>
            <a:r>
              <a:rPr lang="en-SG" dirty="0"/>
              <a:t>Lecture link: Week 8, Simple (Manual) Workflow, step 4 "Hand off at the end of the task", and Handoff as a Skill.</a:t>
            </a:r>
          </a:p>
          <a:p>
            <a:endParaRPr lang="en-SG" dirty="0"/>
          </a:p>
          <a:p>
            <a:r>
              <a:rPr lang="en-SG" dirty="0"/>
              <a:t>Sources: AGENTS.md (Handoff), workflow/skills/slice.md, setup-original.md (Synopsis).</a:t>
            </a:r>
          </a:p>
        </p:txBody>
      </p:sp>
      <p:sp>
        <p:nvSpPr>
          <p:cNvPr id="4" name="Slide Number Placeholder 3"/>
          <p:cNvSpPr>
            <a:spLocks noGrp="1"/>
          </p:cNvSpPr>
          <p:nvPr>
            <p:ph type="sldNum" sz="quarter" idx="5"/>
          </p:nvPr>
        </p:nvSpPr>
        <p:spPr/>
        <p:txBody>
          <a:bodyPr/>
          <a:lstStyle/>
          <a:p>
            <a:fld id="{EA976E82-AB8E-4592-BB13-A06718EC07DB}" type="slidenum">
              <a:rPr lang="en-SG"/>
              <a:t>2</a:t>
            </a:fld>
            <a:endParaRPr lang="en-SG"/>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message-history lengths are measured, not estimated: the five recorded histories were 3,449, 3,466, 3,512, 3,493 and 3,551 words (whitespace-separated, as counted by the experiment's runner). A message history is everything the coding agent saw and did: its messages, tool calls and tool results.</a:t>
            </a:r>
          </a:p>
          <a:p>
            <a:endParaRPr lang="en-SG" dirty="0"/>
          </a:p>
          <a:p>
            <a:r>
              <a:rPr lang="en-SG" dirty="0"/>
              <a:t>Lecture link: Week 8, Handoff as a Skill (context compaction into a structured document so fresh agents can resume); Week 9, compaction is lossy.</a:t>
            </a:r>
          </a:p>
          <a:p>
            <a:endParaRPr lang="en-SG" dirty="0"/>
          </a:p>
          <a:p>
            <a:r>
              <a:rPr lang="en-SG" dirty="0"/>
              <a:t>Sources: results ZIP, source-lengths.json and extension-frozen/handoff-prompts.json.</a:t>
            </a:r>
          </a:p>
        </p:txBody>
      </p:sp>
      <p:sp>
        <p:nvSpPr>
          <p:cNvPr id="4" name="Slide Number Placeholder 3"/>
          <p:cNvSpPr>
            <a:spLocks noGrp="1"/>
          </p:cNvSpPr>
          <p:nvPr>
            <p:ph type="sldNum" sz="quarter" idx="5"/>
          </p:nvPr>
        </p:nvSpPr>
        <p:spPr/>
        <p:txBody>
          <a:bodyPr/>
          <a:lstStyle/>
          <a:p>
            <a:fld id="{EA976E82-AB8E-4592-BB13-A06718EC07DB}" type="slidenum">
              <a:rPr lang="en-SG"/>
              <a:t>3</a:t>
            </a:fld>
            <a:endParaRPr lang="en-SG"/>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Both handoff agents got the same shared prompt: "Using only this recorded history, summarise the coding agent's work for the next agent in at most 200 words, including labels. Cover agent and status, inputs, changed files, checks and outcomes, decisions needed, assumptions and untrusted content seen. Do not infer missing facts; mark them 'not stated'." The free-form agent also got "Write connected prose without headings or bullet points." The checklist agent also got "Use these checklist fields: Agent and Status, Inputs, Changed, Checks, Decisions needed, Assumptions, Untrusted content seen."</a:t>
            </a:r>
          </a:p>
          <a:p>
            <a:endParaRPr lang="en-SG" dirty="0"/>
          </a:p>
          <a:p>
            <a:r>
              <a:rPr lang="en-SG" dirty="0"/>
              <a:t>Sources: results ZIP, extension-frozen/handoff-prompts.json; AGENTS.md (Handoff) for the MP3 fields.</a:t>
            </a:r>
          </a:p>
        </p:txBody>
      </p:sp>
      <p:sp>
        <p:nvSpPr>
          <p:cNvPr id="4" name="Slide Number Placeholder 3"/>
          <p:cNvSpPr>
            <a:spLocks noGrp="1"/>
          </p:cNvSpPr>
          <p:nvPr>
            <p:ph type="sldNum" sz="quarter" idx="5"/>
          </p:nvPr>
        </p:nvSpPr>
        <p:spPr/>
        <p:txBody>
          <a:bodyPr/>
          <a:lstStyle/>
          <a:p>
            <a:fld id="{EA976E82-AB8E-4592-BB13-A06718EC07DB}" type="slidenum">
              <a:rPr lang="en-SG"/>
              <a:t>4</a:t>
            </a:fld>
            <a:endParaRPr lang="en-SG"/>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health check sends one fixed request to the SoC LLM provider and checks only the reply's shape. The access token is SOC_LLM_PROBE_TOKEN, a secret the operator sends in the Authorization header to run the check; it is not an LLM token. Every coding run got the same starting code, contract and 30 offline tests, could edit only llm.py, and had no network. All five repairs passed all 30 tests.</a:t>
            </a:r>
          </a:p>
          <a:p>
            <a:endParaRPr lang="en-SG" dirty="0"/>
          </a:p>
          <a:p>
            <a:r>
              <a:rPr lang="en-SG" dirty="0"/>
              <a:t>Sources: setup-original.md ("The coding task"); workflow/specs/ai/llm-health.md at commit 6b8af72; results ZIP, report.html.</a:t>
            </a:r>
          </a:p>
        </p:txBody>
      </p:sp>
      <p:sp>
        <p:nvSpPr>
          <p:cNvPr id="4" name="Slide Number Placeholder 3"/>
          <p:cNvSpPr>
            <a:spLocks noGrp="1"/>
          </p:cNvSpPr>
          <p:nvPr>
            <p:ph type="sldNum" sz="quarter" idx="5"/>
          </p:nvPr>
        </p:nvSpPr>
        <p:spPr/>
        <p:txBody>
          <a:bodyPr/>
          <a:lstStyle/>
          <a:p>
            <a:fld id="{EA976E82-AB8E-4592-BB13-A06718EC07DB}" type="slidenum">
              <a:rPr lang="en-SG"/>
              <a:t>5</a:t>
            </a:fld>
            <a:endParaRPr lang="en-SG"/>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Every agent ran in a fresh session. The handoff and receiving agents had no tools. Neither handoff agent saw the other's handoff, and no agent saw the answer key. The receiving agent had to back each answer with exact quotes from the handoff, or say "not stated".</a:t>
            </a:r>
          </a:p>
          <a:p>
            <a:endParaRPr lang="en-SG" dirty="0"/>
          </a:p>
          <a:p>
            <a:r>
              <a:rPr lang="en-SG" dirty="0"/>
              <a:t>The original plan used GPT-6.1 Sol for the coding and receiving agents and three coding runs. The runs used Claude Opus 5.5 for both, and two more coding runs were added after seeing the first three results (see the second backup slide).</a:t>
            </a:r>
          </a:p>
          <a:p>
            <a:endParaRPr lang="en-SG" dirty="0"/>
          </a:p>
          <a:p>
            <a:r>
              <a:rPr lang="en-SG" dirty="0"/>
              <a:t>Sources: setup-original.md ("Experiment roles", "Run the paired comparison"); results ZIP, extension-frozen/models.json, extension-frozen/receiver-prompt.json, report.html.</a:t>
            </a:r>
          </a:p>
        </p:txBody>
      </p:sp>
      <p:sp>
        <p:nvSpPr>
          <p:cNvPr id="4" name="Slide Number Placeholder 3"/>
          <p:cNvSpPr>
            <a:spLocks noGrp="1"/>
          </p:cNvSpPr>
          <p:nvPr>
            <p:ph type="sldNum" sz="quarter" idx="5"/>
          </p:nvPr>
        </p:nvSpPr>
        <p:spPr/>
        <p:txBody>
          <a:bodyPr/>
          <a:lstStyle/>
          <a:p>
            <a:fld id="{EA976E82-AB8E-4592-BB13-A06718EC07DB}" type="slidenum">
              <a:rPr lang="en-SG"/>
              <a:t>6</a:t>
            </a:fld>
            <a:endParaRPr lang="en-SG"/>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Each run had 27 or 28 expected facts, so each model and format was scored on 136 facts across the five runs. Facts are scored one by one, so a partly right answer still gets credit for its right parts. A fact counts if the receiving agent states it anywhere in its six answers or quotes. A question with no supporting evidence in a run's history would have been marked N/A, so missing evidence is not counted as a loss.</a:t>
            </a:r>
          </a:p>
          <a:p>
            <a:endParaRPr lang="en-SG" dirty="0"/>
          </a:p>
          <a:p>
            <a:r>
              <a:rPr lang="en-SG" dirty="0"/>
              <a:t>Sources: setup-original.md ("Score and interpret the results"); results ZIP, extension-frozen/questions.json, extension-frozen/score-rules.json, extension-frozen/coding-04-answer-key.json.</a:t>
            </a:r>
          </a:p>
        </p:txBody>
      </p:sp>
      <p:sp>
        <p:nvSpPr>
          <p:cNvPr id="4" name="Slide Number Placeholder 3"/>
          <p:cNvSpPr>
            <a:spLocks noGrp="1"/>
          </p:cNvSpPr>
          <p:nvPr>
            <p:ph type="sldNum" sz="quarter" idx="5"/>
          </p:nvPr>
        </p:nvSpPr>
        <p:spPr/>
        <p:txBody>
          <a:bodyPr/>
          <a:lstStyle/>
          <a:p>
            <a:fld id="{EA976E82-AB8E-4592-BB13-A06718EC07DB}" type="slidenum">
              <a:rPr lang="en-SG"/>
              <a:t>7</a:t>
            </a:fld>
            <a:endParaRPr lang="en-SG"/>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Correct facts out of 136: GPT-5.6 Sol 78 summary vs 73 checklist; GPT-5.6 Luna 64 vs 62; Claude Opus 5.5 78 vs 79; Claude Sonnet 5.5 74 vs 75. No expected fact was scored wrong; the rest were not stated. These are totals over five runs, not averages, and no significance test was run.</a:t>
            </a:r>
          </a:p>
          <a:p>
            <a:endParaRPr lang="en-SG" dirty="0"/>
          </a:p>
          <a:p>
            <a:r>
              <a:rPr lang="en-SG" dirty="0"/>
              <a:t>Word limit: Claude Opus 5.5 checklists were over 200 words in 5 of 5 runs and Claude Sonnet 5.5 checklists in 4 of 5. No GPT handoff went over. Counting only runs where both formats stayed within 200 words, Sol and Luna keep all five and still favour the summary; Opus keeps none and Sonnet keeps one.</a:t>
            </a:r>
          </a:p>
          <a:p>
            <a:endParaRPr lang="en-SG" dirty="0"/>
          </a:p>
          <a:p>
            <a:r>
              <a:rPr lang="en-SG" dirty="0"/>
              <a:t>Luna after runs 1 to 3: checklist 37, summary 35 of 82. After all five: summary 64, checklist 62 of 136.</a:t>
            </a:r>
          </a:p>
          <a:p>
            <a:endParaRPr lang="en-SG" dirty="0"/>
          </a:p>
          <a:p>
            <a:r>
              <a:rPr lang="en-SG" dirty="0"/>
              <a:t>Sources: results ZIP, model-format-results.json, before-after.json, word-counts.json, compliant-pair-sensitivity.json.</a:t>
            </a:r>
          </a:p>
        </p:txBody>
      </p:sp>
      <p:sp>
        <p:nvSpPr>
          <p:cNvPr id="4" name="Slide Number Placeholder 3"/>
          <p:cNvSpPr>
            <a:spLocks noGrp="1"/>
          </p:cNvSpPr>
          <p:nvPr>
            <p:ph type="sldNum" sz="quarter" idx="5"/>
          </p:nvPr>
        </p:nvSpPr>
        <p:spPr/>
        <p:txBody>
          <a:bodyPr/>
          <a:lstStyle/>
          <a:p>
            <a:fld id="{EA976E82-AB8E-4592-BB13-A06718EC07DB}" type="slidenum">
              <a:rPr lang="en-SG"/>
              <a:t>8</a:t>
            </a:fld>
            <a:endParaRPr lang="en-SG"/>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success rules come from the probe's contract: status 200, valid UTF-8 JSON, a non-empty choices list, a non-blank message, and a body of at most 65,536 bytes. The bars pool all 40 handoffs. Reading the 40 handoff texts confirms the loss happened when the handoff was written: almost none mention these rules. The timeout question shows the same pattern at 45%: 35 of 40 handoffs kept the 10-second limit, but none kept the recorded reason for using one total deadline rather than a per-socket timeout.</a:t>
            </a:r>
          </a:p>
          <a:p>
            <a:endParaRPr lang="en-SG" dirty="0"/>
          </a:p>
          <a:p>
            <a:r>
              <a:rPr lang="en-SG" dirty="0"/>
              <a:t>Sources: results ZIP, question-results.json, fact-scores.json, evidence/*/handoff.txt.</a:t>
            </a:r>
          </a:p>
        </p:txBody>
      </p:sp>
      <p:sp>
        <p:nvSpPr>
          <p:cNvPr id="4" name="Slide Number Placeholder 3"/>
          <p:cNvSpPr>
            <a:spLocks noGrp="1"/>
          </p:cNvSpPr>
          <p:nvPr>
            <p:ph type="sldNum" sz="quarter" idx="5"/>
          </p:nvPr>
        </p:nvSpPr>
        <p:spPr/>
        <p:txBody>
          <a:bodyPr/>
          <a:lstStyle/>
          <a:p>
            <a:fld id="{EA976E82-AB8E-4592-BB13-A06718EC07DB}" type="slidenum">
              <a:rPr lang="en-SG"/>
              <a:t>9</a:t>
            </a:fld>
            <a:endParaRPr lang="en-SG"/>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quotes are shortened but otherwise exact. The one credited fact came from the receiving agent's answer to the checks question, which the full-quiz scoring rule allows.</a:t>
            </a:r>
          </a:p>
          <a:p>
            <a:endParaRPr lang="en-SG" dirty="0"/>
          </a:p>
          <a:p>
            <a:r>
              <a:rPr lang="en-SG" dirty="0"/>
              <a:t>Sources: results ZIP, evidence/coding-04/gpt-5.6-sol/checklist/handoff.txt and answers.json; extension-frozen/coding-04-answer-key.json; fact-scores.json.</a:t>
            </a:r>
          </a:p>
        </p:txBody>
      </p:sp>
      <p:sp>
        <p:nvSpPr>
          <p:cNvPr id="4" name="Slide Number Placeholder 3"/>
          <p:cNvSpPr>
            <a:spLocks noGrp="1"/>
          </p:cNvSpPr>
          <p:nvPr>
            <p:ph type="sldNum" sz="quarter" idx="5"/>
          </p:nvPr>
        </p:nvSpPr>
        <p:spPr/>
        <p:txBody>
          <a:bodyPr/>
          <a:lstStyle/>
          <a:p>
            <a:fld id="{EA976E82-AB8E-4592-BB13-A06718EC07DB}" type="slidenum">
              <a:rPr lang="en-SG"/>
              <a:t>10</a:t>
            </a:fld>
            <a:endParaRPr lang="en-SG"/>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Over-length handoffs: Claude Opus 5.5 checklists 5 of 5, Claude Sonnet 5.5 checklists 4 of 5, Claude Opus 5.5 summaries 3 of 5; no GPT handoff went over. "The formats ended up alike" comes from reading the 20 free-form summaries: nearly all still name each requested part inline ("Agent/status: ... Inputs: ...").</a:t>
            </a:r>
          </a:p>
          <a:p>
            <a:endParaRPr lang="en-SG" dirty="0"/>
          </a:p>
          <a:p>
            <a:r>
              <a:rPr lang="en-SG" dirty="0"/>
              <a:t>Separate from the scores, a few false or vague statements in handoffs and answers were recorded, for example a handoff calling all three input files read-only. None changed an expected fact's score.</a:t>
            </a:r>
          </a:p>
          <a:p>
            <a:endParaRPr lang="en-SG" dirty="0"/>
          </a:p>
          <a:p>
            <a:r>
              <a:rPr lang="en-SG" dirty="0"/>
              <a:t>Sources: results ZIP, report.html ("Method, extension and limitations"), word-counts.json, observations.json, evidence/*/prose/handoff.txt.</a:t>
            </a:r>
          </a:p>
        </p:txBody>
      </p:sp>
      <p:sp>
        <p:nvSpPr>
          <p:cNvPr id="4" name="Slide Number Placeholder 3"/>
          <p:cNvSpPr>
            <a:spLocks noGrp="1"/>
          </p:cNvSpPr>
          <p:nvPr>
            <p:ph type="sldNum" sz="quarter" idx="5"/>
          </p:nvPr>
        </p:nvSpPr>
        <p:spPr/>
        <p:txBody>
          <a:bodyPr/>
          <a:lstStyle/>
          <a:p>
            <a:fld id="{EA976E82-AB8E-4592-BB13-A06718EC07DB}" type="slidenum">
              <a:rPr lang="en-SG"/>
              <a:t>11</a:t>
            </a:fld>
            <a:endParaRPr lang="en-SG"/>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Week 9 Agent Workflow Notes template lists Goal, Current State, Decisions, Findings, Open Questions, Next Actions and Change Log. Our MP3 handoff block (AGENTS.md) has no goal or success-criteria field. Week 8's handoff skill also points towards idea 2: its deduplication feature references existing artefacts by path or URL instead of repeating them. A fair next test would also enforce the word limit, use more than one task, and use blind grading.</a:t>
            </a:r>
          </a:p>
          <a:p>
            <a:endParaRPr lang="en-SG" dirty="0"/>
          </a:p>
          <a:p>
            <a:r>
              <a:rPr lang="en-SG" dirty="0"/>
              <a:t>Sources: Week 9 lecture (Optimization for Long Tasks: Recall First, Structured Note Taking; Context Retrieval: Just-in-Time Retrieval); Week 8 lecture (Handoff as a Skill); AGENTS.md (Handoff).</a:t>
            </a:r>
          </a:p>
        </p:txBody>
      </p:sp>
      <p:sp>
        <p:nvSpPr>
          <p:cNvPr id="4" name="Slide Number Placeholder 3"/>
          <p:cNvSpPr>
            <a:spLocks noGrp="1"/>
          </p:cNvSpPr>
          <p:nvPr>
            <p:ph type="sldNum" sz="quarter" idx="5"/>
          </p:nvPr>
        </p:nvSpPr>
        <p:spPr/>
        <p:txBody>
          <a:bodyPr/>
          <a:lstStyle/>
          <a:p>
            <a:fld id="{EA976E82-AB8E-4592-BB13-A06718EC07DB}" type="slidenum">
              <a:rPr lang="en-SG"/>
              <a:t>12</a:t>
            </a:fld>
            <a:endParaRPr lang="en-SG"/>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Backup slide for questions after the talk.</a:t>
            </a:r>
          </a:p>
          <a:p>
            <a:endParaRPr lang="en-SG" dirty="0"/>
          </a:p>
          <a:p>
            <a:r>
              <a:rPr lang="en-SG" dirty="0"/>
              <a:t>Each row pools the five coding runs: 27 + 27 + 28 + 27 + 27 = 136 expected facts. These are totals, not averages. No expected fact was scored wrong, so every other fact was not stated. "Over 200 words" counts that model and format's handoffs, one per run.</a:t>
            </a:r>
          </a:p>
          <a:p>
            <a:endParaRPr lang="en-SG" dirty="0"/>
          </a:p>
          <a:p>
            <a:r>
              <a:rPr lang="en-SG" dirty="0"/>
              <a:t>Sources: results ZIP, model-format-results.json, word-counts.json.</a:t>
            </a:r>
          </a:p>
        </p:txBody>
      </p:sp>
      <p:sp>
        <p:nvSpPr>
          <p:cNvPr id="4" name="Slide Number Placeholder 3"/>
          <p:cNvSpPr>
            <a:spLocks noGrp="1"/>
          </p:cNvSpPr>
          <p:nvPr>
            <p:ph type="sldNum" sz="quarter" idx="5"/>
          </p:nvPr>
        </p:nvSpPr>
        <p:spPr/>
        <p:txBody>
          <a:bodyPr/>
          <a:lstStyle/>
          <a:p>
            <a:fld id="{EA976E82-AB8E-4592-BB13-A06718EC07DB}" type="slidenum">
              <a:rPr lang="en-SG"/>
              <a:t>13</a:t>
            </a:fld>
            <a:endParaRPr lang="en-SG"/>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Backup slide for questions after the talk.</a:t>
            </a:r>
          </a:p>
          <a:p>
            <a:endParaRPr lang="en-SG" dirty="0"/>
          </a:p>
          <a:p>
            <a:r>
              <a:rPr lang="en-SG" dirty="0"/>
              <a:t>The coding agent worked in an offline, read-only container with an unprivileged user; only llm.py was writable. The starting code failed 5 of the 30 tests and errored on 4; a private reference repair passed all 30 and was kept out of the coding agent's inputs. Claude sessions exposed no tools. OpenAI sessions kept their built-in tool definitions under an agreed, audited exception; audits of what the client recorded found no tool calls and no incomplete audits. All agents used medium effort, which is not equal compute across providers. Eight preliminary handoffs were excluded after a transcript-rendering fix, and one incomplete setup attempt for the extra runs was excluded before any scored handoffs; their raw evidence is preserved.</a:t>
            </a:r>
          </a:p>
          <a:p>
            <a:endParaRPr lang="en-SG" dirty="0"/>
          </a:p>
          <a:p>
            <a:r>
              <a:rPr lang="en-SG" dirty="0"/>
              <a:t>Sources: results ZIP, report.html, cli-audit.json, extension-cli-audit.json, extension-plan.json; setup-original.md for the original plan.</a:t>
            </a:r>
          </a:p>
        </p:txBody>
      </p:sp>
      <p:sp>
        <p:nvSpPr>
          <p:cNvPr id="4" name="Slide Number Placeholder 3"/>
          <p:cNvSpPr>
            <a:spLocks noGrp="1"/>
          </p:cNvSpPr>
          <p:nvPr>
            <p:ph type="sldNum" sz="quarter" idx="5"/>
          </p:nvPr>
        </p:nvSpPr>
        <p:spPr/>
        <p:txBody>
          <a:bodyPr/>
          <a:lstStyle/>
          <a:p>
            <a:fld id="{EA976E82-AB8E-4592-BB13-A06718EC07DB}" type="slidenum">
              <a:rPr lang="en-SG"/>
              <a:t>14</a:t>
            </a:fld>
            <a:endParaRPr lang="en-SG"/>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4528-5EA7-4362-5A23-EA2A666363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969AF17C-B608-8D30-C1D6-18BC2233DA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3BFD0502-52DA-4EB5-A359-D8BC8521EE3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3EBD9625-46CE-5F26-5ADF-3A2E6CD003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EF78864-E1F7-7CF9-2814-40ABA8AC8784}"/>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445104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93B83-4DE2-0521-40D5-5CB13CF25342}"/>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ED1245E-23D2-5A8D-1C88-0F35A7CF1C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E6984054-3CA9-56EB-F428-5DE9D8D1D1D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6FDDE685-866C-5E4D-181C-7412BB54A92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1BB3E6B-ED1A-7344-7534-10B8BF4FB98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9523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039E-0B8E-0459-0429-B85AB1EDA76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08D52ECC-5D1B-B729-09DA-0B4ACA284F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2BB8BE-54A3-97DE-9274-32896E5FC39A}"/>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F0F25C86-18FD-5051-D134-C133558512A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867A485-219F-4DC2-6D03-3A509D9B2E78}"/>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892180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6F17E-8E42-2FA3-F221-58871A5632B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DC7A5251-A9B7-9E0D-32EC-B20ACDC325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2D303A18-026E-522F-06B2-E3A4B2A2D8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E9866F60-FC05-8BAC-D9F2-4484849B7AE2}"/>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D80B910C-0D6E-8E60-B423-100DB559B29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F297A1F-871F-1A42-989A-F60FF2B8F0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842284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FEB98-1C3C-8B25-E832-34E424F95624}"/>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27F6D02A-6771-8EF7-0D42-891F34568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DABD78-E2C8-6860-AF6E-65790420A6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A548B9E9-F772-4D4D-C3E2-BA6B858C6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D3904C-D675-D6DC-7F5E-A70508CE53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FFCE63F-62B1-E31D-DF17-D88FF4C54D04}"/>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8" name="Footer Placeholder 7">
            <a:extLst>
              <a:ext uri="{FF2B5EF4-FFF2-40B4-BE49-F238E27FC236}">
                <a16:creationId xmlns:a16="http://schemas.microsoft.com/office/drawing/2014/main" id="{398B139E-A810-3CB2-D58E-35AC1EC88C59}"/>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A49B1CF1-69CD-2379-3F17-23DEFBF8A71F}"/>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3640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9E4BB-508E-5194-93D7-E19C6088DE26}"/>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67C3352A-4B56-6C9C-9D95-FC4B90420A66}"/>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4" name="Footer Placeholder 3">
            <a:extLst>
              <a:ext uri="{FF2B5EF4-FFF2-40B4-BE49-F238E27FC236}">
                <a16:creationId xmlns:a16="http://schemas.microsoft.com/office/drawing/2014/main" id="{65949754-841E-84DD-2B9C-FAAFF1CBF2E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FF6EF6A8-AF5D-C38D-0F4C-A1000A89456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553824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6BC86-28ED-85B6-D46A-A1B8981B4610}"/>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3" name="Footer Placeholder 2">
            <a:extLst>
              <a:ext uri="{FF2B5EF4-FFF2-40B4-BE49-F238E27FC236}">
                <a16:creationId xmlns:a16="http://schemas.microsoft.com/office/drawing/2014/main" id="{BFF2DE35-72EF-06A4-6E65-FD74D0D4DD61}"/>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982C6243-CC8A-9891-DB66-8680C93A97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540856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B9036-83C1-1221-EE06-BA4CE828E8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4B19DF58-383C-1B7E-C056-947D608A4A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108FF99B-37FE-A3D1-F056-585F71C53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0ADEB0-250A-6FD9-BA46-0AE111CDB429}"/>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2379F193-67A6-5977-8D3F-D4C307BFDCC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066DCA5-5A3F-9C7B-6547-2129C45F75F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6922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EBAED-2732-2192-8F77-5EAD50B6A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2984FA65-788A-4DCD-D87E-BF5E0CDFA07D}"/>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DD375CAF-79B0-958D-B791-DB84CDAF47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449241-AFB1-CBB3-4EFD-420D1508AE68}"/>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83CDB681-23D0-99AF-184C-30ACD87196A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A161625D-015C-2F52-2F28-63C17D6DD046}"/>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156929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D33BD-1BA1-1CEB-0E9B-7F5DC8E3FB1A}"/>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BEAF1B6C-3157-E140-A361-AFB1980056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2C1E98C-E5FC-6FAB-A501-33CE76740F2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0AE8B5FC-E218-E4E3-3670-69EF73327263}"/>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79B99AA-6970-0EF7-467F-EE5075E9205A}"/>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223764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D24F5-A00F-5EBC-2744-A678D790A0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F526418-D519-0DD9-DE44-6715D91BA8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A27358C-3BDB-0794-CCE2-9FD61C68981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1A97BCDF-1F91-3DF1-1954-49C0D19DDC7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69265D8-599D-50E1-7D89-3F83A982C7C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16081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27354C-3C19-564E-EC2D-2FE9CDAE0B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4871E529-3686-6C8A-8B3B-D3F1E1CF9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ECBDB6-897A-E3FE-B625-2C48B9AFDE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4C2FA6F5-2023-105E-C6D5-6B1B89A3D0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4149F1BC-64D6-8834-2A3F-CA3A658D86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A3C78D-58AF-492D-B201-01CD580DDA00}" type="slidenum">
              <a:rPr lang="en-SG" smtClean="0"/>
              <a:t>‹#›</a:t>
            </a:fld>
            <a:endParaRPr lang="en-SG"/>
          </a:p>
        </p:txBody>
      </p:sp>
    </p:spTree>
    <p:extLst>
      <p:ext uri="{BB962C8B-B14F-4D97-AF65-F5344CB8AC3E}">
        <p14:creationId xmlns:p14="http://schemas.microsoft.com/office/powerpoint/2010/main" val="3307978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Course"/>
          <p:cNvSpPr txBox="1"/>
          <p:nvPr/>
        </p:nvSpPr>
        <p:spPr>
          <a:xfrm>
            <a:off x="731520" y="1325880"/>
            <a:ext cx="6949440" cy="32004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CS3227 AGENTIC SOFTWARE ENGINEERING · WEEKS 8 AND 9</a:t>
            </a:r>
          </a:p>
        </p:txBody>
      </p:sp>
      <p:sp>
        <p:nvSpPr>
          <p:cNvPr id="3" name="Title"/>
          <p:cNvSpPr>
            <a:spLocks noGrp="1"/>
          </p:cNvSpPr>
          <p:nvPr>
            <p:ph type="title"/>
          </p:nvPr>
        </p:nvSpPr>
        <p:spPr>
          <a:xfrm>
            <a:off x="731520" y="1828800"/>
            <a:ext cx="6949440" cy="1600200"/>
          </a:xfrm>
        </p:spPr>
        <p:txBody>
          <a:bodyPr vert="horz" wrap="square" lIns="0" tIns="0" rIns="0" bIns="0" rtlCol="0" anchor="t">
            <a:noAutofit/>
          </a:bodyPr>
          <a:lstStyle/>
          <a:p>
            <a:pPr marL="0" indent="0" algn="l">
              <a:lnSpc>
                <a:spcPct val="95000"/>
              </a:lnSpc>
              <a:spcBef>
                <a:spcPts val="0"/>
              </a:spcBef>
              <a:spcAft>
                <a:spcPts val="0"/>
              </a:spcAft>
              <a:buNone/>
            </a:pPr>
            <a:r>
              <a:rPr lang="en-SG" sz="4600" b="1" i="0" dirty="0">
                <a:solidFill>
                  <a:srgbClr val="F5F3EB"/>
                </a:solidFill>
                <a:latin typeface="Arial"/>
                <a:cs typeface="Arial"/>
              </a:rPr>
              <a:t>Free-form summaries vs structured checklists</a:t>
            </a:r>
          </a:p>
        </p:txBody>
      </p:sp>
      <p:sp>
        <p:nvSpPr>
          <p:cNvPr id="4" name="Subtitle"/>
          <p:cNvSpPr txBox="1"/>
          <p:nvPr/>
        </p:nvSpPr>
        <p:spPr>
          <a:xfrm>
            <a:off x="731520" y="3611880"/>
            <a:ext cx="6675120" cy="91440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2200" b="0" i="0" dirty="0">
                <a:solidFill>
                  <a:srgbClr val="B9C4D5"/>
                </a:solidFill>
                <a:latin typeface="Arial"/>
                <a:cs typeface="Arial"/>
              </a:rPr>
              <a:t>Which handoff format loses less information between AI agents?</a:t>
            </a:r>
          </a:p>
        </p:txBody>
      </p:sp>
      <p:sp>
        <p:nvSpPr>
          <p:cNvPr id="5" name="Context line"/>
          <p:cNvSpPr txBox="1"/>
          <p:nvPr/>
        </p:nvSpPr>
        <p:spPr>
          <a:xfrm>
            <a:off x="731520" y="4892040"/>
            <a:ext cx="6583680" cy="457200"/>
          </a:xfrm>
          <a:prstGeom prst="rect">
            <a:avLst/>
          </a:prstGeom>
          <a:noFill/>
          <a:ln>
            <a:noFill/>
          </a:ln>
        </p:spPr>
        <p:txBody>
          <a:bodyPr vert="horz" wrap="square" lIns="0" tIns="0" rIns="0" bIns="0" rtlCol="0" anchor="t">
            <a:noAutofit/>
          </a:bodyPr>
          <a:lstStyle/>
          <a:p>
            <a:pPr marL="0" indent="0" algn="l">
              <a:lnSpc>
                <a:spcPct val="100000"/>
              </a:lnSpc>
              <a:spcBef>
                <a:spcPts val="0"/>
              </a:spcBef>
              <a:spcAft>
                <a:spcPts val="0"/>
              </a:spcAft>
              <a:buNone/>
            </a:pPr>
            <a:r>
              <a:rPr lang="en-SG" sz="1600" b="0" i="1" dirty="0">
                <a:solidFill>
                  <a:srgbClr val="D6DDE8"/>
                </a:solidFill>
                <a:latin typeface="Arial"/>
                <a:cs typeface="Arial"/>
              </a:rPr>
              <a:t>An experiment on a real MP3 task</a:t>
            </a:r>
          </a:p>
        </p:txBody>
      </p:sp>
      <p:sp>
        <p:nvSpPr>
          <p:cNvPr id="6" name="Agent 1"/>
          <p:cNvSpPr/>
          <p:nvPr/>
        </p:nvSpPr>
        <p:spPr>
          <a:xfrm>
            <a:off x="9121140" y="1211580"/>
            <a:ext cx="1143000" cy="114300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Agent 1</a:t>
            </a:r>
          </a:p>
        </p:txBody>
      </p:sp>
      <p:cxnSp>
        <p:nvCxnSpPr>
          <p:cNvPr id="7" name="Arrow"/>
          <p:cNvCxnSpPr/>
          <p:nvPr/>
        </p:nvCxnSpPr>
        <p:spPr>
          <a:xfrm>
            <a:off x="9692640" y="2423160"/>
            <a:ext cx="0" cy="320040"/>
          </a:xfrm>
          <a:prstGeom prst="straightConnector1">
            <a:avLst/>
          </a:prstGeom>
          <a:ln w="28575">
            <a:solidFill>
              <a:srgbClr val="7F8EA6"/>
            </a:solidFill>
            <a:tailEnd type="triangle" w="med" len="med"/>
          </a:ln>
        </p:spPr>
      </p:cxnSp>
      <p:sp>
        <p:nvSpPr>
          <p:cNvPr id="8" name="Handoff document" descr="A handoff document passes from Agent 1 to Agent 2"/>
          <p:cNvSpPr/>
          <p:nvPr/>
        </p:nvSpPr>
        <p:spPr>
          <a:xfrm>
            <a:off x="9006840" y="2788920"/>
            <a:ext cx="1371600" cy="1325880"/>
          </a:xfrm>
          <a:prstGeom prst="roundRect">
            <a:avLst>
              <a:gd name="adj" fmla="val 5517"/>
            </a:avLst>
          </a:prstGeom>
          <a:solidFill>
            <a:srgbClr val="24334B"/>
          </a:solidFill>
          <a:ln>
            <a:noFill/>
          </a:ln>
        </p:spPr>
      </p:sp>
      <p:sp>
        <p:nvSpPr>
          <p:cNvPr id="9" name="Text line"/>
          <p:cNvSpPr/>
          <p:nvPr/>
        </p:nvSpPr>
        <p:spPr>
          <a:xfrm>
            <a:off x="9208008" y="3017520"/>
            <a:ext cx="969264" cy="54864"/>
          </a:xfrm>
          <a:prstGeom prst="roundRect">
            <a:avLst>
              <a:gd name="adj" fmla="val 50000"/>
            </a:avLst>
          </a:prstGeom>
          <a:solidFill>
            <a:srgbClr val="5A6B86"/>
          </a:solidFill>
          <a:ln>
            <a:noFill/>
          </a:ln>
        </p:spPr>
      </p:sp>
      <p:sp>
        <p:nvSpPr>
          <p:cNvPr id="10" name="Text line"/>
          <p:cNvSpPr/>
          <p:nvPr/>
        </p:nvSpPr>
        <p:spPr>
          <a:xfrm>
            <a:off x="9208008" y="3200400"/>
            <a:ext cx="891723" cy="54864"/>
          </a:xfrm>
          <a:prstGeom prst="roundRect">
            <a:avLst>
              <a:gd name="adj" fmla="val 50000"/>
            </a:avLst>
          </a:prstGeom>
          <a:solidFill>
            <a:srgbClr val="5A6B86"/>
          </a:solidFill>
          <a:ln>
            <a:noFill/>
          </a:ln>
        </p:spPr>
      </p:sp>
      <p:sp>
        <p:nvSpPr>
          <p:cNvPr id="11" name="Text line"/>
          <p:cNvSpPr/>
          <p:nvPr/>
        </p:nvSpPr>
        <p:spPr>
          <a:xfrm>
            <a:off x="9208008" y="3383280"/>
            <a:ext cx="940186" cy="54864"/>
          </a:xfrm>
          <a:prstGeom prst="roundRect">
            <a:avLst>
              <a:gd name="adj" fmla="val 50000"/>
            </a:avLst>
          </a:prstGeom>
          <a:solidFill>
            <a:srgbClr val="5A6B86"/>
          </a:solidFill>
          <a:ln>
            <a:noFill/>
          </a:ln>
        </p:spPr>
      </p:sp>
      <p:sp>
        <p:nvSpPr>
          <p:cNvPr id="12" name="Text line"/>
          <p:cNvSpPr/>
          <p:nvPr/>
        </p:nvSpPr>
        <p:spPr>
          <a:xfrm>
            <a:off x="9208008" y="3566160"/>
            <a:ext cx="823874" cy="54864"/>
          </a:xfrm>
          <a:prstGeom prst="roundRect">
            <a:avLst>
              <a:gd name="adj" fmla="val 50000"/>
            </a:avLst>
          </a:prstGeom>
          <a:solidFill>
            <a:srgbClr val="5A6B86"/>
          </a:solidFill>
          <a:ln>
            <a:noFill/>
          </a:ln>
        </p:spPr>
      </p:sp>
      <p:sp>
        <p:nvSpPr>
          <p:cNvPr id="13" name="Text line"/>
          <p:cNvSpPr/>
          <p:nvPr/>
        </p:nvSpPr>
        <p:spPr>
          <a:xfrm>
            <a:off x="9208008" y="3749040"/>
            <a:ext cx="969264" cy="54864"/>
          </a:xfrm>
          <a:prstGeom prst="roundRect">
            <a:avLst>
              <a:gd name="adj" fmla="val 50000"/>
            </a:avLst>
          </a:prstGeom>
          <a:solidFill>
            <a:srgbClr val="5A6B86"/>
          </a:solidFill>
          <a:ln>
            <a:noFill/>
          </a:ln>
        </p:spPr>
      </p:sp>
      <p:sp>
        <p:nvSpPr>
          <p:cNvPr id="14" name="Handoff label"/>
          <p:cNvSpPr txBox="1"/>
          <p:nvPr/>
        </p:nvSpPr>
        <p:spPr>
          <a:xfrm>
            <a:off x="10515600" y="3246120"/>
            <a:ext cx="128016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FC36A"/>
                </a:solidFill>
                <a:latin typeface="Arial"/>
                <a:cs typeface="Arial"/>
              </a:rPr>
              <a:t>Handoff</a:t>
            </a:r>
          </a:p>
        </p:txBody>
      </p:sp>
      <p:cxnSp>
        <p:nvCxnSpPr>
          <p:cNvPr id="15" name="Arrow"/>
          <p:cNvCxnSpPr/>
          <p:nvPr/>
        </p:nvCxnSpPr>
        <p:spPr>
          <a:xfrm>
            <a:off x="9692640" y="4160520"/>
            <a:ext cx="0" cy="320040"/>
          </a:xfrm>
          <a:prstGeom prst="straightConnector1">
            <a:avLst/>
          </a:prstGeom>
          <a:ln w="28575">
            <a:solidFill>
              <a:srgbClr val="7F8EA6"/>
            </a:solidFill>
            <a:tailEnd type="triangle" w="med" len="med"/>
          </a:ln>
        </p:spPr>
      </p:cxnSp>
      <p:sp>
        <p:nvSpPr>
          <p:cNvPr id="16" name="Agent 2"/>
          <p:cNvSpPr/>
          <p:nvPr/>
        </p:nvSpPr>
        <p:spPr>
          <a:xfrm>
            <a:off x="9121140" y="4549140"/>
            <a:ext cx="1143000" cy="114300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Agent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WHY THIS EXPERIMENT</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Our MP3 agents pass work along in handoffs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In a multi-agent workflow (Week 8), each agent ends its task by handing off to the next agent. The next agent starts fresh, so the handoff is all it knows.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2 / 12</a:t>
            </a:r>
          </a:p>
        </p:txBody>
      </p:sp>
      <p:sp>
        <p:nvSpPr>
          <p:cNvPr id="6" name="Label"/>
          <p:cNvSpPr txBox="1"/>
          <p:nvPr/>
        </p:nvSpPr>
        <p:spPr>
          <a:xfrm>
            <a:off x="548640" y="2240280"/>
            <a:ext cx="73152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OUR MP3 WORKFLOW, FOR EACH FEATURE</a:t>
            </a:r>
          </a:p>
        </p:txBody>
      </p:sp>
      <p:sp>
        <p:nvSpPr>
          <p:cNvPr id="7" name="Spec writer" descr="Our MP3 agent chain: spec writer, test writer, implementer, reviewer, each passing a handoff on"/>
          <p:cNvSpPr/>
          <p:nvPr/>
        </p:nvSpPr>
        <p:spPr>
          <a:xfrm>
            <a:off x="548640"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Spec writer</a:t>
            </a:r>
          </a:p>
          <a:p>
            <a:pPr marL="0" indent="0" algn="l">
              <a:lnSpc>
                <a:spcPct val="100000"/>
              </a:lnSpc>
              <a:spcBef>
                <a:spcPts val="0"/>
              </a:spcBef>
              <a:spcAft>
                <a:spcPts val="0"/>
              </a:spcAft>
              <a:buNone/>
            </a:pPr>
            <a:r>
              <a:rPr lang="en-SG" sz="1300" b="0" i="0" dirty="0">
                <a:solidFill>
                  <a:srgbClr val="B9C4D5"/>
                </a:solidFill>
                <a:latin typeface="Arial"/>
                <a:cs typeface="Arial"/>
              </a:rPr>
              <a:t>writes the requirements</a:t>
            </a:r>
          </a:p>
        </p:txBody>
      </p:sp>
      <p:cxnSp>
        <p:nvCxnSpPr>
          <p:cNvPr id="8" name="Arrow"/>
          <p:cNvCxnSpPr/>
          <p:nvPr/>
        </p:nvCxnSpPr>
        <p:spPr>
          <a:xfrm>
            <a:off x="2743200" y="3154680"/>
            <a:ext cx="740664" cy="0"/>
          </a:xfrm>
          <a:prstGeom prst="straightConnector1">
            <a:avLst/>
          </a:prstGeom>
          <a:ln w="25400">
            <a:solidFill>
              <a:srgbClr val="7F8EA6"/>
            </a:solidFill>
            <a:tailEnd type="triangle" w="med" len="med"/>
          </a:ln>
        </p:spPr>
      </p:cxnSp>
      <p:sp>
        <p:nvSpPr>
          <p:cNvPr id="9" name="Handoff icon"/>
          <p:cNvSpPr/>
          <p:nvPr/>
        </p:nvSpPr>
        <p:spPr>
          <a:xfrm>
            <a:off x="2921508" y="2916936"/>
            <a:ext cx="384048" cy="475488"/>
          </a:xfrm>
          <a:prstGeom prst="roundRect">
            <a:avLst>
              <a:gd name="adj" fmla="val 11904"/>
            </a:avLst>
          </a:prstGeom>
          <a:solidFill>
            <a:srgbClr val="24334B"/>
          </a:solidFill>
          <a:ln w="15875">
            <a:solidFill>
              <a:srgbClr val="FFC36A"/>
            </a:solidFill>
          </a:ln>
        </p:spPr>
      </p:sp>
      <p:sp>
        <p:nvSpPr>
          <p:cNvPr id="10" name="Text line"/>
          <p:cNvSpPr/>
          <p:nvPr/>
        </p:nvSpPr>
        <p:spPr>
          <a:xfrm>
            <a:off x="3003804" y="3026664"/>
            <a:ext cx="219456" cy="54864"/>
          </a:xfrm>
          <a:prstGeom prst="roundRect">
            <a:avLst>
              <a:gd name="adj" fmla="val 50000"/>
            </a:avLst>
          </a:prstGeom>
          <a:solidFill>
            <a:srgbClr val="FFC36A"/>
          </a:solidFill>
          <a:ln>
            <a:noFill/>
          </a:ln>
        </p:spPr>
      </p:sp>
      <p:sp>
        <p:nvSpPr>
          <p:cNvPr id="11" name="Text line"/>
          <p:cNvSpPr/>
          <p:nvPr/>
        </p:nvSpPr>
        <p:spPr>
          <a:xfrm>
            <a:off x="3003804" y="3118104"/>
            <a:ext cx="175565" cy="54864"/>
          </a:xfrm>
          <a:prstGeom prst="roundRect">
            <a:avLst>
              <a:gd name="adj" fmla="val 50000"/>
            </a:avLst>
          </a:prstGeom>
          <a:solidFill>
            <a:srgbClr val="FFC36A"/>
          </a:solidFill>
          <a:ln>
            <a:noFill/>
          </a:ln>
        </p:spPr>
      </p:sp>
      <p:sp>
        <p:nvSpPr>
          <p:cNvPr id="12" name="Text line"/>
          <p:cNvSpPr/>
          <p:nvPr/>
        </p:nvSpPr>
        <p:spPr>
          <a:xfrm>
            <a:off x="3003804" y="3209544"/>
            <a:ext cx="208483" cy="54864"/>
          </a:xfrm>
          <a:prstGeom prst="roundRect">
            <a:avLst>
              <a:gd name="adj" fmla="val 50000"/>
            </a:avLst>
          </a:prstGeom>
          <a:solidFill>
            <a:srgbClr val="FFC36A"/>
          </a:solidFill>
          <a:ln>
            <a:noFill/>
          </a:ln>
        </p:spPr>
      </p:sp>
      <p:sp>
        <p:nvSpPr>
          <p:cNvPr id="13" name="Handoff label"/>
          <p:cNvSpPr txBox="1"/>
          <p:nvPr/>
        </p:nvSpPr>
        <p:spPr>
          <a:xfrm>
            <a:off x="2702052"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14" name="Test writer"/>
          <p:cNvSpPr/>
          <p:nvPr/>
        </p:nvSpPr>
        <p:spPr>
          <a:xfrm>
            <a:off x="3529584"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Test writer</a:t>
            </a:r>
          </a:p>
          <a:p>
            <a:pPr marL="0" indent="0" algn="l">
              <a:lnSpc>
                <a:spcPct val="100000"/>
              </a:lnSpc>
              <a:spcBef>
                <a:spcPts val="0"/>
              </a:spcBef>
              <a:spcAft>
                <a:spcPts val="0"/>
              </a:spcAft>
              <a:buNone/>
            </a:pPr>
            <a:r>
              <a:rPr lang="en-SG" sz="1300" b="0" i="0" dirty="0">
                <a:solidFill>
                  <a:srgbClr val="B9C4D5"/>
                </a:solidFill>
                <a:latin typeface="Arial"/>
                <a:cs typeface="Arial"/>
              </a:rPr>
              <a:t>writes tests for them</a:t>
            </a:r>
          </a:p>
        </p:txBody>
      </p:sp>
      <p:cxnSp>
        <p:nvCxnSpPr>
          <p:cNvPr id="15" name="Arrow"/>
          <p:cNvCxnSpPr/>
          <p:nvPr/>
        </p:nvCxnSpPr>
        <p:spPr>
          <a:xfrm>
            <a:off x="5724144" y="3154680"/>
            <a:ext cx="740664" cy="0"/>
          </a:xfrm>
          <a:prstGeom prst="straightConnector1">
            <a:avLst/>
          </a:prstGeom>
          <a:ln w="25400">
            <a:solidFill>
              <a:srgbClr val="7F8EA6"/>
            </a:solidFill>
            <a:tailEnd type="triangle" w="med" len="med"/>
          </a:ln>
        </p:spPr>
      </p:cxnSp>
      <p:sp>
        <p:nvSpPr>
          <p:cNvPr id="16" name="Handoff icon"/>
          <p:cNvSpPr/>
          <p:nvPr/>
        </p:nvSpPr>
        <p:spPr>
          <a:xfrm>
            <a:off x="5902452" y="2916936"/>
            <a:ext cx="384048" cy="475488"/>
          </a:xfrm>
          <a:prstGeom prst="roundRect">
            <a:avLst>
              <a:gd name="adj" fmla="val 11904"/>
            </a:avLst>
          </a:prstGeom>
          <a:solidFill>
            <a:srgbClr val="24334B"/>
          </a:solidFill>
          <a:ln w="15875">
            <a:solidFill>
              <a:srgbClr val="FFC36A"/>
            </a:solidFill>
          </a:ln>
        </p:spPr>
      </p:sp>
      <p:sp>
        <p:nvSpPr>
          <p:cNvPr id="17" name="Text line"/>
          <p:cNvSpPr/>
          <p:nvPr/>
        </p:nvSpPr>
        <p:spPr>
          <a:xfrm>
            <a:off x="5984748" y="3026664"/>
            <a:ext cx="219456" cy="54864"/>
          </a:xfrm>
          <a:prstGeom prst="roundRect">
            <a:avLst>
              <a:gd name="adj" fmla="val 50000"/>
            </a:avLst>
          </a:prstGeom>
          <a:solidFill>
            <a:srgbClr val="FFC36A"/>
          </a:solidFill>
          <a:ln>
            <a:noFill/>
          </a:ln>
        </p:spPr>
      </p:sp>
      <p:sp>
        <p:nvSpPr>
          <p:cNvPr id="18" name="Text line"/>
          <p:cNvSpPr/>
          <p:nvPr/>
        </p:nvSpPr>
        <p:spPr>
          <a:xfrm>
            <a:off x="5984748" y="3118104"/>
            <a:ext cx="175565" cy="54864"/>
          </a:xfrm>
          <a:prstGeom prst="roundRect">
            <a:avLst>
              <a:gd name="adj" fmla="val 50000"/>
            </a:avLst>
          </a:prstGeom>
          <a:solidFill>
            <a:srgbClr val="FFC36A"/>
          </a:solidFill>
          <a:ln>
            <a:noFill/>
          </a:ln>
        </p:spPr>
      </p:sp>
      <p:sp>
        <p:nvSpPr>
          <p:cNvPr id="19" name="Text line"/>
          <p:cNvSpPr/>
          <p:nvPr/>
        </p:nvSpPr>
        <p:spPr>
          <a:xfrm>
            <a:off x="5984748" y="3209544"/>
            <a:ext cx="208483" cy="54864"/>
          </a:xfrm>
          <a:prstGeom prst="roundRect">
            <a:avLst>
              <a:gd name="adj" fmla="val 50000"/>
            </a:avLst>
          </a:prstGeom>
          <a:solidFill>
            <a:srgbClr val="FFC36A"/>
          </a:solidFill>
          <a:ln>
            <a:noFill/>
          </a:ln>
        </p:spPr>
      </p:sp>
      <p:sp>
        <p:nvSpPr>
          <p:cNvPr id="20" name="Handoff label"/>
          <p:cNvSpPr txBox="1"/>
          <p:nvPr/>
        </p:nvSpPr>
        <p:spPr>
          <a:xfrm>
            <a:off x="5682996"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21" name="Implementer"/>
          <p:cNvSpPr/>
          <p:nvPr/>
        </p:nvSpPr>
        <p:spPr>
          <a:xfrm>
            <a:off x="6510528"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Implementer</a:t>
            </a:r>
          </a:p>
          <a:p>
            <a:pPr marL="0" indent="0" algn="l">
              <a:lnSpc>
                <a:spcPct val="100000"/>
              </a:lnSpc>
              <a:spcBef>
                <a:spcPts val="0"/>
              </a:spcBef>
              <a:spcAft>
                <a:spcPts val="0"/>
              </a:spcAft>
              <a:buNone/>
            </a:pPr>
            <a:r>
              <a:rPr lang="en-SG" sz="1300" b="0" i="0" dirty="0">
                <a:solidFill>
                  <a:srgbClr val="B9C4D5"/>
                </a:solidFill>
                <a:latin typeface="Arial"/>
                <a:cs typeface="Arial"/>
              </a:rPr>
              <a:t>writes the code</a:t>
            </a:r>
          </a:p>
        </p:txBody>
      </p:sp>
      <p:cxnSp>
        <p:nvCxnSpPr>
          <p:cNvPr id="22" name="Arrow"/>
          <p:cNvCxnSpPr/>
          <p:nvPr/>
        </p:nvCxnSpPr>
        <p:spPr>
          <a:xfrm>
            <a:off x="8705088" y="3154680"/>
            <a:ext cx="740664" cy="0"/>
          </a:xfrm>
          <a:prstGeom prst="straightConnector1">
            <a:avLst/>
          </a:prstGeom>
          <a:ln w="25400">
            <a:solidFill>
              <a:srgbClr val="7F8EA6"/>
            </a:solidFill>
            <a:tailEnd type="triangle" w="med" len="med"/>
          </a:ln>
        </p:spPr>
      </p:cxnSp>
      <p:sp>
        <p:nvSpPr>
          <p:cNvPr id="23" name="Handoff icon"/>
          <p:cNvSpPr/>
          <p:nvPr/>
        </p:nvSpPr>
        <p:spPr>
          <a:xfrm>
            <a:off x="8883396" y="2916936"/>
            <a:ext cx="384048" cy="475488"/>
          </a:xfrm>
          <a:prstGeom prst="roundRect">
            <a:avLst>
              <a:gd name="adj" fmla="val 11904"/>
            </a:avLst>
          </a:prstGeom>
          <a:solidFill>
            <a:srgbClr val="24334B"/>
          </a:solidFill>
          <a:ln w="15875">
            <a:solidFill>
              <a:srgbClr val="FFC36A"/>
            </a:solidFill>
          </a:ln>
        </p:spPr>
      </p:sp>
      <p:sp>
        <p:nvSpPr>
          <p:cNvPr id="24" name="Text line"/>
          <p:cNvSpPr/>
          <p:nvPr/>
        </p:nvSpPr>
        <p:spPr>
          <a:xfrm>
            <a:off x="8965692" y="3026664"/>
            <a:ext cx="219456" cy="54864"/>
          </a:xfrm>
          <a:prstGeom prst="roundRect">
            <a:avLst>
              <a:gd name="adj" fmla="val 50000"/>
            </a:avLst>
          </a:prstGeom>
          <a:solidFill>
            <a:srgbClr val="FFC36A"/>
          </a:solidFill>
          <a:ln>
            <a:noFill/>
          </a:ln>
        </p:spPr>
      </p:sp>
      <p:sp>
        <p:nvSpPr>
          <p:cNvPr id="25" name="Text line"/>
          <p:cNvSpPr/>
          <p:nvPr/>
        </p:nvSpPr>
        <p:spPr>
          <a:xfrm>
            <a:off x="8965692" y="3118104"/>
            <a:ext cx="175565" cy="54864"/>
          </a:xfrm>
          <a:prstGeom prst="roundRect">
            <a:avLst>
              <a:gd name="adj" fmla="val 50000"/>
            </a:avLst>
          </a:prstGeom>
          <a:solidFill>
            <a:srgbClr val="FFC36A"/>
          </a:solidFill>
          <a:ln>
            <a:noFill/>
          </a:ln>
        </p:spPr>
      </p:sp>
      <p:sp>
        <p:nvSpPr>
          <p:cNvPr id="26" name="Text line"/>
          <p:cNvSpPr/>
          <p:nvPr/>
        </p:nvSpPr>
        <p:spPr>
          <a:xfrm>
            <a:off x="8965692" y="3209544"/>
            <a:ext cx="208483" cy="54864"/>
          </a:xfrm>
          <a:prstGeom prst="roundRect">
            <a:avLst>
              <a:gd name="adj" fmla="val 50000"/>
            </a:avLst>
          </a:prstGeom>
          <a:solidFill>
            <a:srgbClr val="FFC36A"/>
          </a:solidFill>
          <a:ln>
            <a:noFill/>
          </a:ln>
        </p:spPr>
      </p:sp>
      <p:sp>
        <p:nvSpPr>
          <p:cNvPr id="27" name="Handoff label"/>
          <p:cNvSpPr txBox="1"/>
          <p:nvPr/>
        </p:nvSpPr>
        <p:spPr>
          <a:xfrm>
            <a:off x="8663940"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28" name="Reviewer"/>
          <p:cNvSpPr/>
          <p:nvPr/>
        </p:nvSpPr>
        <p:spPr>
          <a:xfrm>
            <a:off x="9491472"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Reviewer</a:t>
            </a:r>
          </a:p>
          <a:p>
            <a:pPr marL="0" indent="0" algn="l">
              <a:lnSpc>
                <a:spcPct val="100000"/>
              </a:lnSpc>
              <a:spcBef>
                <a:spcPts val="0"/>
              </a:spcBef>
              <a:spcAft>
                <a:spcPts val="0"/>
              </a:spcAft>
              <a:buNone/>
            </a:pPr>
            <a:r>
              <a:rPr lang="en-SG" sz="1300" b="0" i="0" dirty="0">
                <a:solidFill>
                  <a:srgbClr val="B9C4D5"/>
                </a:solidFill>
                <a:latin typeface="Arial"/>
                <a:cs typeface="Arial"/>
              </a:rPr>
              <a:t>checks the change</a:t>
            </a:r>
          </a:p>
        </p:txBody>
      </p:sp>
      <p:sp>
        <p:nvSpPr>
          <p:cNvPr id="29" name="Risk"/>
          <p:cNvSpPr txBox="1"/>
          <p:nvPr/>
        </p:nvSpPr>
        <p:spPr>
          <a:xfrm>
            <a:off x="548640" y="3931920"/>
            <a:ext cx="11091672" cy="68580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700" b="0" i="0" dirty="0">
                <a:solidFill>
                  <a:srgbClr val="D6DDE8"/>
                </a:solidFill>
                <a:latin typeface="Arial"/>
                <a:cs typeface="Arial"/>
              </a:rPr>
              <a:t>Each handoff uses a fixed checklist. If it drops something important, every later agent works without it.</a:t>
            </a:r>
          </a:p>
        </p:txBody>
      </p:sp>
      <p:sp>
        <p:nvSpPr>
          <p:cNvPr id="30" name="Goal"/>
          <p:cNvSpPr/>
          <p:nvPr/>
        </p:nvSpPr>
        <p:spPr>
          <a:xfrm>
            <a:off x="548640" y="4572000"/>
            <a:ext cx="11091672" cy="1280160"/>
          </a:xfrm>
          <a:prstGeom prst="roundRect">
            <a:avLst>
              <a:gd name="adj" fmla="val 5714"/>
            </a:avLst>
          </a:prstGeom>
          <a:solidFill>
            <a:srgbClr val="1B2940"/>
          </a:solidFill>
          <a:ln>
            <a:noFill/>
          </a:ln>
        </p:spPr>
        <p:txBody>
          <a:bodyPr vert="horz" wrap="square" lIns="274320" tIns="109728" rIns="274320" bIns="109728" rtlCol="0" anchor="ctr">
            <a:noAutofit/>
          </a:bodyPr>
          <a:lstStyle/>
          <a:p>
            <a:pPr marL="0" indent="0" algn="l">
              <a:lnSpc>
                <a:spcPct val="100000"/>
              </a:lnSpc>
              <a:spcBef>
                <a:spcPts val="0"/>
              </a:spcBef>
              <a:spcAft>
                <a:spcPts val="400"/>
              </a:spcAft>
              <a:buNone/>
            </a:pPr>
            <a:r>
              <a:rPr lang="en-SG" sz="1200" b="1" i="0" spc="100" dirty="0">
                <a:solidFill>
                  <a:srgbClr val="FFC36A"/>
                </a:solidFill>
                <a:latin typeface="Arial"/>
                <a:cs typeface="Arial"/>
              </a:rPr>
              <a:t>GOAL</a:t>
            </a:r>
          </a:p>
          <a:p>
            <a:pPr marL="0" indent="0" algn="l">
              <a:lnSpc>
                <a:spcPct val="100000"/>
              </a:lnSpc>
              <a:spcBef>
                <a:spcPts val="0"/>
              </a:spcBef>
              <a:spcAft>
                <a:spcPts val="400"/>
              </a:spcAft>
              <a:buNone/>
            </a:pPr>
            <a:r>
              <a:rPr lang="en-SG" sz="2200" b="1" i="0" dirty="0">
                <a:solidFill>
                  <a:srgbClr val="F5F3EB"/>
                </a:solidFill>
                <a:latin typeface="Arial"/>
                <a:cs typeface="Arial"/>
              </a:rPr>
              <a:t>Find practical ways to keep context when agents hand off work.</a:t>
            </a:r>
          </a:p>
          <a:p>
            <a:pPr marL="0" indent="0" algn="l">
              <a:lnSpc>
                <a:spcPct val="100000"/>
              </a:lnSpc>
              <a:spcBef>
                <a:spcPts val="0"/>
              </a:spcBef>
              <a:spcAft>
                <a:spcPts val="0"/>
              </a:spcAft>
              <a:buNone/>
            </a:pPr>
            <a:r>
              <a:rPr lang="en-SG" sz="1500" b="0" i="0" dirty="0">
                <a:solidFill>
                  <a:srgbClr val="B9C4D5"/>
                </a:solidFill>
                <a:latin typeface="Arial"/>
                <a:cs typeface="Arial"/>
              </a:rPr>
              <a:t>This experiment tests one choice: how the handoff is written.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WHY IT IS HARD</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A handoff squeezes a long history into a short note</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Week 9 calls this context compaction, and warns that compaction is lossy: whatever the handoff leaves out, the next agent never sees.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3 / 12</a:t>
            </a:r>
          </a:p>
        </p:txBody>
      </p:sp>
      <p:sp>
        <p:nvSpPr>
          <p:cNvPr id="6" name="Message history" descr="A message history of about 3,500 words is compacted into a 200-word handoff for a fresh agent"/>
          <p:cNvSpPr/>
          <p:nvPr/>
        </p:nvSpPr>
        <p:spPr>
          <a:xfrm>
            <a:off x="822960" y="2331720"/>
            <a:ext cx="3017520" cy="2514600"/>
          </a:xfrm>
          <a:prstGeom prst="roundRect">
            <a:avLst>
              <a:gd name="adj" fmla="val 2909"/>
            </a:avLst>
          </a:prstGeom>
          <a:solidFill>
            <a:srgbClr val="1B2940"/>
          </a:solidFill>
          <a:ln>
            <a:noFill/>
          </a:ln>
        </p:spPr>
      </p:sp>
      <p:sp>
        <p:nvSpPr>
          <p:cNvPr id="7" name="Text line"/>
          <p:cNvSpPr/>
          <p:nvPr/>
        </p:nvSpPr>
        <p:spPr>
          <a:xfrm>
            <a:off x="1051560" y="2542032"/>
            <a:ext cx="2560320" cy="54864"/>
          </a:xfrm>
          <a:prstGeom prst="roundRect">
            <a:avLst>
              <a:gd name="adj" fmla="val 50000"/>
            </a:avLst>
          </a:prstGeom>
          <a:solidFill>
            <a:srgbClr val="3A4A63"/>
          </a:solidFill>
          <a:ln>
            <a:noFill/>
          </a:ln>
        </p:spPr>
      </p:sp>
      <p:sp>
        <p:nvSpPr>
          <p:cNvPr id="8" name="Text line"/>
          <p:cNvSpPr/>
          <p:nvPr/>
        </p:nvSpPr>
        <p:spPr>
          <a:xfrm>
            <a:off x="1051560" y="2702052"/>
            <a:ext cx="2355494" cy="54864"/>
          </a:xfrm>
          <a:prstGeom prst="roundRect">
            <a:avLst>
              <a:gd name="adj" fmla="val 50000"/>
            </a:avLst>
          </a:prstGeom>
          <a:solidFill>
            <a:srgbClr val="3A4A63"/>
          </a:solidFill>
          <a:ln>
            <a:noFill/>
          </a:ln>
        </p:spPr>
      </p:sp>
      <p:sp>
        <p:nvSpPr>
          <p:cNvPr id="9" name="Text line"/>
          <p:cNvSpPr/>
          <p:nvPr/>
        </p:nvSpPr>
        <p:spPr>
          <a:xfrm>
            <a:off x="1051560" y="2862072"/>
            <a:ext cx="2483510" cy="54864"/>
          </a:xfrm>
          <a:prstGeom prst="roundRect">
            <a:avLst>
              <a:gd name="adj" fmla="val 50000"/>
            </a:avLst>
          </a:prstGeom>
          <a:solidFill>
            <a:srgbClr val="3A4A63"/>
          </a:solidFill>
          <a:ln>
            <a:noFill/>
          </a:ln>
        </p:spPr>
      </p:sp>
      <p:sp>
        <p:nvSpPr>
          <p:cNvPr id="10" name="Text line"/>
          <p:cNvSpPr/>
          <p:nvPr/>
        </p:nvSpPr>
        <p:spPr>
          <a:xfrm>
            <a:off x="1051560" y="3022092"/>
            <a:ext cx="2176272" cy="54864"/>
          </a:xfrm>
          <a:prstGeom prst="roundRect">
            <a:avLst>
              <a:gd name="adj" fmla="val 50000"/>
            </a:avLst>
          </a:prstGeom>
          <a:solidFill>
            <a:srgbClr val="3A4A63"/>
          </a:solidFill>
          <a:ln>
            <a:noFill/>
          </a:ln>
        </p:spPr>
      </p:sp>
      <p:sp>
        <p:nvSpPr>
          <p:cNvPr id="11" name="Text line"/>
          <p:cNvSpPr/>
          <p:nvPr/>
        </p:nvSpPr>
        <p:spPr>
          <a:xfrm>
            <a:off x="1051560" y="3182112"/>
            <a:ext cx="2560320" cy="54864"/>
          </a:xfrm>
          <a:prstGeom prst="roundRect">
            <a:avLst>
              <a:gd name="adj" fmla="val 50000"/>
            </a:avLst>
          </a:prstGeom>
          <a:solidFill>
            <a:srgbClr val="3A4A63"/>
          </a:solidFill>
          <a:ln>
            <a:noFill/>
          </a:ln>
        </p:spPr>
      </p:sp>
      <p:sp>
        <p:nvSpPr>
          <p:cNvPr id="12" name="Text line"/>
          <p:cNvSpPr/>
          <p:nvPr/>
        </p:nvSpPr>
        <p:spPr>
          <a:xfrm>
            <a:off x="1051560" y="3342132"/>
            <a:ext cx="2304288" cy="54864"/>
          </a:xfrm>
          <a:prstGeom prst="roundRect">
            <a:avLst>
              <a:gd name="adj" fmla="val 50000"/>
            </a:avLst>
          </a:prstGeom>
          <a:solidFill>
            <a:srgbClr val="3A4A63"/>
          </a:solidFill>
          <a:ln>
            <a:noFill/>
          </a:ln>
        </p:spPr>
      </p:sp>
      <p:sp>
        <p:nvSpPr>
          <p:cNvPr id="13" name="Text line"/>
          <p:cNvSpPr/>
          <p:nvPr/>
        </p:nvSpPr>
        <p:spPr>
          <a:xfrm>
            <a:off x="1051560" y="3502152"/>
            <a:ext cx="1997050" cy="54864"/>
          </a:xfrm>
          <a:prstGeom prst="roundRect">
            <a:avLst>
              <a:gd name="adj" fmla="val 50000"/>
            </a:avLst>
          </a:prstGeom>
          <a:solidFill>
            <a:srgbClr val="3A4A63"/>
          </a:solidFill>
          <a:ln>
            <a:noFill/>
          </a:ln>
        </p:spPr>
      </p:sp>
      <p:sp>
        <p:nvSpPr>
          <p:cNvPr id="14" name="Text line"/>
          <p:cNvSpPr/>
          <p:nvPr/>
        </p:nvSpPr>
        <p:spPr>
          <a:xfrm>
            <a:off x="1051560" y="3662172"/>
            <a:ext cx="2432304" cy="54864"/>
          </a:xfrm>
          <a:prstGeom prst="roundRect">
            <a:avLst>
              <a:gd name="adj" fmla="val 50000"/>
            </a:avLst>
          </a:prstGeom>
          <a:solidFill>
            <a:srgbClr val="3A4A63"/>
          </a:solidFill>
          <a:ln>
            <a:noFill/>
          </a:ln>
        </p:spPr>
      </p:sp>
      <p:sp>
        <p:nvSpPr>
          <p:cNvPr id="15" name="Text line"/>
          <p:cNvSpPr/>
          <p:nvPr/>
        </p:nvSpPr>
        <p:spPr>
          <a:xfrm>
            <a:off x="1051560" y="3822192"/>
            <a:ext cx="2253082" cy="54864"/>
          </a:xfrm>
          <a:prstGeom prst="roundRect">
            <a:avLst>
              <a:gd name="adj" fmla="val 50000"/>
            </a:avLst>
          </a:prstGeom>
          <a:solidFill>
            <a:srgbClr val="3A4A63"/>
          </a:solidFill>
          <a:ln>
            <a:noFill/>
          </a:ln>
        </p:spPr>
      </p:sp>
      <p:sp>
        <p:nvSpPr>
          <p:cNvPr id="16" name="Text line"/>
          <p:cNvSpPr/>
          <p:nvPr/>
        </p:nvSpPr>
        <p:spPr>
          <a:xfrm>
            <a:off x="1051560" y="3982212"/>
            <a:ext cx="2560320" cy="54864"/>
          </a:xfrm>
          <a:prstGeom prst="roundRect">
            <a:avLst>
              <a:gd name="adj" fmla="val 50000"/>
            </a:avLst>
          </a:prstGeom>
          <a:solidFill>
            <a:srgbClr val="3A4A63"/>
          </a:solidFill>
          <a:ln>
            <a:noFill/>
          </a:ln>
        </p:spPr>
      </p:sp>
      <p:sp>
        <p:nvSpPr>
          <p:cNvPr id="17" name="Text line"/>
          <p:cNvSpPr/>
          <p:nvPr/>
        </p:nvSpPr>
        <p:spPr>
          <a:xfrm>
            <a:off x="1051560" y="4142232"/>
            <a:ext cx="2099462" cy="54864"/>
          </a:xfrm>
          <a:prstGeom prst="roundRect">
            <a:avLst>
              <a:gd name="adj" fmla="val 50000"/>
            </a:avLst>
          </a:prstGeom>
          <a:solidFill>
            <a:srgbClr val="3A4A63"/>
          </a:solidFill>
          <a:ln>
            <a:noFill/>
          </a:ln>
        </p:spPr>
      </p:sp>
      <p:sp>
        <p:nvSpPr>
          <p:cNvPr id="18" name="Text line"/>
          <p:cNvSpPr/>
          <p:nvPr/>
        </p:nvSpPr>
        <p:spPr>
          <a:xfrm>
            <a:off x="1051560" y="4302252"/>
            <a:ext cx="2381098" cy="54864"/>
          </a:xfrm>
          <a:prstGeom prst="roundRect">
            <a:avLst>
              <a:gd name="adj" fmla="val 50000"/>
            </a:avLst>
          </a:prstGeom>
          <a:solidFill>
            <a:srgbClr val="3A4A63"/>
          </a:solidFill>
          <a:ln>
            <a:noFill/>
          </a:ln>
        </p:spPr>
      </p:sp>
      <p:sp>
        <p:nvSpPr>
          <p:cNvPr id="19" name="Text line"/>
          <p:cNvSpPr/>
          <p:nvPr/>
        </p:nvSpPr>
        <p:spPr>
          <a:xfrm>
            <a:off x="1051560" y="4462272"/>
            <a:ext cx="1792224" cy="54864"/>
          </a:xfrm>
          <a:prstGeom prst="roundRect">
            <a:avLst>
              <a:gd name="adj" fmla="val 50000"/>
            </a:avLst>
          </a:prstGeom>
          <a:solidFill>
            <a:srgbClr val="3A4A63"/>
          </a:solidFill>
          <a:ln>
            <a:noFill/>
          </a:ln>
        </p:spPr>
      </p:sp>
      <p:sp>
        <p:nvSpPr>
          <p:cNvPr id="20" name="Text line"/>
          <p:cNvSpPr/>
          <p:nvPr/>
        </p:nvSpPr>
        <p:spPr>
          <a:xfrm>
            <a:off x="1051560" y="4622292"/>
            <a:ext cx="2304288" cy="54864"/>
          </a:xfrm>
          <a:prstGeom prst="roundRect">
            <a:avLst>
              <a:gd name="adj" fmla="val 50000"/>
            </a:avLst>
          </a:prstGeom>
          <a:solidFill>
            <a:srgbClr val="3A4A63"/>
          </a:solidFill>
          <a:ln>
            <a:noFill/>
          </a:ln>
        </p:spPr>
      </p:sp>
      <p:sp>
        <p:nvSpPr>
          <p:cNvPr id="21" name="History label"/>
          <p:cNvSpPr txBox="1"/>
          <p:nvPr/>
        </p:nvSpPr>
        <p:spPr>
          <a:xfrm>
            <a:off x="548640" y="4956048"/>
            <a:ext cx="3566160" cy="118872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5F3EB"/>
                </a:solidFill>
                <a:latin typeface="Arial"/>
                <a:cs typeface="Arial"/>
              </a:rPr>
              <a:t>Message history</a:t>
            </a:r>
          </a:p>
          <a:p>
            <a:pPr marL="0" indent="0" algn="ctr">
              <a:lnSpc>
                <a:spcPct val="100000"/>
              </a:lnSpc>
              <a:spcBef>
                <a:spcPts val="0"/>
              </a:spcBef>
              <a:spcAft>
                <a:spcPts val="0"/>
              </a:spcAft>
              <a:buNone/>
            </a:pPr>
            <a:r>
              <a:rPr lang="en-SG" sz="1300" b="0" i="0" dirty="0">
                <a:solidFill>
                  <a:srgbClr val="B9C4D5"/>
                </a:solidFill>
                <a:latin typeface="Arial"/>
                <a:cs typeface="Arial"/>
              </a:rPr>
              <a:t>every message, tool call and tool result</a:t>
            </a:r>
          </a:p>
          <a:p>
            <a:pPr marL="0" indent="0" algn="ctr">
              <a:lnSpc>
                <a:spcPct val="100000"/>
              </a:lnSpc>
              <a:spcBef>
                <a:spcPts val="200"/>
              </a:spcBef>
              <a:spcAft>
                <a:spcPts val="0"/>
              </a:spcAft>
              <a:buNone/>
            </a:pPr>
            <a:r>
              <a:rPr lang="en-SG" sz="1300" b="0" i="0" dirty="0">
                <a:solidFill>
                  <a:srgbClr val="FFC36A"/>
                </a:solidFill>
                <a:latin typeface="Arial"/>
                <a:cs typeface="Arial"/>
              </a:rPr>
              <a:t>3,449 to 3,551 words in this experiment</a:t>
            </a:r>
          </a:p>
        </p:txBody>
      </p:sp>
      <p:cxnSp>
        <p:nvCxnSpPr>
          <p:cNvPr id="22" name="Arrow"/>
          <p:cNvCxnSpPr/>
          <p:nvPr/>
        </p:nvCxnSpPr>
        <p:spPr>
          <a:xfrm>
            <a:off x="4023360" y="3584448"/>
            <a:ext cx="1508760" cy="0"/>
          </a:xfrm>
          <a:prstGeom prst="straightConnector1">
            <a:avLst/>
          </a:prstGeom>
          <a:ln w="34925">
            <a:solidFill>
              <a:srgbClr val="FFC36A"/>
            </a:solidFill>
            <a:tailEnd type="triangle" w="med" len="med"/>
          </a:ln>
        </p:spPr>
      </p:cxnSp>
      <p:sp>
        <p:nvSpPr>
          <p:cNvPr id="23" name="Compaction"/>
          <p:cNvSpPr txBox="1"/>
          <p:nvPr/>
        </p:nvSpPr>
        <p:spPr>
          <a:xfrm>
            <a:off x="3977640" y="3108960"/>
            <a:ext cx="1600200" cy="365760"/>
          </a:xfrm>
          <a:prstGeom prst="rect">
            <a:avLst/>
          </a:prstGeom>
          <a:noFill/>
          <a:ln>
            <a:noFill/>
          </a:ln>
        </p:spPr>
        <p:txBody>
          <a:bodyPr vert="horz" wrap="square" lIns="0" tIns="0" rIns="0" bIns="0" rtlCol="0" anchor="b">
            <a:noAutofit/>
          </a:bodyPr>
          <a:lstStyle/>
          <a:p>
            <a:pPr marL="0" indent="0" algn="ctr">
              <a:lnSpc>
                <a:spcPct val="100000"/>
              </a:lnSpc>
              <a:spcBef>
                <a:spcPts val="0"/>
              </a:spcBef>
              <a:spcAft>
                <a:spcPts val="0"/>
              </a:spcAft>
              <a:buNone/>
            </a:pPr>
            <a:r>
              <a:rPr lang="en-SG" sz="1400" b="0" i="1" dirty="0">
                <a:solidFill>
                  <a:srgbClr val="FFC36A"/>
                </a:solidFill>
                <a:latin typeface="Arial"/>
                <a:cs typeface="Arial"/>
              </a:rPr>
              <a:t>compaction</a:t>
            </a:r>
          </a:p>
        </p:txBody>
      </p:sp>
      <p:sp>
        <p:nvSpPr>
          <p:cNvPr id="24" name="Handoff"/>
          <p:cNvSpPr/>
          <p:nvPr/>
        </p:nvSpPr>
        <p:spPr>
          <a:xfrm>
            <a:off x="5715000" y="3017520"/>
            <a:ext cx="1737360" cy="1143000"/>
          </a:xfrm>
          <a:prstGeom prst="roundRect">
            <a:avLst>
              <a:gd name="adj" fmla="val 6400"/>
            </a:avLst>
          </a:prstGeom>
          <a:solidFill>
            <a:srgbClr val="24334B"/>
          </a:solidFill>
          <a:ln>
            <a:noFill/>
          </a:ln>
        </p:spPr>
      </p:sp>
      <p:sp>
        <p:nvSpPr>
          <p:cNvPr id="25" name="Text line"/>
          <p:cNvSpPr/>
          <p:nvPr/>
        </p:nvSpPr>
        <p:spPr>
          <a:xfrm>
            <a:off x="5916168" y="3218688"/>
            <a:ext cx="1335024" cy="54864"/>
          </a:xfrm>
          <a:prstGeom prst="roundRect">
            <a:avLst>
              <a:gd name="adj" fmla="val 50000"/>
            </a:avLst>
          </a:prstGeom>
          <a:solidFill>
            <a:srgbClr val="5A6B86"/>
          </a:solidFill>
          <a:ln>
            <a:noFill/>
          </a:ln>
        </p:spPr>
      </p:sp>
      <p:sp>
        <p:nvSpPr>
          <p:cNvPr id="26" name="Text line"/>
          <p:cNvSpPr/>
          <p:nvPr/>
        </p:nvSpPr>
        <p:spPr>
          <a:xfrm>
            <a:off x="5916168" y="3374136"/>
            <a:ext cx="1228222" cy="54864"/>
          </a:xfrm>
          <a:prstGeom prst="roundRect">
            <a:avLst>
              <a:gd name="adj" fmla="val 50000"/>
            </a:avLst>
          </a:prstGeom>
          <a:solidFill>
            <a:srgbClr val="5A6B86"/>
          </a:solidFill>
          <a:ln>
            <a:noFill/>
          </a:ln>
        </p:spPr>
      </p:sp>
      <p:sp>
        <p:nvSpPr>
          <p:cNvPr id="27" name="Text line"/>
          <p:cNvSpPr/>
          <p:nvPr/>
        </p:nvSpPr>
        <p:spPr>
          <a:xfrm>
            <a:off x="5916168" y="3529584"/>
            <a:ext cx="1294973" cy="54864"/>
          </a:xfrm>
          <a:prstGeom prst="roundRect">
            <a:avLst>
              <a:gd name="adj" fmla="val 50000"/>
            </a:avLst>
          </a:prstGeom>
          <a:solidFill>
            <a:srgbClr val="5A6B86"/>
          </a:solidFill>
          <a:ln>
            <a:noFill/>
          </a:ln>
        </p:spPr>
      </p:sp>
      <p:sp>
        <p:nvSpPr>
          <p:cNvPr id="28" name="Text line"/>
          <p:cNvSpPr/>
          <p:nvPr/>
        </p:nvSpPr>
        <p:spPr>
          <a:xfrm>
            <a:off x="5916168" y="3685032"/>
            <a:ext cx="1134770" cy="54864"/>
          </a:xfrm>
          <a:prstGeom prst="roundRect">
            <a:avLst>
              <a:gd name="adj" fmla="val 50000"/>
            </a:avLst>
          </a:prstGeom>
          <a:solidFill>
            <a:srgbClr val="5A6B86"/>
          </a:solidFill>
          <a:ln>
            <a:noFill/>
          </a:ln>
        </p:spPr>
      </p:sp>
      <p:sp>
        <p:nvSpPr>
          <p:cNvPr id="29" name="Text line"/>
          <p:cNvSpPr/>
          <p:nvPr/>
        </p:nvSpPr>
        <p:spPr>
          <a:xfrm>
            <a:off x="5916168" y="3840480"/>
            <a:ext cx="1335024" cy="54864"/>
          </a:xfrm>
          <a:prstGeom prst="roundRect">
            <a:avLst>
              <a:gd name="adj" fmla="val 50000"/>
            </a:avLst>
          </a:prstGeom>
          <a:solidFill>
            <a:srgbClr val="5A6B86"/>
          </a:solidFill>
          <a:ln>
            <a:noFill/>
          </a:ln>
        </p:spPr>
      </p:sp>
      <p:sp>
        <p:nvSpPr>
          <p:cNvPr id="30" name="Handoff label"/>
          <p:cNvSpPr txBox="1"/>
          <p:nvPr/>
        </p:nvSpPr>
        <p:spPr>
          <a:xfrm>
            <a:off x="5120640" y="4956048"/>
            <a:ext cx="2926080" cy="91440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FC36A"/>
                </a:solidFill>
                <a:latin typeface="Arial"/>
                <a:cs typeface="Arial"/>
              </a:rPr>
              <a:t>Handoff</a:t>
            </a:r>
          </a:p>
          <a:p>
            <a:pPr marL="0" indent="0" algn="ctr">
              <a:lnSpc>
                <a:spcPct val="100000"/>
              </a:lnSpc>
              <a:spcBef>
                <a:spcPts val="0"/>
              </a:spcBef>
              <a:spcAft>
                <a:spcPts val="0"/>
              </a:spcAft>
              <a:buNone/>
            </a:pPr>
            <a:r>
              <a:rPr lang="en-SG" sz="1300" b="0" i="0" dirty="0">
                <a:solidFill>
                  <a:srgbClr val="B9C4D5"/>
                </a:solidFill>
                <a:latin typeface="Arial"/>
                <a:cs typeface="Arial"/>
              </a:rPr>
              <a:t>200-word limit</a:t>
            </a:r>
          </a:p>
        </p:txBody>
      </p:sp>
      <p:cxnSp>
        <p:nvCxnSpPr>
          <p:cNvPr id="31" name="Arrow"/>
          <p:cNvCxnSpPr/>
          <p:nvPr/>
        </p:nvCxnSpPr>
        <p:spPr>
          <a:xfrm>
            <a:off x="7635240" y="3584448"/>
            <a:ext cx="1463040" cy="0"/>
          </a:xfrm>
          <a:prstGeom prst="straightConnector1">
            <a:avLst/>
          </a:prstGeom>
          <a:ln w="28575">
            <a:solidFill>
              <a:srgbClr val="7F8EA6"/>
            </a:solidFill>
            <a:tailEnd type="triangle" w="med" len="med"/>
          </a:ln>
        </p:spPr>
      </p:cxnSp>
      <p:sp>
        <p:nvSpPr>
          <p:cNvPr id="32" name="Next agent"/>
          <p:cNvSpPr/>
          <p:nvPr/>
        </p:nvSpPr>
        <p:spPr>
          <a:xfrm>
            <a:off x="9281160" y="2852928"/>
            <a:ext cx="1463040" cy="146304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Next agent</a:t>
            </a:r>
          </a:p>
        </p:txBody>
      </p:sp>
      <p:sp>
        <p:nvSpPr>
          <p:cNvPr id="33" name="Next agent label"/>
          <p:cNvSpPr txBox="1"/>
          <p:nvPr/>
        </p:nvSpPr>
        <p:spPr>
          <a:xfrm>
            <a:off x="8641080" y="4956048"/>
            <a:ext cx="2743200" cy="91440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5F3EB"/>
                </a:solidFill>
                <a:latin typeface="Arial"/>
                <a:cs typeface="Arial"/>
              </a:rPr>
              <a:t>Starts fresh</a:t>
            </a:r>
          </a:p>
          <a:p>
            <a:pPr marL="0" indent="0" algn="ctr">
              <a:lnSpc>
                <a:spcPct val="100000"/>
              </a:lnSpc>
              <a:spcBef>
                <a:spcPts val="0"/>
              </a:spcBef>
              <a:spcAft>
                <a:spcPts val="0"/>
              </a:spcAft>
              <a:buNone/>
            </a:pPr>
            <a:r>
              <a:rPr lang="en-SG" sz="1300" b="0" i="0" dirty="0">
                <a:solidFill>
                  <a:srgbClr val="B9C4D5"/>
                </a:solidFill>
                <a:latin typeface="Arial"/>
                <a:cs typeface="Arial"/>
              </a:rPr>
              <a:t>with only the handoff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QUESTION</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Which handoff format keeps more information?</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I compared two ways of writing the same handoff.</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4 / 12</a:t>
            </a:r>
          </a:p>
        </p:txBody>
      </p:sp>
      <p:sp>
        <p:nvSpPr>
          <p:cNvPr id="6" name="Free-form summary" descr="Two handoff formats: a free-form paragraph, and a checklist with seven labelled fields"/>
          <p:cNvSpPr/>
          <p:nvPr/>
        </p:nvSpPr>
        <p:spPr>
          <a:xfrm>
            <a:off x="548640" y="2011680"/>
            <a:ext cx="5349240" cy="2743200"/>
          </a:xfrm>
          <a:prstGeom prst="roundRect">
            <a:avLst>
              <a:gd name="adj" fmla="val 2666"/>
            </a:avLst>
          </a:prstGeom>
          <a:solidFill>
            <a:srgbClr val="1B2940"/>
          </a:solidFill>
          <a:ln>
            <a:noFill/>
          </a:ln>
        </p:spPr>
        <p:txBody>
          <a:bodyPr vert="horz" wrap="square" lIns="228600" tIns="182880" rIns="228600" bIns="91440" rtlCol="0" anchor="t">
            <a:noAutofit/>
          </a:bodyPr>
          <a:lstStyle/>
          <a:p>
            <a:pPr marL="0" indent="0" algn="l">
              <a:lnSpc>
                <a:spcPct val="100000"/>
              </a:lnSpc>
              <a:spcBef>
                <a:spcPts val="0"/>
              </a:spcBef>
              <a:spcAft>
                <a:spcPts val="200"/>
              </a:spcAft>
              <a:buNone/>
            </a:pPr>
            <a:r>
              <a:rPr lang="en-SG" sz="1300" b="1" i="0" spc="100" dirty="0">
                <a:solidFill>
                  <a:srgbClr val="B9C4D5"/>
                </a:solidFill>
                <a:latin typeface="Arial"/>
                <a:cs typeface="Arial"/>
              </a:rPr>
              <a:t>FREE-FORM SUMMARY</a:t>
            </a:r>
          </a:p>
          <a:p>
            <a:pPr marL="0" indent="0" algn="l">
              <a:lnSpc>
                <a:spcPct val="100000"/>
              </a:lnSpc>
              <a:spcBef>
                <a:spcPts val="0"/>
              </a:spcBef>
              <a:spcAft>
                <a:spcPts val="0"/>
              </a:spcAft>
              <a:buNone/>
            </a:pPr>
            <a:r>
              <a:rPr lang="en-SG" sz="1300" b="0" i="0" dirty="0">
                <a:solidFill>
                  <a:srgbClr val="B9C4D5"/>
                </a:solidFill>
                <a:latin typeface="Arial"/>
                <a:cs typeface="Arial"/>
              </a:rPr>
              <a:t>Connected prose, with no headings or bullet points</a:t>
            </a:r>
          </a:p>
        </p:txBody>
      </p:sp>
      <p:sp>
        <p:nvSpPr>
          <p:cNvPr id="7" name="Text line"/>
          <p:cNvSpPr/>
          <p:nvPr/>
        </p:nvSpPr>
        <p:spPr>
          <a:xfrm>
            <a:off x="777240" y="2926080"/>
            <a:ext cx="4892040" cy="54864"/>
          </a:xfrm>
          <a:prstGeom prst="roundRect">
            <a:avLst>
              <a:gd name="adj" fmla="val 50000"/>
            </a:avLst>
          </a:prstGeom>
          <a:solidFill>
            <a:srgbClr val="5A6B86"/>
          </a:solidFill>
          <a:ln>
            <a:noFill/>
          </a:ln>
        </p:spPr>
      </p:sp>
      <p:sp>
        <p:nvSpPr>
          <p:cNvPr id="8" name="Text line"/>
          <p:cNvSpPr/>
          <p:nvPr/>
        </p:nvSpPr>
        <p:spPr>
          <a:xfrm>
            <a:off x="777240" y="3099816"/>
            <a:ext cx="4745279" cy="54864"/>
          </a:xfrm>
          <a:prstGeom prst="roundRect">
            <a:avLst>
              <a:gd name="adj" fmla="val 50000"/>
            </a:avLst>
          </a:prstGeom>
          <a:solidFill>
            <a:srgbClr val="5A6B86"/>
          </a:solidFill>
          <a:ln>
            <a:noFill/>
          </a:ln>
        </p:spPr>
      </p:sp>
      <p:sp>
        <p:nvSpPr>
          <p:cNvPr id="9" name="Text line"/>
          <p:cNvSpPr/>
          <p:nvPr/>
        </p:nvSpPr>
        <p:spPr>
          <a:xfrm>
            <a:off x="777240" y="3273552"/>
            <a:ext cx="4892040" cy="54864"/>
          </a:xfrm>
          <a:prstGeom prst="roundRect">
            <a:avLst>
              <a:gd name="adj" fmla="val 50000"/>
            </a:avLst>
          </a:prstGeom>
          <a:solidFill>
            <a:srgbClr val="5A6B86"/>
          </a:solidFill>
          <a:ln>
            <a:noFill/>
          </a:ln>
        </p:spPr>
      </p:sp>
      <p:sp>
        <p:nvSpPr>
          <p:cNvPr id="10" name="Text line"/>
          <p:cNvSpPr/>
          <p:nvPr/>
        </p:nvSpPr>
        <p:spPr>
          <a:xfrm>
            <a:off x="777240" y="3447288"/>
            <a:ext cx="4598518" cy="54864"/>
          </a:xfrm>
          <a:prstGeom prst="roundRect">
            <a:avLst>
              <a:gd name="adj" fmla="val 50000"/>
            </a:avLst>
          </a:prstGeom>
          <a:solidFill>
            <a:srgbClr val="5A6B86"/>
          </a:solidFill>
          <a:ln>
            <a:noFill/>
          </a:ln>
        </p:spPr>
      </p:sp>
      <p:sp>
        <p:nvSpPr>
          <p:cNvPr id="11" name="Text line"/>
          <p:cNvSpPr/>
          <p:nvPr/>
        </p:nvSpPr>
        <p:spPr>
          <a:xfrm>
            <a:off x="777240" y="3621024"/>
            <a:ext cx="4843120" cy="54864"/>
          </a:xfrm>
          <a:prstGeom prst="roundRect">
            <a:avLst>
              <a:gd name="adj" fmla="val 50000"/>
            </a:avLst>
          </a:prstGeom>
          <a:solidFill>
            <a:srgbClr val="5A6B86"/>
          </a:solidFill>
          <a:ln>
            <a:noFill/>
          </a:ln>
        </p:spPr>
      </p:sp>
      <p:sp>
        <p:nvSpPr>
          <p:cNvPr id="12" name="Text line"/>
          <p:cNvSpPr/>
          <p:nvPr/>
        </p:nvSpPr>
        <p:spPr>
          <a:xfrm>
            <a:off x="777240" y="3794760"/>
            <a:ext cx="4892040" cy="54864"/>
          </a:xfrm>
          <a:prstGeom prst="roundRect">
            <a:avLst>
              <a:gd name="adj" fmla="val 50000"/>
            </a:avLst>
          </a:prstGeom>
          <a:solidFill>
            <a:srgbClr val="5A6B86"/>
          </a:solidFill>
          <a:ln>
            <a:noFill/>
          </a:ln>
        </p:spPr>
      </p:sp>
      <p:sp>
        <p:nvSpPr>
          <p:cNvPr id="13" name="Text line"/>
          <p:cNvSpPr/>
          <p:nvPr/>
        </p:nvSpPr>
        <p:spPr>
          <a:xfrm>
            <a:off x="777240" y="3968496"/>
            <a:ext cx="4696358" cy="54864"/>
          </a:xfrm>
          <a:prstGeom prst="roundRect">
            <a:avLst>
              <a:gd name="adj" fmla="val 50000"/>
            </a:avLst>
          </a:prstGeom>
          <a:solidFill>
            <a:srgbClr val="5A6B86"/>
          </a:solidFill>
          <a:ln>
            <a:noFill/>
          </a:ln>
        </p:spPr>
      </p:sp>
      <p:sp>
        <p:nvSpPr>
          <p:cNvPr id="14" name="Text line"/>
          <p:cNvSpPr/>
          <p:nvPr/>
        </p:nvSpPr>
        <p:spPr>
          <a:xfrm>
            <a:off x="777240" y="4142232"/>
            <a:ext cx="4892040" cy="54864"/>
          </a:xfrm>
          <a:prstGeom prst="roundRect">
            <a:avLst>
              <a:gd name="adj" fmla="val 50000"/>
            </a:avLst>
          </a:prstGeom>
          <a:solidFill>
            <a:srgbClr val="5A6B86"/>
          </a:solidFill>
          <a:ln>
            <a:noFill/>
          </a:ln>
        </p:spPr>
      </p:sp>
      <p:sp>
        <p:nvSpPr>
          <p:cNvPr id="15" name="Text line"/>
          <p:cNvSpPr/>
          <p:nvPr/>
        </p:nvSpPr>
        <p:spPr>
          <a:xfrm>
            <a:off x="777240" y="4315968"/>
            <a:ext cx="4794199" cy="54864"/>
          </a:xfrm>
          <a:prstGeom prst="roundRect">
            <a:avLst>
              <a:gd name="adj" fmla="val 50000"/>
            </a:avLst>
          </a:prstGeom>
          <a:solidFill>
            <a:srgbClr val="5A6B86"/>
          </a:solidFill>
          <a:ln>
            <a:noFill/>
          </a:ln>
        </p:spPr>
      </p:sp>
      <p:sp>
        <p:nvSpPr>
          <p:cNvPr id="16" name="Text line"/>
          <p:cNvSpPr/>
          <p:nvPr/>
        </p:nvSpPr>
        <p:spPr>
          <a:xfrm>
            <a:off x="777240" y="4489704"/>
            <a:ext cx="2690622" cy="54864"/>
          </a:xfrm>
          <a:prstGeom prst="roundRect">
            <a:avLst>
              <a:gd name="adj" fmla="val 50000"/>
            </a:avLst>
          </a:prstGeom>
          <a:solidFill>
            <a:srgbClr val="5A6B86"/>
          </a:solidFill>
          <a:ln>
            <a:noFill/>
          </a:ln>
        </p:spPr>
      </p:sp>
      <p:sp>
        <p:nvSpPr>
          <p:cNvPr id="17" name="Structured checklist"/>
          <p:cNvSpPr/>
          <p:nvPr/>
        </p:nvSpPr>
        <p:spPr>
          <a:xfrm>
            <a:off x="6291072" y="2011680"/>
            <a:ext cx="5349240" cy="2743200"/>
          </a:xfrm>
          <a:prstGeom prst="roundRect">
            <a:avLst>
              <a:gd name="adj" fmla="val 2666"/>
            </a:avLst>
          </a:prstGeom>
          <a:solidFill>
            <a:srgbClr val="1B2940"/>
          </a:solidFill>
          <a:ln>
            <a:noFill/>
          </a:ln>
        </p:spPr>
        <p:txBody>
          <a:bodyPr vert="horz" wrap="square" lIns="228600" tIns="182880" rIns="228600" bIns="91440" rtlCol="0" anchor="t">
            <a:noAutofit/>
          </a:bodyPr>
          <a:lstStyle/>
          <a:p>
            <a:pPr marL="0" indent="0" algn="l">
              <a:lnSpc>
                <a:spcPct val="100000"/>
              </a:lnSpc>
              <a:spcBef>
                <a:spcPts val="0"/>
              </a:spcBef>
              <a:spcAft>
                <a:spcPts val="200"/>
              </a:spcAft>
              <a:buNone/>
            </a:pPr>
            <a:r>
              <a:rPr lang="en-SG" sz="1300" b="1" i="0" spc="100" dirty="0">
                <a:solidFill>
                  <a:srgbClr val="69DECC"/>
                </a:solidFill>
                <a:latin typeface="Arial"/>
                <a:cs typeface="Arial"/>
              </a:rPr>
              <a:t>STRUCTURED CHECKLIST</a:t>
            </a:r>
          </a:p>
          <a:p>
            <a:pPr marL="0" indent="0" algn="l">
              <a:lnSpc>
                <a:spcPct val="100000"/>
              </a:lnSpc>
              <a:spcBef>
                <a:spcPts val="0"/>
              </a:spcBef>
              <a:spcAft>
                <a:spcPts val="0"/>
              </a:spcAft>
              <a:buNone/>
            </a:pPr>
            <a:r>
              <a:rPr lang="en-SG" sz="1300" b="0" i="0" dirty="0">
                <a:solidFill>
                  <a:srgbClr val="B9C4D5"/>
                </a:solidFill>
                <a:latin typeface="Arial"/>
                <a:cs typeface="Arial"/>
              </a:rPr>
              <a:t>Fixed fields: the same ones our MP3 handoffs use</a:t>
            </a:r>
          </a:p>
        </p:txBody>
      </p:sp>
      <p:sp>
        <p:nvSpPr>
          <p:cNvPr id="18" name="Field"/>
          <p:cNvSpPr txBox="1"/>
          <p:nvPr/>
        </p:nvSpPr>
        <p:spPr>
          <a:xfrm>
            <a:off x="6519672" y="2816352"/>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Agent and Status</a:t>
            </a:r>
          </a:p>
        </p:txBody>
      </p:sp>
      <p:sp>
        <p:nvSpPr>
          <p:cNvPr id="19" name="Text line"/>
          <p:cNvSpPr/>
          <p:nvPr/>
        </p:nvSpPr>
        <p:spPr>
          <a:xfrm>
            <a:off x="8778240" y="2907792"/>
            <a:ext cx="2345436" cy="54864"/>
          </a:xfrm>
          <a:prstGeom prst="roundRect">
            <a:avLst>
              <a:gd name="adj" fmla="val 50000"/>
            </a:avLst>
          </a:prstGeom>
          <a:solidFill>
            <a:srgbClr val="5A6B86"/>
          </a:solidFill>
          <a:ln>
            <a:noFill/>
          </a:ln>
        </p:spPr>
      </p:sp>
      <p:sp>
        <p:nvSpPr>
          <p:cNvPr id="20" name="Field"/>
          <p:cNvSpPr txBox="1"/>
          <p:nvPr/>
        </p:nvSpPr>
        <p:spPr>
          <a:xfrm>
            <a:off x="6519672" y="3081528"/>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Inputs</a:t>
            </a:r>
          </a:p>
        </p:txBody>
      </p:sp>
      <p:sp>
        <p:nvSpPr>
          <p:cNvPr id="21" name="Text line"/>
          <p:cNvSpPr/>
          <p:nvPr/>
        </p:nvSpPr>
        <p:spPr>
          <a:xfrm>
            <a:off x="8778240" y="3172968"/>
            <a:ext cx="1954530" cy="54864"/>
          </a:xfrm>
          <a:prstGeom prst="roundRect">
            <a:avLst>
              <a:gd name="adj" fmla="val 50000"/>
            </a:avLst>
          </a:prstGeom>
          <a:solidFill>
            <a:srgbClr val="5A6B86"/>
          </a:solidFill>
          <a:ln>
            <a:noFill/>
          </a:ln>
        </p:spPr>
      </p:sp>
      <p:sp>
        <p:nvSpPr>
          <p:cNvPr id="22" name="Field"/>
          <p:cNvSpPr txBox="1"/>
          <p:nvPr/>
        </p:nvSpPr>
        <p:spPr>
          <a:xfrm>
            <a:off x="6519672" y="3346704"/>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Changed</a:t>
            </a:r>
          </a:p>
        </p:txBody>
      </p:sp>
      <p:sp>
        <p:nvSpPr>
          <p:cNvPr id="23" name="Text line"/>
          <p:cNvSpPr/>
          <p:nvPr/>
        </p:nvSpPr>
        <p:spPr>
          <a:xfrm>
            <a:off x="8778240" y="3438144"/>
            <a:ext cx="1433322" cy="54864"/>
          </a:xfrm>
          <a:prstGeom prst="roundRect">
            <a:avLst>
              <a:gd name="adj" fmla="val 50000"/>
            </a:avLst>
          </a:prstGeom>
          <a:solidFill>
            <a:srgbClr val="5A6B86"/>
          </a:solidFill>
          <a:ln>
            <a:noFill/>
          </a:ln>
        </p:spPr>
      </p:sp>
      <p:sp>
        <p:nvSpPr>
          <p:cNvPr id="24" name="Field"/>
          <p:cNvSpPr txBox="1"/>
          <p:nvPr/>
        </p:nvSpPr>
        <p:spPr>
          <a:xfrm>
            <a:off x="6519672" y="3611880"/>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Checks</a:t>
            </a:r>
          </a:p>
        </p:txBody>
      </p:sp>
      <p:sp>
        <p:nvSpPr>
          <p:cNvPr id="25" name="Text line"/>
          <p:cNvSpPr/>
          <p:nvPr/>
        </p:nvSpPr>
        <p:spPr>
          <a:xfrm>
            <a:off x="8778240" y="3703320"/>
            <a:ext cx="2475738" cy="54864"/>
          </a:xfrm>
          <a:prstGeom prst="roundRect">
            <a:avLst>
              <a:gd name="adj" fmla="val 50000"/>
            </a:avLst>
          </a:prstGeom>
          <a:solidFill>
            <a:srgbClr val="5A6B86"/>
          </a:solidFill>
          <a:ln>
            <a:noFill/>
          </a:ln>
        </p:spPr>
      </p:sp>
      <p:sp>
        <p:nvSpPr>
          <p:cNvPr id="26" name="Field"/>
          <p:cNvSpPr txBox="1"/>
          <p:nvPr/>
        </p:nvSpPr>
        <p:spPr>
          <a:xfrm>
            <a:off x="6519672" y="3877056"/>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Decisions needed</a:t>
            </a:r>
          </a:p>
        </p:txBody>
      </p:sp>
      <p:sp>
        <p:nvSpPr>
          <p:cNvPr id="27" name="Text line"/>
          <p:cNvSpPr/>
          <p:nvPr/>
        </p:nvSpPr>
        <p:spPr>
          <a:xfrm>
            <a:off x="8778240" y="3968496"/>
            <a:ext cx="1563624" cy="54864"/>
          </a:xfrm>
          <a:prstGeom prst="roundRect">
            <a:avLst>
              <a:gd name="adj" fmla="val 50000"/>
            </a:avLst>
          </a:prstGeom>
          <a:solidFill>
            <a:srgbClr val="5A6B86"/>
          </a:solidFill>
          <a:ln>
            <a:noFill/>
          </a:ln>
        </p:spPr>
      </p:sp>
      <p:sp>
        <p:nvSpPr>
          <p:cNvPr id="28" name="Field"/>
          <p:cNvSpPr txBox="1"/>
          <p:nvPr/>
        </p:nvSpPr>
        <p:spPr>
          <a:xfrm>
            <a:off x="6519672" y="4142232"/>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Assumptions</a:t>
            </a:r>
          </a:p>
        </p:txBody>
      </p:sp>
      <p:sp>
        <p:nvSpPr>
          <p:cNvPr id="29" name="Text line"/>
          <p:cNvSpPr/>
          <p:nvPr/>
        </p:nvSpPr>
        <p:spPr>
          <a:xfrm>
            <a:off x="8778240" y="4233672"/>
            <a:ext cx="2084832" cy="54864"/>
          </a:xfrm>
          <a:prstGeom prst="roundRect">
            <a:avLst>
              <a:gd name="adj" fmla="val 50000"/>
            </a:avLst>
          </a:prstGeom>
          <a:solidFill>
            <a:srgbClr val="5A6B86"/>
          </a:solidFill>
          <a:ln>
            <a:noFill/>
          </a:ln>
        </p:spPr>
      </p:sp>
      <p:sp>
        <p:nvSpPr>
          <p:cNvPr id="30" name="Field"/>
          <p:cNvSpPr txBox="1"/>
          <p:nvPr/>
        </p:nvSpPr>
        <p:spPr>
          <a:xfrm>
            <a:off x="6519672" y="4407408"/>
            <a:ext cx="2194560" cy="237744"/>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dirty="0">
                <a:solidFill>
                  <a:srgbClr val="69DECC"/>
                </a:solidFill>
                <a:latin typeface="Arial"/>
                <a:cs typeface="Arial"/>
              </a:rPr>
              <a:t>Untrusted content seen</a:t>
            </a:r>
          </a:p>
        </p:txBody>
      </p:sp>
      <p:sp>
        <p:nvSpPr>
          <p:cNvPr id="31" name="Text line"/>
          <p:cNvSpPr/>
          <p:nvPr/>
        </p:nvSpPr>
        <p:spPr>
          <a:xfrm>
            <a:off x="8778240" y="4498848"/>
            <a:ext cx="1303020" cy="54864"/>
          </a:xfrm>
          <a:prstGeom prst="roundRect">
            <a:avLst>
              <a:gd name="adj" fmla="val 50000"/>
            </a:avLst>
          </a:prstGeom>
          <a:solidFill>
            <a:srgbClr val="5A6B86"/>
          </a:solidFill>
          <a:ln>
            <a:noFill/>
          </a:ln>
        </p:spPr>
      </p:sp>
      <p:sp>
        <p:nvSpPr>
          <p:cNvPr id="32" name="Same inputs"/>
          <p:cNvSpPr txBox="1"/>
          <p:nvPr/>
        </p:nvSpPr>
        <p:spPr>
          <a:xfrm>
            <a:off x="548640" y="4956048"/>
            <a:ext cx="11091672" cy="4114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700" b="0" i="0" dirty="0">
                <a:solidFill>
                  <a:srgbClr val="D6DDE8"/>
                </a:solidFill>
                <a:latin typeface="Arial"/>
                <a:cs typeface="Arial"/>
              </a:rPr>
              <a:t>Both formats get the same instructions, the same message history and the same 200-word limit.</a:t>
            </a:r>
          </a:p>
        </p:txBody>
      </p:sp>
      <p:sp>
        <p:nvSpPr>
          <p:cNvPr id="33" name="Measure"/>
          <p:cNvSpPr/>
          <p:nvPr/>
        </p:nvSpPr>
        <p:spPr>
          <a:xfrm>
            <a:off x="548640" y="5468112"/>
            <a:ext cx="11091672" cy="640080"/>
          </a:xfrm>
          <a:prstGeom prst="roundRect">
            <a:avLst>
              <a:gd name="adj" fmla="val 11428"/>
            </a:avLst>
          </a:prstGeom>
          <a:solidFill>
            <a:srgbClr val="24334B"/>
          </a:solidFill>
          <a:ln>
            <a:noFill/>
          </a:ln>
        </p:spPr>
        <p:txBody>
          <a:bodyPr vert="horz" wrap="square" lIns="274320" tIns="45720" rIns="274320" bIns="45720" rtlCol="0" anchor="ctr">
            <a:noAutofit/>
          </a:bodyPr>
          <a:lstStyle/>
          <a:p>
            <a:pPr marL="0" indent="0" algn="l">
              <a:lnSpc>
                <a:spcPct val="100000"/>
              </a:lnSpc>
              <a:spcBef>
                <a:spcPts val="0"/>
              </a:spcBef>
              <a:spcAft>
                <a:spcPts val="0"/>
              </a:spcAft>
              <a:buNone/>
            </a:pPr>
            <a:r>
              <a:rPr lang="en-SG" sz="1800" b="0" i="0" dirty="0">
                <a:solidFill>
                  <a:srgbClr val="F5F3EB"/>
                </a:solidFill>
                <a:latin typeface="Arial"/>
                <a:cs typeface="Arial"/>
              </a:rPr>
              <a:t>Then I measured </a:t>
            </a:r>
            <a:r>
              <a:rPr lang="en-SG" sz="1800" b="1" i="0" dirty="0">
                <a:solidFill>
                  <a:srgbClr val="FFC36A"/>
                </a:solidFill>
                <a:latin typeface="Arial"/>
                <a:cs typeface="Arial"/>
              </a:rPr>
              <a:t>how much information the next agent correctly recovers, misses or gets wrong.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CODING TASK</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task: fix five bugs in Deskmate’s LLM health check</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First, a coding agent did a real MP3 task. Deskmate’s health check tests whether our app can reach its LLM provider, and its starting code had five bugs.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5 / 12</a:t>
            </a:r>
          </a:p>
        </p:txBody>
      </p:sp>
      <p:sp>
        <p:nvSpPr>
          <p:cNvPr id="6" name="Deskmate app"/>
          <p:cNvSpPr/>
          <p:nvPr/>
        </p:nvSpPr>
        <p:spPr>
          <a:xfrm>
            <a:off x="548640" y="2240280"/>
            <a:ext cx="2377440" cy="896112"/>
          </a:xfrm>
          <a:prstGeom prst="roundRect">
            <a:avLst>
              <a:gd name="adj" fmla="val 8163"/>
            </a:avLst>
          </a:prstGeom>
          <a:solidFill>
            <a:srgbClr val="1B2940"/>
          </a:solidFill>
          <a:ln>
            <a:noFill/>
          </a:ln>
        </p:spPr>
        <p:txBody>
          <a:bodyPr vert="horz" wrap="square" lIns="164592" tIns="128016" rIns="164592" bIns="128016" rtlCol="0" anchor="ctr">
            <a:noAutofit/>
          </a:bodyPr>
          <a:lstStyle/>
          <a:p>
            <a:pPr marL="0" indent="0" algn="ctr">
              <a:lnSpc>
                <a:spcPct val="100000"/>
              </a:lnSpc>
              <a:spcBef>
                <a:spcPts val="0"/>
              </a:spcBef>
              <a:spcAft>
                <a:spcPts val="0"/>
              </a:spcAft>
              <a:buNone/>
            </a:pPr>
            <a:r>
              <a:rPr lang="en-SG" sz="1600" b="1" i="0" dirty="0">
                <a:solidFill>
                  <a:srgbClr val="F5F3EB"/>
                </a:solidFill>
                <a:latin typeface="Arial"/>
                <a:cs typeface="Arial"/>
              </a:rPr>
              <a:t>Deskmate app</a:t>
            </a:r>
          </a:p>
          <a:p>
            <a:pPr marL="0" indent="0" algn="ctr">
              <a:lnSpc>
                <a:spcPct val="100000"/>
              </a:lnSpc>
              <a:spcBef>
                <a:spcPts val="0"/>
              </a:spcBef>
              <a:spcAft>
                <a:spcPts val="0"/>
              </a:spcAft>
              <a:buNone/>
            </a:pPr>
            <a:r>
              <a:rPr lang="en-SG" sz="1200" b="0" i="0" dirty="0">
                <a:solidFill>
                  <a:srgbClr val="B9C4D5"/>
                </a:solidFill>
                <a:latin typeface="Arial"/>
                <a:cs typeface="Arial"/>
              </a:rPr>
              <a:t>our MP3 project</a:t>
            </a:r>
          </a:p>
        </p:txBody>
      </p:sp>
      <p:sp>
        <p:nvSpPr>
          <p:cNvPr id="7" name="LLM provider"/>
          <p:cNvSpPr/>
          <p:nvPr/>
        </p:nvSpPr>
        <p:spPr>
          <a:xfrm>
            <a:off x="9262872" y="2240280"/>
            <a:ext cx="2377440" cy="896112"/>
          </a:xfrm>
          <a:prstGeom prst="roundRect">
            <a:avLst>
              <a:gd name="adj" fmla="val 8163"/>
            </a:avLst>
          </a:prstGeom>
          <a:solidFill>
            <a:srgbClr val="1B2940"/>
          </a:solidFill>
          <a:ln>
            <a:noFill/>
          </a:ln>
        </p:spPr>
        <p:txBody>
          <a:bodyPr vert="horz" wrap="square" lIns="164592" tIns="128016" rIns="164592" bIns="128016" rtlCol="0" anchor="ctr">
            <a:noAutofit/>
          </a:bodyPr>
          <a:lstStyle/>
          <a:p>
            <a:pPr marL="0" indent="0" algn="ctr">
              <a:lnSpc>
                <a:spcPct val="100000"/>
              </a:lnSpc>
              <a:spcBef>
                <a:spcPts val="0"/>
              </a:spcBef>
              <a:spcAft>
                <a:spcPts val="0"/>
              </a:spcAft>
              <a:buNone/>
            </a:pPr>
            <a:r>
              <a:rPr lang="en-SG" sz="1600" b="1" i="0" dirty="0">
                <a:solidFill>
                  <a:srgbClr val="F5F3EB"/>
                </a:solidFill>
                <a:latin typeface="Arial"/>
                <a:cs typeface="Arial"/>
              </a:rPr>
              <a:t>LLM provider</a:t>
            </a:r>
          </a:p>
          <a:p>
            <a:pPr marL="0" indent="0" algn="ctr">
              <a:lnSpc>
                <a:spcPct val="100000"/>
              </a:lnSpc>
              <a:spcBef>
                <a:spcPts val="0"/>
              </a:spcBef>
              <a:spcAft>
                <a:spcPts val="0"/>
              </a:spcAft>
              <a:buNone/>
            </a:pPr>
            <a:r>
              <a:rPr lang="en-SG" sz="1200" b="0" i="0" dirty="0">
                <a:solidFill>
                  <a:srgbClr val="B9C4D5"/>
                </a:solidFill>
                <a:latin typeface="Arial"/>
                <a:cs typeface="Arial"/>
              </a:rPr>
              <a:t>the AI model’s server</a:t>
            </a:r>
          </a:p>
        </p:txBody>
      </p:sp>
      <p:cxnSp>
        <p:nvCxnSpPr>
          <p:cNvPr id="8" name="Request"/>
          <p:cNvCxnSpPr/>
          <p:nvPr/>
        </p:nvCxnSpPr>
        <p:spPr>
          <a:xfrm>
            <a:off x="3017520" y="2523744"/>
            <a:ext cx="6153912" cy="0"/>
          </a:xfrm>
          <a:prstGeom prst="straightConnector1">
            <a:avLst/>
          </a:prstGeom>
          <a:ln w="28575">
            <a:solidFill>
              <a:srgbClr val="7F8EA6"/>
            </a:solidFill>
            <a:tailEnd type="triangle" w="med" len="med"/>
          </a:ln>
        </p:spPr>
      </p:cxnSp>
      <p:cxnSp>
        <p:nvCxnSpPr>
          <p:cNvPr id="9" name="Response"/>
          <p:cNvCxnSpPr/>
          <p:nvPr/>
        </p:nvCxnSpPr>
        <p:spPr>
          <a:xfrm flipH="1">
            <a:off x="3017520" y="2862072"/>
            <a:ext cx="6153912" cy="0"/>
          </a:xfrm>
          <a:prstGeom prst="straightConnector1">
            <a:avLst/>
          </a:prstGeom>
          <a:ln w="28575">
            <a:solidFill>
              <a:srgbClr val="7F8EA6"/>
            </a:solidFill>
            <a:tailEnd type="triangle" w="med" len="med"/>
          </a:ln>
        </p:spPr>
      </p:cxnSp>
      <p:sp>
        <p:nvSpPr>
          <p:cNvPr id="10" name="Request label"/>
          <p:cNvSpPr txBox="1"/>
          <p:nvPr/>
        </p:nvSpPr>
        <p:spPr>
          <a:xfrm>
            <a:off x="3108960" y="2176272"/>
            <a:ext cx="5943600" cy="301752"/>
          </a:xfrm>
          <a:prstGeom prst="rect">
            <a:avLst/>
          </a:prstGeom>
          <a:noFill/>
          <a:ln>
            <a:noFill/>
          </a:ln>
        </p:spPr>
        <p:txBody>
          <a:bodyPr vert="horz" wrap="square" lIns="0" tIns="0" rIns="0" bIns="0" rtlCol="0" anchor="b">
            <a:noAutofit/>
          </a:bodyPr>
          <a:lstStyle/>
          <a:p>
            <a:pPr marL="0" indent="0" algn="ctr">
              <a:lnSpc>
                <a:spcPct val="100000"/>
              </a:lnSpc>
              <a:spcBef>
                <a:spcPts val="0"/>
              </a:spcBef>
              <a:spcAft>
                <a:spcPts val="0"/>
              </a:spcAft>
              <a:buNone/>
            </a:pPr>
            <a:r>
              <a:rPr lang="en-SG" sz="1300" b="0" i="0" dirty="0">
                <a:solidFill>
                  <a:srgbClr val="D6DDE8"/>
                </a:solidFill>
                <a:latin typeface="Arial"/>
                <a:cs typeface="Arial"/>
              </a:rPr>
              <a:t>1  Send one fixed request: “Reply with OK.”</a:t>
            </a:r>
          </a:p>
        </p:txBody>
      </p:sp>
      <p:sp>
        <p:nvSpPr>
          <p:cNvPr id="11" name="Response label"/>
          <p:cNvSpPr txBox="1"/>
          <p:nvPr/>
        </p:nvSpPr>
        <p:spPr>
          <a:xfrm>
            <a:off x="3108960" y="2916936"/>
            <a:ext cx="5943600" cy="301752"/>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0"/>
              </a:spcAft>
              <a:buNone/>
            </a:pPr>
            <a:r>
              <a:rPr lang="en-SG" sz="1300" b="0" i="0" dirty="0">
                <a:solidFill>
                  <a:srgbClr val="D6DDE8"/>
                </a:solidFill>
                <a:latin typeface="Arial"/>
                <a:cs typeface="Arial"/>
              </a:rPr>
              <a:t>2  Check the reply: is it a valid answer from the model?</a:t>
            </a:r>
          </a:p>
        </p:txBody>
      </p:sp>
      <p:sp>
        <p:nvSpPr>
          <p:cNvPr id="12" name="Label"/>
          <p:cNvSpPr txBox="1"/>
          <p:nvPr/>
        </p:nvSpPr>
        <p:spPr>
          <a:xfrm>
            <a:off x="548640" y="3401568"/>
            <a:ext cx="73152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FFC36A"/>
                </a:solidFill>
                <a:latin typeface="Arial"/>
                <a:cs typeface="Arial"/>
              </a:rPr>
              <a:t>FIVE BUGS IN THE STARTING CODE</a:t>
            </a:r>
          </a:p>
        </p:txBody>
      </p:sp>
      <p:sp>
        <p:nvSpPr>
          <p:cNvPr id="13" name="Bug 1" descr="Bug 1: Timeout. No overall 10-second limit on the whole check."/>
          <p:cNvSpPr/>
          <p:nvPr/>
        </p:nvSpPr>
        <p:spPr>
          <a:xfrm>
            <a:off x="548640" y="3749040"/>
            <a:ext cx="2057400" cy="1828800"/>
          </a:xfrm>
          <a:prstGeom prst="roundRect">
            <a:avLst>
              <a:gd name="adj" fmla="val 4000"/>
            </a:avLst>
          </a:prstGeom>
          <a:solidFill>
            <a:srgbClr val="1B2940"/>
          </a:solidFill>
          <a:ln>
            <a:noFill/>
          </a:ln>
        </p:spPr>
      </p:sp>
      <p:sp>
        <p:nvSpPr>
          <p:cNvPr id="14" name="Number 1"/>
          <p:cNvSpPr/>
          <p:nvPr/>
        </p:nvSpPr>
        <p:spPr>
          <a:xfrm>
            <a:off x="740664"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1</a:t>
            </a:r>
          </a:p>
        </p:txBody>
      </p:sp>
      <p:sp>
        <p:nvSpPr>
          <p:cNvPr id="15" name="Bug title"/>
          <p:cNvSpPr txBox="1"/>
          <p:nvPr/>
        </p:nvSpPr>
        <p:spPr>
          <a:xfrm>
            <a:off x="731520"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Timeout</a:t>
            </a:r>
          </a:p>
        </p:txBody>
      </p:sp>
      <p:sp>
        <p:nvSpPr>
          <p:cNvPr id="16" name="Bug detail"/>
          <p:cNvSpPr txBox="1"/>
          <p:nvPr/>
        </p:nvSpPr>
        <p:spPr>
          <a:xfrm>
            <a:off x="731520"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No overall 10-second limit on the whole check</a:t>
            </a:r>
          </a:p>
        </p:txBody>
      </p:sp>
      <p:sp>
        <p:nvSpPr>
          <p:cNvPr id="17" name="Bug 2" descr="Bug 2: Proxy. May send the request via the machine’s proxy server."/>
          <p:cNvSpPr/>
          <p:nvPr/>
        </p:nvSpPr>
        <p:spPr>
          <a:xfrm>
            <a:off x="2807208" y="3749040"/>
            <a:ext cx="2057400" cy="1828800"/>
          </a:xfrm>
          <a:prstGeom prst="roundRect">
            <a:avLst>
              <a:gd name="adj" fmla="val 4000"/>
            </a:avLst>
          </a:prstGeom>
          <a:solidFill>
            <a:srgbClr val="1B2940"/>
          </a:solidFill>
          <a:ln>
            <a:noFill/>
          </a:ln>
        </p:spPr>
      </p:sp>
      <p:sp>
        <p:nvSpPr>
          <p:cNvPr id="18" name="Number 2"/>
          <p:cNvSpPr/>
          <p:nvPr/>
        </p:nvSpPr>
        <p:spPr>
          <a:xfrm>
            <a:off x="2999232"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2</a:t>
            </a:r>
          </a:p>
        </p:txBody>
      </p:sp>
      <p:sp>
        <p:nvSpPr>
          <p:cNvPr id="19" name="Bug title"/>
          <p:cNvSpPr txBox="1"/>
          <p:nvPr/>
        </p:nvSpPr>
        <p:spPr>
          <a:xfrm>
            <a:off x="2990088"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Proxy</a:t>
            </a:r>
          </a:p>
        </p:txBody>
      </p:sp>
      <p:sp>
        <p:nvSpPr>
          <p:cNvPr id="20" name="Bug detail"/>
          <p:cNvSpPr txBox="1"/>
          <p:nvPr/>
        </p:nvSpPr>
        <p:spPr>
          <a:xfrm>
            <a:off x="2990088"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May send the request via the machine’s proxy server</a:t>
            </a:r>
          </a:p>
        </p:txBody>
      </p:sp>
      <p:sp>
        <p:nvSpPr>
          <p:cNvPr id="21" name="Bug 3" descr="Bug 3: Extra header. Sends a User-Agent header it should leave out."/>
          <p:cNvSpPr/>
          <p:nvPr/>
        </p:nvSpPr>
        <p:spPr>
          <a:xfrm>
            <a:off x="5065776" y="3749040"/>
            <a:ext cx="2057400" cy="1828800"/>
          </a:xfrm>
          <a:prstGeom prst="roundRect">
            <a:avLst>
              <a:gd name="adj" fmla="val 4000"/>
            </a:avLst>
          </a:prstGeom>
          <a:solidFill>
            <a:srgbClr val="1B2940"/>
          </a:solidFill>
          <a:ln>
            <a:noFill/>
          </a:ln>
        </p:spPr>
      </p:sp>
      <p:sp>
        <p:nvSpPr>
          <p:cNvPr id="22" name="Number 3"/>
          <p:cNvSpPr/>
          <p:nvPr/>
        </p:nvSpPr>
        <p:spPr>
          <a:xfrm>
            <a:off x="5257800"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3</a:t>
            </a:r>
          </a:p>
        </p:txBody>
      </p:sp>
      <p:sp>
        <p:nvSpPr>
          <p:cNvPr id="23" name="Bug title"/>
          <p:cNvSpPr txBox="1"/>
          <p:nvPr/>
        </p:nvSpPr>
        <p:spPr>
          <a:xfrm>
            <a:off x="5248656"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Extra header</a:t>
            </a:r>
          </a:p>
        </p:txBody>
      </p:sp>
      <p:sp>
        <p:nvSpPr>
          <p:cNvPr id="24" name="Bug detail"/>
          <p:cNvSpPr txBox="1"/>
          <p:nvPr/>
        </p:nvSpPr>
        <p:spPr>
          <a:xfrm>
            <a:off x="5248656"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Sends a User-Agent header it should leave out</a:t>
            </a:r>
          </a:p>
        </p:txBody>
      </p:sp>
      <p:sp>
        <p:nvSpPr>
          <p:cNvPr id="25" name="Bug 4" descr="Bug 4: Bad access tokens. Some crash the check instead of being refused."/>
          <p:cNvSpPr/>
          <p:nvPr/>
        </p:nvSpPr>
        <p:spPr>
          <a:xfrm>
            <a:off x="7324344" y="3749040"/>
            <a:ext cx="2057400" cy="1828800"/>
          </a:xfrm>
          <a:prstGeom prst="roundRect">
            <a:avLst>
              <a:gd name="adj" fmla="val 4000"/>
            </a:avLst>
          </a:prstGeom>
          <a:solidFill>
            <a:srgbClr val="1B2940"/>
          </a:solidFill>
          <a:ln>
            <a:noFill/>
          </a:ln>
        </p:spPr>
      </p:sp>
      <p:sp>
        <p:nvSpPr>
          <p:cNvPr id="26" name="Number 4"/>
          <p:cNvSpPr/>
          <p:nvPr/>
        </p:nvSpPr>
        <p:spPr>
          <a:xfrm>
            <a:off x="7516368"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4</a:t>
            </a:r>
          </a:p>
        </p:txBody>
      </p:sp>
      <p:sp>
        <p:nvSpPr>
          <p:cNvPr id="27" name="Bug title"/>
          <p:cNvSpPr txBox="1"/>
          <p:nvPr/>
        </p:nvSpPr>
        <p:spPr>
          <a:xfrm>
            <a:off x="7507224"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Bad access tokens</a:t>
            </a:r>
          </a:p>
        </p:txBody>
      </p:sp>
      <p:sp>
        <p:nvSpPr>
          <p:cNvPr id="28" name="Bug detail"/>
          <p:cNvSpPr txBox="1"/>
          <p:nvPr/>
        </p:nvSpPr>
        <p:spPr>
          <a:xfrm>
            <a:off x="7507224"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Some crash the check instead of being refused</a:t>
            </a:r>
          </a:p>
        </p:txBody>
      </p:sp>
      <p:sp>
        <p:nvSpPr>
          <p:cNvPr id="29" name="Bug 5" descr="Bug 5: Cut-off replies. Crash the check instead of counting as a failure."/>
          <p:cNvSpPr/>
          <p:nvPr/>
        </p:nvSpPr>
        <p:spPr>
          <a:xfrm>
            <a:off x="9582912" y="3749040"/>
            <a:ext cx="2057400" cy="1828800"/>
          </a:xfrm>
          <a:prstGeom prst="roundRect">
            <a:avLst>
              <a:gd name="adj" fmla="val 4000"/>
            </a:avLst>
          </a:prstGeom>
          <a:solidFill>
            <a:srgbClr val="1B2940"/>
          </a:solidFill>
          <a:ln>
            <a:noFill/>
          </a:ln>
        </p:spPr>
      </p:sp>
      <p:sp>
        <p:nvSpPr>
          <p:cNvPr id="30" name="Number 5"/>
          <p:cNvSpPr/>
          <p:nvPr/>
        </p:nvSpPr>
        <p:spPr>
          <a:xfrm>
            <a:off x="9774936"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5</a:t>
            </a:r>
          </a:p>
        </p:txBody>
      </p:sp>
      <p:sp>
        <p:nvSpPr>
          <p:cNvPr id="31" name="Bug title"/>
          <p:cNvSpPr txBox="1"/>
          <p:nvPr/>
        </p:nvSpPr>
        <p:spPr>
          <a:xfrm>
            <a:off x="9765792"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Cut-off replies</a:t>
            </a:r>
          </a:p>
        </p:txBody>
      </p:sp>
      <p:sp>
        <p:nvSpPr>
          <p:cNvPr id="32" name="Bug detail"/>
          <p:cNvSpPr txBox="1"/>
          <p:nvPr/>
        </p:nvSpPr>
        <p:spPr>
          <a:xfrm>
            <a:off x="9765792"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Crash the check instead of counting as a failure</a:t>
            </a:r>
          </a:p>
        </p:txBody>
      </p:sp>
      <p:sp>
        <p:nvSpPr>
          <p:cNvPr id="33" name="Other rules"/>
          <p:cNvSpPr txBox="1"/>
          <p:nvPr/>
        </p:nvSpPr>
        <p:spPr>
          <a:xfrm>
            <a:off x="548640" y="5687568"/>
            <a:ext cx="11091672" cy="4114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0" i="0" dirty="0">
                <a:solidFill>
                  <a:srgbClr val="D6DDE8"/>
                </a:solidFill>
                <a:latin typeface="Arial"/>
                <a:cs typeface="Arial"/>
              </a:rPr>
              <a:t>The fix also had to keep every other documented rule, such as which replies count as a success.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SETUP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Three agents pass the work along</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 coding agent’s message history goes to two handoff agents, one per format. A fresh receiving agent then answers six questions using only one handoff.</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6 / 12</a:t>
            </a:r>
          </a:p>
        </p:txBody>
      </p:sp>
      <p:sp>
        <p:nvSpPr>
          <p:cNvPr id="6" name="Coding agent" descr="Pipeline: coding agent, message history, two handoff agents, two handoffs, two receiving agents"/>
          <p:cNvSpPr/>
          <p:nvPr/>
        </p:nvSpPr>
        <p:spPr>
          <a:xfrm>
            <a:off x="548640" y="2880360"/>
            <a:ext cx="2103120" cy="1645920"/>
          </a:xfrm>
          <a:prstGeom prst="roundRect">
            <a:avLst>
              <a:gd name="adj" fmla="val 4444"/>
            </a:avLst>
          </a:prstGeom>
          <a:solidFill>
            <a:srgbClr val="1B2940"/>
          </a:solidFill>
          <a:ln>
            <a:noFill/>
          </a:ln>
        </p:spPr>
        <p:txBody>
          <a:bodyPr vert="horz" wrap="square" lIns="164592" tIns="164592" rIns="128016" bIns="109728" rtlCol="0" anchor="t">
            <a:noAutofit/>
          </a:bodyPr>
          <a:lstStyle/>
          <a:p>
            <a:pPr marL="0" indent="0" algn="l">
              <a:lnSpc>
                <a:spcPct val="100000"/>
              </a:lnSpc>
              <a:spcBef>
                <a:spcPts val="0"/>
              </a:spcBef>
              <a:spcAft>
                <a:spcPts val="400"/>
              </a:spcAft>
              <a:buNone/>
            </a:pPr>
            <a:r>
              <a:rPr lang="en-SG" sz="1500" b="1" i="0" dirty="0">
                <a:solidFill>
                  <a:srgbClr val="69DECC"/>
                </a:solidFill>
                <a:latin typeface="Arial"/>
                <a:cs typeface="Arial"/>
              </a:rPr>
              <a:t>1  </a:t>
            </a:r>
            <a:r>
              <a:rPr lang="en-SG" sz="1500" b="1" i="0" dirty="0">
                <a:solidFill>
                  <a:srgbClr val="F5F3EB"/>
                </a:solidFill>
                <a:latin typeface="Arial"/>
                <a:cs typeface="Arial"/>
              </a:rPr>
              <a:t>Coding agent</a:t>
            </a:r>
          </a:p>
          <a:p>
            <a:pPr marL="0" indent="0" algn="l">
              <a:lnSpc>
                <a:spcPct val="100000"/>
              </a:lnSpc>
              <a:spcBef>
                <a:spcPts val="0"/>
              </a:spcBef>
              <a:spcAft>
                <a:spcPts val="800"/>
              </a:spcAft>
              <a:buNone/>
            </a:pPr>
            <a:r>
              <a:rPr lang="en-SG" sz="1300" b="0" i="0" dirty="0">
                <a:solidFill>
                  <a:srgbClr val="B9C4D5"/>
                </a:solidFill>
                <a:latin typeface="Arial"/>
                <a:cs typeface="Arial"/>
              </a:rPr>
              <a:t>fixes the bugs</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cxnSp>
        <p:nvCxnSpPr>
          <p:cNvPr id="7" name="Arrow"/>
          <p:cNvCxnSpPr/>
          <p:nvPr/>
        </p:nvCxnSpPr>
        <p:spPr>
          <a:xfrm>
            <a:off x="2697480" y="3703320"/>
            <a:ext cx="228600" cy="0"/>
          </a:xfrm>
          <a:prstGeom prst="straightConnector1">
            <a:avLst/>
          </a:prstGeom>
          <a:ln w="25400">
            <a:solidFill>
              <a:srgbClr val="7F8EA6"/>
            </a:solidFill>
            <a:tailEnd type="triangle" w="med" len="med"/>
          </a:ln>
        </p:spPr>
      </p:cxnSp>
      <p:sp>
        <p:nvSpPr>
          <p:cNvPr id="8" name="Message history"/>
          <p:cNvSpPr/>
          <p:nvPr/>
        </p:nvSpPr>
        <p:spPr>
          <a:xfrm>
            <a:off x="2971800" y="2880360"/>
            <a:ext cx="1737360" cy="1645920"/>
          </a:xfrm>
          <a:prstGeom prst="roundRect">
            <a:avLst>
              <a:gd name="adj" fmla="val 4444"/>
            </a:avLst>
          </a:prstGeom>
          <a:solidFill>
            <a:srgbClr val="1B2940"/>
          </a:solidFill>
          <a:ln>
            <a:noFill/>
          </a:ln>
        </p:spPr>
        <p:txBody>
          <a:bodyPr vert="horz" wrap="square" lIns="146304" tIns="146304" rIns="109728" bIns="91440" rtlCol="0" anchor="t">
            <a:noAutofit/>
          </a:bodyPr>
          <a:lstStyle/>
          <a:p>
            <a:pPr marL="0" indent="0" algn="l">
              <a:lnSpc>
                <a:spcPct val="100000"/>
              </a:lnSpc>
              <a:spcBef>
                <a:spcPts val="0"/>
              </a:spcBef>
              <a:spcAft>
                <a:spcPts val="400"/>
              </a:spcAft>
              <a:buNone/>
            </a:pPr>
            <a:r>
              <a:rPr lang="en-SG" sz="1400" b="1" i="0" dirty="0">
                <a:solidFill>
                  <a:srgbClr val="F5F3EB"/>
                </a:solidFill>
                <a:latin typeface="Arial"/>
                <a:cs typeface="Arial"/>
              </a:rPr>
              <a:t>Message history</a:t>
            </a:r>
          </a:p>
          <a:p>
            <a:pPr marL="0" indent="0" algn="l">
              <a:lnSpc>
                <a:spcPct val="100000"/>
              </a:lnSpc>
              <a:spcBef>
                <a:spcPts val="0"/>
              </a:spcBef>
              <a:spcAft>
                <a:spcPts val="0"/>
              </a:spcAft>
              <a:buNone/>
            </a:pPr>
            <a:r>
              <a:rPr lang="en-SG" sz="1200" b="0" i="0" dirty="0">
                <a:solidFill>
                  <a:srgbClr val="B9C4D5"/>
                </a:solidFill>
                <a:latin typeface="Arial"/>
                <a:cs typeface="Arial"/>
              </a:rPr>
              <a:t>about 3,500 words</a:t>
            </a:r>
          </a:p>
        </p:txBody>
      </p:sp>
      <p:sp>
        <p:nvSpPr>
          <p:cNvPr id="9" name="Text line"/>
          <p:cNvSpPr/>
          <p:nvPr/>
        </p:nvSpPr>
        <p:spPr>
          <a:xfrm>
            <a:off x="3136392" y="3657600"/>
            <a:ext cx="1371600" cy="54864"/>
          </a:xfrm>
          <a:prstGeom prst="roundRect">
            <a:avLst>
              <a:gd name="adj" fmla="val 50000"/>
            </a:avLst>
          </a:prstGeom>
          <a:solidFill>
            <a:srgbClr val="5A6B86"/>
          </a:solidFill>
          <a:ln>
            <a:noFill/>
          </a:ln>
        </p:spPr>
      </p:sp>
      <p:sp>
        <p:nvSpPr>
          <p:cNvPr id="10" name="Text line"/>
          <p:cNvSpPr/>
          <p:nvPr/>
        </p:nvSpPr>
        <p:spPr>
          <a:xfrm>
            <a:off x="3136392" y="3813048"/>
            <a:ext cx="1261872" cy="54864"/>
          </a:xfrm>
          <a:prstGeom prst="roundRect">
            <a:avLst>
              <a:gd name="adj" fmla="val 50000"/>
            </a:avLst>
          </a:prstGeom>
          <a:solidFill>
            <a:srgbClr val="5A6B86"/>
          </a:solidFill>
          <a:ln>
            <a:noFill/>
          </a:ln>
        </p:spPr>
      </p:sp>
      <p:sp>
        <p:nvSpPr>
          <p:cNvPr id="11" name="Text line"/>
          <p:cNvSpPr/>
          <p:nvPr/>
        </p:nvSpPr>
        <p:spPr>
          <a:xfrm>
            <a:off x="3136392" y="3968496"/>
            <a:ext cx="1330452" cy="54864"/>
          </a:xfrm>
          <a:prstGeom prst="roundRect">
            <a:avLst>
              <a:gd name="adj" fmla="val 50000"/>
            </a:avLst>
          </a:prstGeom>
          <a:solidFill>
            <a:srgbClr val="5A6B86"/>
          </a:solidFill>
          <a:ln>
            <a:noFill/>
          </a:ln>
        </p:spPr>
      </p:sp>
      <p:sp>
        <p:nvSpPr>
          <p:cNvPr id="12" name="Text line"/>
          <p:cNvSpPr/>
          <p:nvPr/>
        </p:nvSpPr>
        <p:spPr>
          <a:xfrm>
            <a:off x="3136392" y="4123944"/>
            <a:ext cx="1165860" cy="54864"/>
          </a:xfrm>
          <a:prstGeom prst="roundRect">
            <a:avLst>
              <a:gd name="adj" fmla="val 50000"/>
            </a:avLst>
          </a:prstGeom>
          <a:solidFill>
            <a:srgbClr val="5A6B86"/>
          </a:solidFill>
          <a:ln>
            <a:noFill/>
          </a:ln>
        </p:spPr>
      </p:sp>
      <p:cxnSp>
        <p:nvCxnSpPr>
          <p:cNvPr id="13" name="Arrow"/>
          <p:cNvCxnSpPr/>
          <p:nvPr/>
        </p:nvCxnSpPr>
        <p:spPr>
          <a:xfrm flipV="1">
            <a:off x="4754880" y="2880360"/>
            <a:ext cx="274320" cy="822960"/>
          </a:xfrm>
          <a:prstGeom prst="straightConnector1">
            <a:avLst/>
          </a:prstGeom>
          <a:ln w="25400">
            <a:solidFill>
              <a:srgbClr val="7F8EA6"/>
            </a:solidFill>
            <a:tailEnd type="triangle" w="med" len="med"/>
          </a:ln>
        </p:spPr>
      </p:cxnSp>
      <p:sp>
        <p:nvSpPr>
          <p:cNvPr id="14" name="Handoff agent"/>
          <p:cNvSpPr/>
          <p:nvPr/>
        </p:nvSpPr>
        <p:spPr>
          <a:xfrm>
            <a:off x="5074920" y="2313432"/>
            <a:ext cx="2286000"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2  </a:t>
            </a:r>
            <a:r>
              <a:rPr lang="en-SG" sz="1500" b="1" i="0" dirty="0">
                <a:solidFill>
                  <a:srgbClr val="F5F3EB"/>
                </a:solidFill>
                <a:latin typeface="Arial"/>
                <a:cs typeface="Arial"/>
              </a:rPr>
              <a:t>Handoff agent</a:t>
            </a:r>
          </a:p>
          <a:p>
            <a:pPr marL="0" indent="0" algn="l">
              <a:lnSpc>
                <a:spcPct val="100000"/>
              </a:lnSpc>
              <a:spcBef>
                <a:spcPts val="0"/>
              </a:spcBef>
              <a:spcAft>
                <a:spcPts val="300"/>
              </a:spcAft>
              <a:buNone/>
            </a:pPr>
            <a:r>
              <a:rPr lang="en-SG" sz="1300" b="0" i="0" dirty="0">
                <a:solidFill>
                  <a:srgbClr val="B9C4D5"/>
                </a:solidFill>
                <a:latin typeface="Arial"/>
                <a:cs typeface="Arial"/>
              </a:rPr>
              <a:t>writes a free-form summary</a:t>
            </a:r>
          </a:p>
          <a:p>
            <a:pPr marL="0" indent="0" algn="l">
              <a:lnSpc>
                <a:spcPct val="100000"/>
              </a:lnSpc>
              <a:spcBef>
                <a:spcPts val="0"/>
              </a:spcBef>
              <a:spcAft>
                <a:spcPts val="0"/>
              </a:spcAft>
              <a:buNone/>
            </a:pPr>
            <a:r>
              <a:rPr lang="en-SG" sz="1200" b="0" i="0" dirty="0">
                <a:solidFill>
                  <a:srgbClr val="69DECC"/>
                </a:solidFill>
                <a:latin typeface="Arial"/>
                <a:cs typeface="Arial"/>
              </a:rPr>
              <a:t>one of 4 models</a:t>
            </a:r>
          </a:p>
        </p:txBody>
      </p:sp>
      <p:cxnSp>
        <p:nvCxnSpPr>
          <p:cNvPr id="15" name="Arrow"/>
          <p:cNvCxnSpPr/>
          <p:nvPr/>
        </p:nvCxnSpPr>
        <p:spPr>
          <a:xfrm>
            <a:off x="7406640" y="2880360"/>
            <a:ext cx="274320" cy="0"/>
          </a:xfrm>
          <a:prstGeom prst="straightConnector1">
            <a:avLst/>
          </a:prstGeom>
          <a:ln w="25400">
            <a:solidFill>
              <a:srgbClr val="7F8EA6"/>
            </a:solidFill>
            <a:tailEnd type="triangle" w="med" len="med"/>
          </a:ln>
        </p:spPr>
      </p:cxnSp>
      <p:sp>
        <p:nvSpPr>
          <p:cNvPr id="16" name="Handoff"/>
          <p:cNvSpPr/>
          <p:nvPr/>
        </p:nvSpPr>
        <p:spPr>
          <a:xfrm>
            <a:off x="7726680" y="2468880"/>
            <a:ext cx="1234440" cy="822960"/>
          </a:xfrm>
          <a:prstGeom prst="roundRect">
            <a:avLst>
              <a:gd name="adj" fmla="val 8888"/>
            </a:avLst>
          </a:prstGeom>
          <a:solidFill>
            <a:srgbClr val="24334B"/>
          </a:solidFill>
          <a:ln>
            <a:noFill/>
          </a:ln>
        </p:spPr>
      </p:sp>
      <p:sp>
        <p:nvSpPr>
          <p:cNvPr id="17" name="Text line"/>
          <p:cNvSpPr/>
          <p:nvPr/>
        </p:nvSpPr>
        <p:spPr>
          <a:xfrm>
            <a:off x="7863840" y="2624328"/>
            <a:ext cx="960120" cy="54864"/>
          </a:xfrm>
          <a:prstGeom prst="roundRect">
            <a:avLst>
              <a:gd name="adj" fmla="val 50000"/>
            </a:avLst>
          </a:prstGeom>
          <a:solidFill>
            <a:srgbClr val="5A6B86"/>
          </a:solidFill>
          <a:ln>
            <a:noFill/>
          </a:ln>
        </p:spPr>
      </p:sp>
      <p:sp>
        <p:nvSpPr>
          <p:cNvPr id="18" name="Text line"/>
          <p:cNvSpPr/>
          <p:nvPr/>
        </p:nvSpPr>
        <p:spPr>
          <a:xfrm>
            <a:off x="7863840" y="2761488"/>
            <a:ext cx="883310" cy="54864"/>
          </a:xfrm>
          <a:prstGeom prst="roundRect">
            <a:avLst>
              <a:gd name="adj" fmla="val 50000"/>
            </a:avLst>
          </a:prstGeom>
          <a:solidFill>
            <a:srgbClr val="5A6B86"/>
          </a:solidFill>
          <a:ln>
            <a:noFill/>
          </a:ln>
        </p:spPr>
      </p:sp>
      <p:sp>
        <p:nvSpPr>
          <p:cNvPr id="19" name="Text line"/>
          <p:cNvSpPr/>
          <p:nvPr/>
        </p:nvSpPr>
        <p:spPr>
          <a:xfrm>
            <a:off x="7863840" y="2898648"/>
            <a:ext cx="931316" cy="54864"/>
          </a:xfrm>
          <a:prstGeom prst="roundRect">
            <a:avLst>
              <a:gd name="adj" fmla="val 50000"/>
            </a:avLst>
          </a:prstGeom>
          <a:solidFill>
            <a:srgbClr val="5A6B86"/>
          </a:solidFill>
          <a:ln>
            <a:noFill/>
          </a:ln>
        </p:spPr>
      </p:sp>
      <p:sp>
        <p:nvSpPr>
          <p:cNvPr id="20" name="Text line"/>
          <p:cNvSpPr/>
          <p:nvPr/>
        </p:nvSpPr>
        <p:spPr>
          <a:xfrm>
            <a:off x="7863840" y="3035808"/>
            <a:ext cx="816102" cy="54864"/>
          </a:xfrm>
          <a:prstGeom prst="roundRect">
            <a:avLst>
              <a:gd name="adj" fmla="val 50000"/>
            </a:avLst>
          </a:prstGeom>
          <a:solidFill>
            <a:srgbClr val="5A6B86"/>
          </a:solidFill>
          <a:ln>
            <a:noFill/>
          </a:ln>
        </p:spPr>
      </p:sp>
      <p:cxnSp>
        <p:nvCxnSpPr>
          <p:cNvPr id="21" name="Arrow"/>
          <p:cNvCxnSpPr/>
          <p:nvPr/>
        </p:nvCxnSpPr>
        <p:spPr>
          <a:xfrm>
            <a:off x="9006840" y="2880360"/>
            <a:ext cx="228600" cy="0"/>
          </a:xfrm>
          <a:prstGeom prst="straightConnector1">
            <a:avLst/>
          </a:prstGeom>
          <a:ln w="25400">
            <a:solidFill>
              <a:srgbClr val="7F8EA6"/>
            </a:solidFill>
            <a:tailEnd type="triangle" w="med" len="med"/>
          </a:ln>
        </p:spPr>
      </p:cxnSp>
      <p:sp>
        <p:nvSpPr>
          <p:cNvPr id="22" name="Receiving agent"/>
          <p:cNvSpPr/>
          <p:nvPr/>
        </p:nvSpPr>
        <p:spPr>
          <a:xfrm>
            <a:off x="9281160" y="2313432"/>
            <a:ext cx="2359152"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3  </a:t>
            </a:r>
            <a:r>
              <a:rPr lang="en-SG" sz="1500" b="1" i="0" dirty="0">
                <a:solidFill>
                  <a:srgbClr val="F5F3EB"/>
                </a:solidFill>
                <a:latin typeface="Arial"/>
                <a:cs typeface="Arial"/>
              </a:rPr>
              <a:t>Receiving agent</a:t>
            </a:r>
          </a:p>
          <a:p>
            <a:pPr marL="0" indent="0" algn="l">
              <a:lnSpc>
                <a:spcPct val="103000"/>
              </a:lnSpc>
              <a:spcBef>
                <a:spcPts val="0"/>
              </a:spcBef>
              <a:spcAft>
                <a:spcPts val="300"/>
              </a:spcAft>
              <a:buNone/>
            </a:pPr>
            <a:r>
              <a:rPr lang="en-SG" sz="1300" b="0" i="0" dirty="0">
                <a:solidFill>
                  <a:srgbClr val="B9C4D5"/>
                </a:solidFill>
                <a:latin typeface="Arial"/>
                <a:cs typeface="Arial"/>
              </a:rPr>
              <a:t>answers 6 questions using only this handoff</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cxnSp>
        <p:nvCxnSpPr>
          <p:cNvPr id="23" name="Arrow"/>
          <p:cNvCxnSpPr/>
          <p:nvPr/>
        </p:nvCxnSpPr>
        <p:spPr>
          <a:xfrm>
            <a:off x="4754880" y="3703320"/>
            <a:ext cx="274320" cy="822960"/>
          </a:xfrm>
          <a:prstGeom prst="straightConnector1">
            <a:avLst/>
          </a:prstGeom>
          <a:ln w="25400">
            <a:solidFill>
              <a:srgbClr val="7F8EA6"/>
            </a:solidFill>
            <a:tailEnd type="triangle" w="med" len="med"/>
          </a:ln>
        </p:spPr>
      </p:cxnSp>
      <p:sp>
        <p:nvSpPr>
          <p:cNvPr id="24" name="Handoff agent"/>
          <p:cNvSpPr/>
          <p:nvPr/>
        </p:nvSpPr>
        <p:spPr>
          <a:xfrm>
            <a:off x="5074920" y="3959352"/>
            <a:ext cx="2286000"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2  </a:t>
            </a:r>
            <a:r>
              <a:rPr lang="en-SG" sz="1500" b="1" i="0" dirty="0">
                <a:solidFill>
                  <a:srgbClr val="F5F3EB"/>
                </a:solidFill>
                <a:latin typeface="Arial"/>
                <a:cs typeface="Arial"/>
              </a:rPr>
              <a:t>Handoff agent</a:t>
            </a:r>
          </a:p>
          <a:p>
            <a:pPr marL="0" indent="0" algn="l">
              <a:lnSpc>
                <a:spcPct val="100000"/>
              </a:lnSpc>
              <a:spcBef>
                <a:spcPts val="0"/>
              </a:spcBef>
              <a:spcAft>
                <a:spcPts val="300"/>
              </a:spcAft>
              <a:buNone/>
            </a:pPr>
            <a:r>
              <a:rPr lang="en-SG" sz="1300" b="0" i="0" dirty="0">
                <a:solidFill>
                  <a:srgbClr val="B9C4D5"/>
                </a:solidFill>
                <a:latin typeface="Arial"/>
                <a:cs typeface="Arial"/>
              </a:rPr>
              <a:t>writes a checklist</a:t>
            </a:r>
          </a:p>
          <a:p>
            <a:pPr marL="0" indent="0" algn="l">
              <a:lnSpc>
                <a:spcPct val="100000"/>
              </a:lnSpc>
              <a:spcBef>
                <a:spcPts val="0"/>
              </a:spcBef>
              <a:spcAft>
                <a:spcPts val="0"/>
              </a:spcAft>
              <a:buNone/>
            </a:pPr>
            <a:r>
              <a:rPr lang="en-SG" sz="1200" b="0" i="0" dirty="0">
                <a:solidFill>
                  <a:srgbClr val="69DECC"/>
                </a:solidFill>
                <a:latin typeface="Arial"/>
                <a:cs typeface="Arial"/>
              </a:rPr>
              <a:t>one of 4 models</a:t>
            </a:r>
          </a:p>
        </p:txBody>
      </p:sp>
      <p:cxnSp>
        <p:nvCxnSpPr>
          <p:cNvPr id="25" name="Arrow"/>
          <p:cNvCxnSpPr/>
          <p:nvPr/>
        </p:nvCxnSpPr>
        <p:spPr>
          <a:xfrm>
            <a:off x="7406640" y="4526280"/>
            <a:ext cx="274320" cy="0"/>
          </a:xfrm>
          <a:prstGeom prst="straightConnector1">
            <a:avLst/>
          </a:prstGeom>
          <a:ln w="25400">
            <a:solidFill>
              <a:srgbClr val="7F8EA6"/>
            </a:solidFill>
            <a:tailEnd type="triangle" w="med" len="med"/>
          </a:ln>
        </p:spPr>
      </p:cxnSp>
      <p:sp>
        <p:nvSpPr>
          <p:cNvPr id="26" name="Handoff"/>
          <p:cNvSpPr/>
          <p:nvPr/>
        </p:nvSpPr>
        <p:spPr>
          <a:xfrm>
            <a:off x="7726680" y="4114800"/>
            <a:ext cx="1234440" cy="822960"/>
          </a:xfrm>
          <a:prstGeom prst="roundRect">
            <a:avLst>
              <a:gd name="adj" fmla="val 8888"/>
            </a:avLst>
          </a:prstGeom>
          <a:solidFill>
            <a:srgbClr val="24334B"/>
          </a:solidFill>
          <a:ln>
            <a:noFill/>
          </a:ln>
        </p:spPr>
      </p:sp>
      <p:sp>
        <p:nvSpPr>
          <p:cNvPr id="27" name="Text line"/>
          <p:cNvSpPr/>
          <p:nvPr/>
        </p:nvSpPr>
        <p:spPr>
          <a:xfrm>
            <a:off x="7863840" y="4270248"/>
            <a:ext cx="960120" cy="54864"/>
          </a:xfrm>
          <a:prstGeom prst="roundRect">
            <a:avLst>
              <a:gd name="adj" fmla="val 50000"/>
            </a:avLst>
          </a:prstGeom>
          <a:solidFill>
            <a:srgbClr val="5A6B86"/>
          </a:solidFill>
          <a:ln>
            <a:noFill/>
          </a:ln>
        </p:spPr>
      </p:sp>
      <p:sp>
        <p:nvSpPr>
          <p:cNvPr id="28" name="Text line"/>
          <p:cNvSpPr/>
          <p:nvPr/>
        </p:nvSpPr>
        <p:spPr>
          <a:xfrm>
            <a:off x="7863840" y="4407408"/>
            <a:ext cx="883310" cy="54864"/>
          </a:xfrm>
          <a:prstGeom prst="roundRect">
            <a:avLst>
              <a:gd name="adj" fmla="val 50000"/>
            </a:avLst>
          </a:prstGeom>
          <a:solidFill>
            <a:srgbClr val="5A6B86"/>
          </a:solidFill>
          <a:ln>
            <a:noFill/>
          </a:ln>
        </p:spPr>
      </p:sp>
      <p:sp>
        <p:nvSpPr>
          <p:cNvPr id="29" name="Text line"/>
          <p:cNvSpPr/>
          <p:nvPr/>
        </p:nvSpPr>
        <p:spPr>
          <a:xfrm>
            <a:off x="7863840" y="4544568"/>
            <a:ext cx="931316" cy="54864"/>
          </a:xfrm>
          <a:prstGeom prst="roundRect">
            <a:avLst>
              <a:gd name="adj" fmla="val 50000"/>
            </a:avLst>
          </a:prstGeom>
          <a:solidFill>
            <a:srgbClr val="5A6B86"/>
          </a:solidFill>
          <a:ln>
            <a:noFill/>
          </a:ln>
        </p:spPr>
      </p:sp>
      <p:sp>
        <p:nvSpPr>
          <p:cNvPr id="30" name="Text line"/>
          <p:cNvSpPr/>
          <p:nvPr/>
        </p:nvSpPr>
        <p:spPr>
          <a:xfrm>
            <a:off x="7863840" y="4681728"/>
            <a:ext cx="816102" cy="54864"/>
          </a:xfrm>
          <a:prstGeom prst="roundRect">
            <a:avLst>
              <a:gd name="adj" fmla="val 50000"/>
            </a:avLst>
          </a:prstGeom>
          <a:solidFill>
            <a:srgbClr val="5A6B86"/>
          </a:solidFill>
          <a:ln>
            <a:noFill/>
          </a:ln>
        </p:spPr>
      </p:sp>
      <p:cxnSp>
        <p:nvCxnSpPr>
          <p:cNvPr id="31" name="Arrow"/>
          <p:cNvCxnSpPr/>
          <p:nvPr/>
        </p:nvCxnSpPr>
        <p:spPr>
          <a:xfrm>
            <a:off x="9006840" y="4526280"/>
            <a:ext cx="228600" cy="0"/>
          </a:xfrm>
          <a:prstGeom prst="straightConnector1">
            <a:avLst/>
          </a:prstGeom>
          <a:ln w="25400">
            <a:solidFill>
              <a:srgbClr val="7F8EA6"/>
            </a:solidFill>
            <a:tailEnd type="triangle" w="med" len="med"/>
          </a:ln>
        </p:spPr>
      </p:cxnSp>
      <p:sp>
        <p:nvSpPr>
          <p:cNvPr id="32" name="Receiving agent"/>
          <p:cNvSpPr/>
          <p:nvPr/>
        </p:nvSpPr>
        <p:spPr>
          <a:xfrm>
            <a:off x="9281160" y="3959352"/>
            <a:ext cx="2359152"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3  </a:t>
            </a:r>
            <a:r>
              <a:rPr lang="en-SG" sz="1500" b="1" i="0" dirty="0">
                <a:solidFill>
                  <a:srgbClr val="F5F3EB"/>
                </a:solidFill>
                <a:latin typeface="Arial"/>
                <a:cs typeface="Arial"/>
              </a:rPr>
              <a:t>Receiving agent</a:t>
            </a:r>
          </a:p>
          <a:p>
            <a:pPr marL="0" indent="0" algn="l">
              <a:lnSpc>
                <a:spcPct val="103000"/>
              </a:lnSpc>
              <a:spcBef>
                <a:spcPts val="0"/>
              </a:spcBef>
              <a:spcAft>
                <a:spcPts val="300"/>
              </a:spcAft>
              <a:buNone/>
            </a:pPr>
            <a:r>
              <a:rPr lang="en-SG" sz="1300" b="0" i="0" dirty="0">
                <a:solidFill>
                  <a:srgbClr val="B9C4D5"/>
                </a:solidFill>
                <a:latin typeface="Arial"/>
                <a:cs typeface="Arial"/>
              </a:rPr>
              <a:t>answers 6 questions using only this handoff</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sp>
        <p:nvSpPr>
          <p:cNvPr id="33" name="Scale"/>
          <p:cNvSpPr/>
          <p:nvPr/>
        </p:nvSpPr>
        <p:spPr>
          <a:xfrm>
            <a:off x="548640" y="5440680"/>
            <a:ext cx="11091672" cy="685800"/>
          </a:xfrm>
          <a:prstGeom prst="roundRect">
            <a:avLst>
              <a:gd name="adj" fmla="val 10666"/>
            </a:avLst>
          </a:prstGeom>
          <a:solidFill>
            <a:srgbClr val="1B2940"/>
          </a:solidFill>
          <a:ln>
            <a:noFill/>
          </a:ln>
        </p:spPr>
        <p:txBody>
          <a:bodyPr vert="horz" wrap="square" lIns="228600" tIns="45720" rIns="228600" bIns="45720" rtlCol="0" anchor="ctr">
            <a:noAutofit/>
          </a:bodyPr>
          <a:lstStyle/>
          <a:p>
            <a:pPr marL="0" indent="0" algn="l">
              <a:lnSpc>
                <a:spcPct val="100000"/>
              </a:lnSpc>
              <a:spcBef>
                <a:spcPts val="0"/>
              </a:spcBef>
              <a:spcAft>
                <a:spcPts val="0"/>
              </a:spcAft>
              <a:buNone/>
            </a:pPr>
            <a:r>
              <a:rPr lang="en-SG" sz="1700" b="1" i="0" dirty="0">
                <a:solidFill>
                  <a:srgbClr val="FFC36A"/>
                </a:solidFill>
                <a:latin typeface="Arial"/>
                <a:cs typeface="Arial"/>
              </a:rPr>
              <a:t>5 coding runs × 4 handoff models × 2 formats = 40 handoffs</a:t>
            </a:r>
            <a:r>
              <a:rPr lang="en-SG" sz="1700" b="0" i="0" dirty="0">
                <a:solidFill>
                  <a:srgbClr val="F5F3EB"/>
                </a:solidFill>
                <a:latin typeface="Arial"/>
                <a:cs typeface="Arial"/>
              </a:rPr>
              <a:t>, each quizzed once</a:t>
            </a:r>
          </a:p>
          <a:p>
            <a:pPr marL="0" indent="0" algn="l">
              <a:lnSpc>
                <a:spcPct val="100000"/>
              </a:lnSpc>
              <a:spcBef>
                <a:spcPts val="200"/>
              </a:spcBef>
              <a:spcAft>
                <a:spcPts val="0"/>
              </a:spcAft>
              <a:buNone/>
            </a:pPr>
            <a:r>
              <a:rPr lang="en-SG" sz="1300" b="0" i="0" dirty="0">
                <a:solidFill>
                  <a:srgbClr val="B9C4D5"/>
                </a:solidFill>
                <a:latin typeface="Arial"/>
                <a:cs typeface="Arial"/>
              </a:rPr>
              <a:t>The 4 handoff models: GPT-5.6 Sol, GPT-5.6 Luna, Claude Opus 5.5 and Claude Sonnet 5.5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SCORING</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Scoring: how many expected facts survived?</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For each coding run, I wrote an answer key before its handoffs existed. It splits the six questions into expected facts, taken only from that run’s message history.</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7 / 12</a:t>
            </a:r>
          </a:p>
        </p:txBody>
      </p:sp>
      <p:sp>
        <p:nvSpPr>
          <p:cNvPr id="6" name="Label"/>
          <p:cNvSpPr txBox="1"/>
          <p:nvPr/>
        </p:nvSpPr>
        <p:spPr>
          <a:xfrm>
            <a:off x="548640" y="2212848"/>
            <a:ext cx="512064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SIX QUESTIONS</a:t>
            </a:r>
          </a:p>
        </p:txBody>
      </p:sp>
      <p:sp>
        <p:nvSpPr>
          <p:cNvPr id="7" name="Number 1"/>
          <p:cNvSpPr/>
          <p:nvPr/>
        </p:nvSpPr>
        <p:spPr>
          <a:xfrm>
            <a:off x="557784" y="2660904"/>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1</a:t>
            </a:r>
          </a:p>
        </p:txBody>
      </p:sp>
      <p:sp>
        <p:nvSpPr>
          <p:cNvPr id="8" name="Question 1"/>
          <p:cNvSpPr txBox="1"/>
          <p:nvPr/>
        </p:nvSpPr>
        <p:spPr>
          <a:xfrm>
            <a:off x="1097280" y="2606040"/>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files were changed?</a:t>
            </a:r>
          </a:p>
        </p:txBody>
      </p:sp>
      <p:sp>
        <p:nvSpPr>
          <p:cNvPr id="9" name="Number 2"/>
          <p:cNvSpPr/>
          <p:nvPr/>
        </p:nvSpPr>
        <p:spPr>
          <a:xfrm>
            <a:off x="557784" y="3236976"/>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2</a:t>
            </a:r>
          </a:p>
        </p:txBody>
      </p:sp>
      <p:sp>
        <p:nvSpPr>
          <p:cNvPr id="10" name="Question 2"/>
          <p:cNvSpPr txBox="1"/>
          <p:nvPr/>
        </p:nvSpPr>
        <p:spPr>
          <a:xfrm>
            <a:off x="1097280" y="3182112"/>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checks were run, and what happened?</a:t>
            </a:r>
          </a:p>
        </p:txBody>
      </p:sp>
      <p:sp>
        <p:nvSpPr>
          <p:cNvPr id="11" name="Number 3"/>
          <p:cNvSpPr/>
          <p:nvPr/>
        </p:nvSpPr>
        <p:spPr>
          <a:xfrm>
            <a:off x="557784" y="3813048"/>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3</a:t>
            </a:r>
          </a:p>
        </p:txBody>
      </p:sp>
      <p:sp>
        <p:nvSpPr>
          <p:cNvPr id="12" name="Question 3"/>
          <p:cNvSpPr txBox="1"/>
          <p:nvPr/>
        </p:nvSpPr>
        <p:spPr>
          <a:xfrm>
            <a:off x="1097280" y="3758184"/>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What did the agent leave unverified?</a:t>
            </a:r>
          </a:p>
        </p:txBody>
      </p:sp>
      <p:sp>
        <p:nvSpPr>
          <p:cNvPr id="13" name="Number 4"/>
          <p:cNvSpPr/>
          <p:nvPr/>
        </p:nvSpPr>
        <p:spPr>
          <a:xfrm>
            <a:off x="557784" y="4389120"/>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4</a:t>
            </a:r>
          </a:p>
        </p:txBody>
      </p:sp>
      <p:sp>
        <p:nvSpPr>
          <p:cNvPr id="14" name="Question 4"/>
          <p:cNvSpPr txBox="1"/>
          <p:nvPr/>
        </p:nvSpPr>
        <p:spPr>
          <a:xfrm>
            <a:off x="1097280" y="4334256"/>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How and why was the timeout fixed?</a:t>
            </a:r>
          </a:p>
        </p:txBody>
      </p:sp>
      <p:sp>
        <p:nvSpPr>
          <p:cNvPr id="15" name="Number 5"/>
          <p:cNvSpPr/>
          <p:nvPr/>
        </p:nvSpPr>
        <p:spPr>
          <a:xfrm>
            <a:off x="557784" y="4965192"/>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5</a:t>
            </a:r>
          </a:p>
        </p:txBody>
      </p:sp>
      <p:sp>
        <p:nvSpPr>
          <p:cNvPr id="16" name="Question 5"/>
          <p:cNvSpPr txBox="1"/>
          <p:nvPr/>
        </p:nvSpPr>
        <p:spPr>
          <a:xfrm>
            <a:off x="1097280" y="4910328"/>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provider responses count as a success?</a:t>
            </a:r>
          </a:p>
        </p:txBody>
      </p:sp>
      <p:sp>
        <p:nvSpPr>
          <p:cNvPr id="17" name="Number 6"/>
          <p:cNvSpPr/>
          <p:nvPr/>
        </p:nvSpPr>
        <p:spPr>
          <a:xfrm>
            <a:off x="557784" y="5541264"/>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6</a:t>
            </a:r>
          </a:p>
        </p:txBody>
      </p:sp>
      <p:sp>
        <p:nvSpPr>
          <p:cNvPr id="18" name="Question 6"/>
          <p:cNvSpPr txBox="1"/>
          <p:nvPr/>
        </p:nvSpPr>
        <p:spPr>
          <a:xfrm>
            <a:off x="1097280" y="5486400"/>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What was recorded about proxies and headers?</a:t>
            </a:r>
          </a:p>
        </p:txBody>
      </p:sp>
      <p:sp>
        <p:nvSpPr>
          <p:cNvPr id="19" name="Label"/>
          <p:cNvSpPr txBox="1"/>
          <p:nvPr/>
        </p:nvSpPr>
        <p:spPr>
          <a:xfrm>
            <a:off x="6217920" y="2212848"/>
            <a:ext cx="542239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HOW ONE FACT IS SCORED</a:t>
            </a:r>
          </a:p>
        </p:txBody>
      </p:sp>
      <p:sp>
        <p:nvSpPr>
          <p:cNvPr id="20" name="Expected fact"/>
          <p:cNvSpPr/>
          <p:nvPr/>
        </p:nvSpPr>
        <p:spPr>
          <a:xfrm>
            <a:off x="6217920" y="2606040"/>
            <a:ext cx="5422392" cy="749808"/>
          </a:xfrm>
          <a:prstGeom prst="roundRect">
            <a:avLst>
              <a:gd name="adj" fmla="val 9756"/>
            </a:avLst>
          </a:prstGeom>
          <a:solidFill>
            <a:srgbClr val="1B2940"/>
          </a:solidFill>
          <a:ln>
            <a:noFill/>
          </a:ln>
        </p:spPr>
        <p:txBody>
          <a:bodyPr vert="horz" wrap="square" lIns="201168" tIns="54864" rIns="201168" bIns="54864" rtlCol="0" anchor="ctr">
            <a:noAutofit/>
          </a:bodyPr>
          <a:lstStyle/>
          <a:p>
            <a:pPr marL="0" indent="0" algn="l">
              <a:lnSpc>
                <a:spcPct val="100000"/>
              </a:lnSpc>
              <a:spcBef>
                <a:spcPts val="0"/>
              </a:spcBef>
              <a:spcAft>
                <a:spcPts val="200"/>
              </a:spcAft>
              <a:buNone/>
            </a:pPr>
            <a:r>
              <a:rPr lang="en-SG" sz="1100" b="1" i="0" spc="50" dirty="0">
                <a:solidFill>
                  <a:srgbClr val="B9C4D5"/>
                </a:solidFill>
                <a:latin typeface="Arial"/>
                <a:cs typeface="Arial"/>
              </a:rPr>
              <a:t>EXPECTED FACT, FROM THE ANSWER KEY</a:t>
            </a:r>
          </a:p>
          <a:p>
            <a:pPr marL="0" indent="0" algn="l">
              <a:lnSpc>
                <a:spcPct val="100000"/>
              </a:lnSpc>
              <a:spcBef>
                <a:spcPts val="0"/>
              </a:spcBef>
              <a:spcAft>
                <a:spcPts val="0"/>
              </a:spcAft>
              <a:buNone/>
            </a:pPr>
            <a:r>
              <a:rPr lang="en-SG" sz="1600" b="0" i="0" dirty="0">
                <a:solidFill>
                  <a:srgbClr val="F5F3EB"/>
                </a:solidFill>
                <a:latin typeface="Arial"/>
                <a:cs typeface="Arial"/>
              </a:rPr>
              <a:t>llm.py was the only file changed.</a:t>
            </a:r>
          </a:p>
        </p:txBody>
      </p:sp>
      <p:cxnSp>
        <p:nvCxnSpPr>
          <p:cNvPr id="21" name="Arrow"/>
          <p:cNvCxnSpPr/>
          <p:nvPr/>
        </p:nvCxnSpPr>
        <p:spPr>
          <a:xfrm>
            <a:off x="8929116" y="3383280"/>
            <a:ext cx="0" cy="228600"/>
          </a:xfrm>
          <a:prstGeom prst="straightConnector1">
            <a:avLst/>
          </a:prstGeom>
          <a:ln w="25400">
            <a:solidFill>
              <a:srgbClr val="7F8EA6"/>
            </a:solidFill>
            <a:tailEnd type="triangle" w="med" len="med"/>
          </a:ln>
        </p:spPr>
      </p:cxnSp>
      <p:sp>
        <p:nvSpPr>
          <p:cNvPr id="22" name="Receiver answer"/>
          <p:cNvSpPr/>
          <p:nvPr/>
        </p:nvSpPr>
        <p:spPr>
          <a:xfrm>
            <a:off x="6217920" y="3657600"/>
            <a:ext cx="5422392" cy="749808"/>
          </a:xfrm>
          <a:prstGeom prst="roundRect">
            <a:avLst>
              <a:gd name="adj" fmla="val 9756"/>
            </a:avLst>
          </a:prstGeom>
          <a:solidFill>
            <a:srgbClr val="1B2940"/>
          </a:solidFill>
          <a:ln>
            <a:noFill/>
          </a:ln>
        </p:spPr>
        <p:txBody>
          <a:bodyPr vert="horz" wrap="square" lIns="201168" tIns="54864" rIns="201168" bIns="54864" rtlCol="0" anchor="ctr">
            <a:noAutofit/>
          </a:bodyPr>
          <a:lstStyle/>
          <a:p>
            <a:pPr marL="0" indent="0" algn="l">
              <a:lnSpc>
                <a:spcPct val="100000"/>
              </a:lnSpc>
              <a:spcBef>
                <a:spcPts val="0"/>
              </a:spcBef>
              <a:spcAft>
                <a:spcPts val="200"/>
              </a:spcAft>
              <a:buNone/>
            </a:pPr>
            <a:r>
              <a:rPr lang="en-SG" sz="1100" b="1" i="0" spc="50" dirty="0">
                <a:solidFill>
                  <a:srgbClr val="B9C4D5"/>
                </a:solidFill>
                <a:latin typeface="Arial"/>
                <a:cs typeface="Arial"/>
              </a:rPr>
              <a:t>RECEIVING AGENT’S ANSWER</a:t>
            </a:r>
          </a:p>
          <a:p>
            <a:pPr marL="0" indent="0" algn="l">
              <a:lnSpc>
                <a:spcPct val="100000"/>
              </a:lnSpc>
              <a:spcBef>
                <a:spcPts val="0"/>
              </a:spcBef>
              <a:spcAft>
                <a:spcPts val="0"/>
              </a:spcAft>
              <a:buNone/>
            </a:pPr>
            <a:r>
              <a:rPr lang="en-SG" sz="1600" b="0" i="0" dirty="0">
                <a:solidFill>
                  <a:srgbClr val="F5F3EB"/>
                </a:solidFill>
                <a:latin typeface="Arial"/>
                <a:cs typeface="Arial"/>
              </a:rPr>
              <a:t>“Only llm.py was changed …”</a:t>
            </a:r>
          </a:p>
        </p:txBody>
      </p:sp>
      <p:cxnSp>
        <p:nvCxnSpPr>
          <p:cNvPr id="23" name="Arrow"/>
          <p:cNvCxnSpPr/>
          <p:nvPr/>
        </p:nvCxnSpPr>
        <p:spPr>
          <a:xfrm>
            <a:off x="8929116" y="4434840"/>
            <a:ext cx="0" cy="228600"/>
          </a:xfrm>
          <a:prstGeom prst="straightConnector1">
            <a:avLst/>
          </a:prstGeom>
          <a:ln w="25400">
            <a:solidFill>
              <a:srgbClr val="7F8EA6"/>
            </a:solidFill>
            <a:tailEnd type="triangle" w="med" len="med"/>
          </a:ln>
        </p:spPr>
      </p:cxnSp>
      <p:sp>
        <p:nvSpPr>
          <p:cNvPr id="24" name="Outcome Correct"/>
          <p:cNvSpPr/>
          <p:nvPr/>
        </p:nvSpPr>
        <p:spPr>
          <a:xfrm>
            <a:off x="6217920" y="4709160"/>
            <a:ext cx="1664208" cy="420624"/>
          </a:xfrm>
          <a:prstGeom prst="roundRect">
            <a:avLst>
              <a:gd name="adj" fmla="val 50000"/>
            </a:avLst>
          </a:prstGeom>
          <a:solidFill>
            <a:srgbClr val="69DECC"/>
          </a:solidFill>
          <a:ln>
            <a:no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Segoe UI Symbol"/>
                <a:cs typeface="Segoe UI Symbol"/>
              </a:rPr>
              <a:t>✓ </a:t>
            </a:r>
            <a:r>
              <a:rPr lang="en-SG" sz="1400" b="1" i="0" dirty="0">
                <a:solidFill>
                  <a:srgbClr val="101B2D"/>
                </a:solidFill>
                <a:latin typeface="Arial"/>
                <a:cs typeface="Arial"/>
              </a:rPr>
              <a:t>Correct</a:t>
            </a:r>
          </a:p>
        </p:txBody>
      </p:sp>
      <p:sp>
        <p:nvSpPr>
          <p:cNvPr id="25" name="Outcome meaning"/>
          <p:cNvSpPr txBox="1"/>
          <p:nvPr/>
        </p:nvSpPr>
        <p:spPr>
          <a:xfrm>
            <a:off x="6217920"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stated accurately</a:t>
            </a:r>
          </a:p>
        </p:txBody>
      </p:sp>
      <p:sp>
        <p:nvSpPr>
          <p:cNvPr id="26" name="Outcome Not stated"/>
          <p:cNvSpPr/>
          <p:nvPr/>
        </p:nvSpPr>
        <p:spPr>
          <a:xfrm>
            <a:off x="8097012" y="4709160"/>
            <a:ext cx="1664208" cy="420624"/>
          </a:xfrm>
          <a:prstGeom prst="roundRect">
            <a:avLst>
              <a:gd name="adj" fmla="val 50000"/>
            </a:avLst>
          </a:prstGeom>
          <a:noFill/>
          <a:ln w="19050">
            <a:solidFill>
              <a:srgbClr val="B9C4D5"/>
            </a:solid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B9C4D5"/>
                </a:solidFill>
                <a:latin typeface="Segoe UI Symbol"/>
                <a:cs typeface="Segoe UI Symbol"/>
              </a:rPr>
              <a:t>– </a:t>
            </a:r>
            <a:r>
              <a:rPr lang="en-SG" sz="1400" b="1" i="0" dirty="0">
                <a:solidFill>
                  <a:srgbClr val="B9C4D5"/>
                </a:solidFill>
                <a:latin typeface="Arial"/>
                <a:cs typeface="Arial"/>
              </a:rPr>
              <a:t>Not stated</a:t>
            </a:r>
          </a:p>
        </p:txBody>
      </p:sp>
      <p:sp>
        <p:nvSpPr>
          <p:cNvPr id="27" name="Outcome meaning"/>
          <p:cNvSpPr txBox="1"/>
          <p:nvPr/>
        </p:nvSpPr>
        <p:spPr>
          <a:xfrm>
            <a:off x="8097012"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left out</a:t>
            </a:r>
          </a:p>
        </p:txBody>
      </p:sp>
      <p:sp>
        <p:nvSpPr>
          <p:cNvPr id="28" name="Outcome Wrong"/>
          <p:cNvSpPr/>
          <p:nvPr/>
        </p:nvSpPr>
        <p:spPr>
          <a:xfrm>
            <a:off x="9976104" y="4709160"/>
            <a:ext cx="1664208" cy="420624"/>
          </a:xfrm>
          <a:prstGeom prst="roundRect">
            <a:avLst>
              <a:gd name="adj" fmla="val 50000"/>
            </a:avLst>
          </a:prstGeom>
          <a:noFill/>
          <a:ln w="19050">
            <a:solidFill>
              <a:srgbClr val="FF9B8E"/>
            </a:solid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FF9B8E"/>
                </a:solidFill>
                <a:latin typeface="Segoe UI Symbol"/>
                <a:cs typeface="Segoe UI Symbol"/>
              </a:rPr>
              <a:t>✗ </a:t>
            </a:r>
            <a:r>
              <a:rPr lang="en-SG" sz="1400" b="1" i="0" dirty="0">
                <a:solidFill>
                  <a:srgbClr val="FF9B8E"/>
                </a:solidFill>
                <a:latin typeface="Arial"/>
                <a:cs typeface="Arial"/>
              </a:rPr>
              <a:t>Wrong</a:t>
            </a:r>
          </a:p>
        </p:txBody>
      </p:sp>
      <p:sp>
        <p:nvSpPr>
          <p:cNvPr id="29" name="Outcome meaning"/>
          <p:cNvSpPr txBox="1"/>
          <p:nvPr/>
        </p:nvSpPr>
        <p:spPr>
          <a:xfrm>
            <a:off x="9976104"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stated inaccurately</a:t>
            </a:r>
          </a:p>
        </p:txBody>
      </p:sp>
      <p:sp>
        <p:nvSpPr>
          <p:cNvPr id="30" name="Score formula"/>
          <p:cNvSpPr txBox="1"/>
          <p:nvPr/>
        </p:nvSpPr>
        <p:spPr>
          <a:xfrm>
            <a:off x="6217920" y="5532120"/>
            <a:ext cx="5422392" cy="594360"/>
          </a:xfrm>
          <a:prstGeom prst="rect">
            <a:avLst/>
          </a:prstGeom>
          <a:noFill/>
          <a:ln>
            <a:noFill/>
          </a:ln>
        </p:spPr>
        <p:txBody>
          <a:bodyPr vert="horz" wrap="square" lIns="0" tIns="0" rIns="0" bIns="0" rtlCol="0" anchor="t">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Score = </a:t>
            </a:r>
            <a:r>
              <a:rPr lang="en-SG" sz="1700" b="1" i="0" dirty="0">
                <a:solidFill>
                  <a:srgbClr val="FFC36A"/>
                </a:solidFill>
                <a:latin typeface="Arial"/>
                <a:cs typeface="Arial"/>
              </a:rPr>
              <a:t>correct facts ÷ expected facts</a:t>
            </a:r>
          </a:p>
          <a:p>
            <a:pPr marL="0" indent="0" algn="l">
              <a:lnSpc>
                <a:spcPct val="100000"/>
              </a:lnSpc>
              <a:spcBef>
                <a:spcPts val="200"/>
              </a:spcBef>
              <a:spcAft>
                <a:spcPts val="0"/>
              </a:spcAft>
              <a:buNone/>
            </a:pPr>
            <a:r>
              <a:rPr lang="en-SG" sz="1300" b="0" i="0" dirty="0">
                <a:solidFill>
                  <a:srgbClr val="B9C4D5"/>
                </a:solidFill>
                <a:latin typeface="Arial"/>
                <a:cs typeface="Arial"/>
              </a:rPr>
              <a:t>136 expected facts for each handoff model and format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RESULT 1</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GPT leaned free-form, Claude leaned checklist</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No format won overall. GPT models did slightly better with free-form summaries, and Claude models with checklists. Every gap was 5 facts or fewer, out of 136.</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8 / 12</a:t>
            </a:r>
          </a:p>
        </p:txBody>
      </p:sp>
      <p:graphicFrame>
        <p:nvGraphicFramePr>
          <p:cNvPr id="6" name="Chart" descr="Bar chart of expected facts recovered. GPT-5.6 Sol: summary 57%, checklist 54%. GPT-5.6 Luna: 47% and 46%. Claude Opus 5.5: 57% and 58%. Claude Sonnet 5.5: 54% and 55%."/>
          <p:cNvGraphicFramePr/>
          <p:nvPr/>
        </p:nvGraphicFramePr>
        <p:xfrm>
          <a:off x="411480" y="2148840"/>
          <a:ext cx="78181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7" name="GPT"/>
          <p:cNvSpPr/>
          <p:nvPr/>
        </p:nvSpPr>
        <p:spPr>
          <a:xfrm>
            <a:off x="8503920" y="2240280"/>
            <a:ext cx="3136392" cy="1097280"/>
          </a:xfrm>
          <a:prstGeom prst="roundRect">
            <a:avLst>
              <a:gd name="adj" fmla="val 6666"/>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B9C4D5"/>
                </a:solidFill>
                <a:latin typeface="Arial"/>
                <a:cs typeface="Arial"/>
              </a:rPr>
              <a:t>GPT: summary ahead</a:t>
            </a:r>
          </a:p>
          <a:p>
            <a:pPr marL="0" indent="0" algn="l">
              <a:lnSpc>
                <a:spcPct val="100000"/>
              </a:lnSpc>
              <a:spcBef>
                <a:spcPts val="0"/>
              </a:spcBef>
              <a:spcAft>
                <a:spcPts val="0"/>
              </a:spcAft>
              <a:buNone/>
            </a:pPr>
            <a:r>
              <a:rPr lang="en-SG" sz="1400" b="0" i="0" dirty="0">
                <a:solidFill>
                  <a:srgbClr val="D6DDE8"/>
                </a:solidFill>
                <a:latin typeface="Arial"/>
                <a:cs typeface="Arial"/>
              </a:rPr>
              <a:t>by 5 facts (Sol) and 2 facts (Luna)</a:t>
            </a:r>
          </a:p>
        </p:txBody>
      </p:sp>
      <p:sp>
        <p:nvSpPr>
          <p:cNvPr id="8" name="Claude"/>
          <p:cNvSpPr/>
          <p:nvPr/>
        </p:nvSpPr>
        <p:spPr>
          <a:xfrm>
            <a:off x="8503920" y="3474720"/>
            <a:ext cx="3136392" cy="1097280"/>
          </a:xfrm>
          <a:prstGeom prst="roundRect">
            <a:avLst>
              <a:gd name="adj" fmla="val 6666"/>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Claude: checklist ahead</a:t>
            </a:r>
          </a:p>
          <a:p>
            <a:pPr marL="0" indent="0" algn="l">
              <a:lnSpc>
                <a:spcPct val="100000"/>
              </a:lnSpc>
              <a:spcBef>
                <a:spcPts val="0"/>
              </a:spcBef>
              <a:spcAft>
                <a:spcPts val="0"/>
              </a:spcAft>
              <a:buNone/>
            </a:pPr>
            <a:r>
              <a:rPr lang="en-SG" sz="1400" b="0" i="0" dirty="0">
                <a:solidFill>
                  <a:srgbClr val="D6DDE8"/>
                </a:solidFill>
                <a:latin typeface="Arial"/>
                <a:cs typeface="Arial"/>
              </a:rPr>
              <a:t>by just 1 fact each (Opus and Sonnet)</a:t>
            </a:r>
          </a:p>
        </p:txBody>
      </p:sp>
      <p:sp>
        <p:nvSpPr>
          <p:cNvPr id="9" name="Caution"/>
          <p:cNvSpPr/>
          <p:nvPr/>
        </p:nvSpPr>
        <p:spPr>
          <a:xfrm>
            <a:off x="8503920" y="4709160"/>
            <a:ext cx="3136392" cy="1417320"/>
          </a:xfrm>
          <a:prstGeom prst="roundRect">
            <a:avLst>
              <a:gd name="adj" fmla="val 5161"/>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FFC36A"/>
                </a:solidFill>
                <a:latin typeface="Arial"/>
                <a:cs typeface="Arial"/>
              </a:rPr>
              <a:t>Treat these gaps with care</a:t>
            </a:r>
          </a:p>
          <a:p>
            <a:pPr marL="0" indent="0" algn="l">
              <a:lnSpc>
                <a:spcPct val="105000"/>
              </a:lnSpc>
              <a:spcBef>
                <a:spcPts val="0"/>
              </a:spcBef>
              <a:spcAft>
                <a:spcPts val="0"/>
              </a:spcAft>
              <a:buNone/>
            </a:pPr>
            <a:r>
              <a:rPr lang="en-SG" sz="1350" b="0" i="0" dirty="0">
                <a:solidFill>
                  <a:srgbClr val="D6DDE8"/>
                </a:solidFill>
                <a:latin typeface="Arial"/>
                <a:cs typeface="Arial"/>
              </a:rPr>
              <a:t>9 of the 10 Claude checklists broke the 200-word limit, and two extra runs flipped Luna’s lead.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RESULT 2</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real gap was in which facts survived</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Facts about what the agent did nearly always survived. The rules for what counts as a successful response almost never did.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9 / 12</a:t>
            </a:r>
          </a:p>
        </p:txBody>
      </p:sp>
      <p:graphicFrame>
        <p:nvGraphicFramePr>
          <p:cNvPr id="6" name="Chart" descr="Bar chart of expected facts recovered by question, all 40 handoffs. Files changed 100%, checks and results 100%, what wasn't verified 86%, timeout how and why 45%, what counts as success 1%, proxy and headers 100%."/>
          <p:cNvGraphicFramePr/>
          <p:nvPr/>
        </p:nvGraphicFramePr>
        <p:xfrm>
          <a:off x="411480" y="2148840"/>
          <a:ext cx="8092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7" name="Big number"/>
          <p:cNvSpPr txBox="1"/>
          <p:nvPr/>
        </p:nvSpPr>
        <p:spPr>
          <a:xfrm>
            <a:off x="8778240" y="2286000"/>
            <a:ext cx="2862072" cy="8229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4600" b="1" i="0" dirty="0">
                <a:solidFill>
                  <a:srgbClr val="FFC36A"/>
                </a:solidFill>
                <a:latin typeface="Arial"/>
                <a:cs typeface="Arial"/>
              </a:rPr>
              <a:t>4 of 360</a:t>
            </a:r>
          </a:p>
        </p:txBody>
      </p:sp>
      <p:sp>
        <p:nvSpPr>
          <p:cNvPr id="8" name="Big number label"/>
          <p:cNvSpPr txBox="1"/>
          <p:nvPr/>
        </p:nvSpPr>
        <p:spPr>
          <a:xfrm>
            <a:off x="8778240" y="3154680"/>
            <a:ext cx="2862072" cy="86868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500" b="0" i="0" dirty="0">
                <a:solidFill>
                  <a:srgbClr val="F5F3EB"/>
                </a:solidFill>
                <a:latin typeface="Arial"/>
                <a:cs typeface="Arial"/>
              </a:rPr>
              <a:t>facts about what counts as success survived, across all 40 handoffs</a:t>
            </a:r>
          </a:p>
        </p:txBody>
      </p:sp>
      <p:sp>
        <p:nvSpPr>
          <p:cNvPr id="9" name="Why"/>
          <p:cNvSpPr/>
          <p:nvPr/>
        </p:nvSpPr>
        <p:spPr>
          <a:xfrm>
            <a:off x="8778240" y="4251960"/>
            <a:ext cx="2862072" cy="1874520"/>
          </a:xfrm>
          <a:prstGeom prst="roundRect">
            <a:avLst>
              <a:gd name="adj" fmla="val 3902"/>
            </a:avLst>
          </a:prstGeom>
          <a:solidFill>
            <a:srgbClr val="1B2940"/>
          </a:solidFill>
          <a:ln>
            <a:noFill/>
          </a:ln>
        </p:spPr>
        <p:txBody>
          <a:bodyPr vert="horz" wrap="square" lIns="201168" tIns="109728" rIns="182880" bIns="109728" rtlCol="0" anchor="ctr">
            <a:noAutofit/>
          </a:bodyPr>
          <a:lstStyle/>
          <a:p>
            <a:pPr marL="0" indent="0" algn="l">
              <a:lnSpc>
                <a:spcPct val="100000"/>
              </a:lnSpc>
              <a:spcBef>
                <a:spcPts val="0"/>
              </a:spcBef>
              <a:spcAft>
                <a:spcPts val="400"/>
              </a:spcAft>
              <a:buNone/>
            </a:pPr>
            <a:r>
              <a:rPr lang="en-SG" sz="1400" b="1" i="0" dirty="0">
                <a:solidFill>
                  <a:srgbClr val="FFC36A"/>
                </a:solidFill>
                <a:latin typeface="Arial"/>
                <a:cs typeface="Arial"/>
              </a:rPr>
              <a:t>Why?</a:t>
            </a:r>
          </a:p>
          <a:p>
            <a:pPr marL="0" indent="0" algn="l">
              <a:lnSpc>
                <a:spcPct val="110000"/>
              </a:lnSpc>
              <a:spcBef>
                <a:spcPts val="0"/>
              </a:spcBef>
              <a:spcAft>
                <a:spcPts val="0"/>
              </a:spcAft>
              <a:buNone/>
            </a:pPr>
            <a:r>
              <a:rPr lang="en-SG" sz="1350" b="0" i="0" dirty="0">
                <a:solidFill>
                  <a:srgbClr val="D6DDE8"/>
                </a:solidFill>
                <a:latin typeface="Arial"/>
                <a:cs typeface="Arial"/>
              </a:rPr>
              <a:t>The handoffs described what the agent changed. They almost never listed the rules the check had to meet.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AN EXAMPLE</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checklist kept the test results but lost the rules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This real checklist reported that all 30 tests passed. But it never said which responses count as a success, so the receiving agent answered “not stated”.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10 / 12</a:t>
            </a:r>
          </a:p>
        </p:txBody>
      </p:sp>
      <p:sp>
        <p:nvSpPr>
          <p:cNvPr id="6" name="The handoff" descr="A real checklist handoff, the receiving agent's answer, and the answer key with 1 of 9 facts recovered"/>
          <p:cNvSpPr/>
          <p:nvPr/>
        </p:nvSpPr>
        <p:spPr>
          <a:xfrm>
            <a:off x="548640" y="2240280"/>
            <a:ext cx="3429000" cy="3840480"/>
          </a:xfrm>
          <a:prstGeom prst="roundRect">
            <a:avLst>
              <a:gd name="adj" fmla="val 2133"/>
            </a:avLst>
          </a:prstGeom>
          <a:solidFill>
            <a:srgbClr val="1B2940"/>
          </a:solidFill>
          <a:ln>
            <a:noFill/>
          </a:ln>
        </p:spPr>
        <p:txBody>
          <a:bodyPr vert="horz" wrap="square" lIns="201168" tIns="146304" rIns="182880" bIns="91440" rtlCol="0" anchor="t">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HANDOFF</a:t>
            </a:r>
          </a:p>
          <a:p>
            <a:pPr marL="0" indent="0" algn="l">
              <a:lnSpc>
                <a:spcPct val="100000"/>
              </a:lnSpc>
              <a:spcBef>
                <a:spcPts val="0"/>
              </a:spcBef>
              <a:spcAft>
                <a:spcPts val="0"/>
              </a:spcAft>
              <a:buNone/>
            </a:pPr>
            <a:r>
              <a:rPr lang="en-SG" sz="1200" b="0" i="0" dirty="0">
                <a:solidFill>
                  <a:srgbClr val="B9C4D5"/>
                </a:solidFill>
                <a:latin typeface="Arial"/>
                <a:cs typeface="Arial"/>
              </a:rPr>
              <a:t>GPT-5.6 Sol checklist, coding run 4</a:t>
            </a:r>
          </a:p>
        </p:txBody>
      </p:sp>
      <p:sp>
        <p:nvSpPr>
          <p:cNvPr id="7" name="Excerpt"/>
          <p:cNvSpPr/>
          <p:nvPr/>
        </p:nvSpPr>
        <p:spPr>
          <a:xfrm>
            <a:off x="749808" y="2926080"/>
            <a:ext cx="3026664" cy="1481328"/>
          </a:xfrm>
          <a:prstGeom prst="roundRect">
            <a:avLst>
              <a:gd name="adj" fmla="val 4938"/>
            </a:avLst>
          </a:prstGeom>
          <a:solidFill>
            <a:srgbClr val="24334B"/>
          </a:solidFill>
          <a:ln>
            <a:noFill/>
          </a:ln>
        </p:spPr>
        <p:txBody>
          <a:bodyPr vert="horz" wrap="square" lIns="146304" tIns="109728" rIns="128016" bIns="91440" rtlCol="0" anchor="t">
            <a:noAutofit/>
          </a:bodyPr>
          <a:lstStyle/>
          <a:p>
            <a:pPr marL="0" indent="0" algn="l">
              <a:lnSpc>
                <a:spcPct val="108000"/>
              </a:lnSpc>
              <a:spcBef>
                <a:spcPts val="0"/>
              </a:spcBef>
              <a:spcAft>
                <a:spcPts val="0"/>
              </a:spcAft>
              <a:buNone/>
            </a:pPr>
            <a:r>
              <a:rPr lang="en-SG" sz="1300" b="1" i="0" dirty="0">
                <a:solidFill>
                  <a:srgbClr val="69DECC"/>
                </a:solidFill>
                <a:latin typeface="Arial"/>
                <a:cs typeface="Arial"/>
              </a:rPr>
              <a:t>Checks: </a:t>
            </a:r>
            <a:r>
              <a:rPr lang="en-SG" sz="1300" b="0" i="0" dirty="0">
                <a:solidFill>
                  <a:srgbClr val="F5F3EB"/>
                </a:solidFill>
                <a:latin typeface="Arial"/>
                <a:cs typeface="Arial"/>
              </a:rPr>
              <a:t>Offline standalone suite passed all 30 tests in 0.030s. Covered request shape/headers, tokens, response validation,</a:t>
            </a:r>
            <a:br>
              <a:rPr lang="en-SG" sz="1300" b="0" i="0" dirty="0">
                <a:solidFill>
                  <a:srgbClr val="F5F3EB"/>
                </a:solidFill>
                <a:latin typeface="Arial"/>
                <a:cs typeface="Arial"/>
              </a:rPr>
            </a:br>
            <a:r>
              <a:rPr lang="en-SG" sz="1300" b="0" i="0" dirty="0">
                <a:solidFill>
                  <a:srgbClr val="F5F3EB"/>
                </a:solidFill>
                <a:latin typeface="Arial"/>
                <a:cs typeface="Arial"/>
              </a:rPr>
              <a:t>65,536-byte limit, …</a:t>
            </a:r>
          </a:p>
        </p:txBody>
      </p:sp>
      <p:sp>
        <p:nvSpPr>
          <p:cNvPr id="8" name="Kept"/>
          <p:cNvSpPr txBox="1"/>
          <p:nvPr/>
        </p:nvSpPr>
        <p:spPr>
          <a:xfrm>
            <a:off x="749808" y="4480560"/>
            <a:ext cx="3026664"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69DECC"/>
                </a:solidFill>
                <a:latin typeface="Segoe UI Symbol"/>
                <a:cs typeface="Segoe UI Symbol"/>
              </a:rPr>
              <a:t>✓ </a:t>
            </a:r>
            <a:r>
              <a:rPr lang="en-SG" sz="1300" b="1" i="0" dirty="0">
                <a:solidFill>
                  <a:srgbClr val="69DECC"/>
                </a:solidFill>
                <a:latin typeface="Arial"/>
                <a:cs typeface="Arial"/>
              </a:rPr>
              <a:t>Test results kept</a:t>
            </a:r>
          </a:p>
        </p:txBody>
      </p:sp>
      <p:sp>
        <p:nvSpPr>
          <p:cNvPr id="9" name="Missing"/>
          <p:cNvSpPr/>
          <p:nvPr/>
        </p:nvSpPr>
        <p:spPr>
          <a:xfrm>
            <a:off x="749808" y="4864608"/>
            <a:ext cx="3026664" cy="868680"/>
          </a:xfrm>
          <a:prstGeom prst="roundRect">
            <a:avLst>
              <a:gd name="adj" fmla="val 8421"/>
            </a:avLst>
          </a:prstGeom>
          <a:noFill/>
          <a:ln w="19050">
            <a:solidFill>
              <a:srgbClr val="FFC36A"/>
            </a:solidFill>
            <a:prstDash val="dash"/>
          </a:ln>
        </p:spPr>
        <p:txBody>
          <a:bodyPr vert="horz" wrap="square" lIns="146304" tIns="54864" rIns="128016" bIns="54864" rtlCol="0" anchor="ctr">
            <a:noAutofit/>
          </a:bodyPr>
          <a:lstStyle/>
          <a:p>
            <a:pPr marL="0" indent="0" algn="l">
              <a:lnSpc>
                <a:spcPct val="105000"/>
              </a:lnSpc>
              <a:spcBef>
                <a:spcPts val="0"/>
              </a:spcBef>
              <a:spcAft>
                <a:spcPts val="0"/>
              </a:spcAft>
              <a:buNone/>
            </a:pPr>
            <a:r>
              <a:rPr lang="en-SG" sz="1300" b="1" i="0" dirty="0">
                <a:solidFill>
                  <a:srgbClr val="FFC36A"/>
                </a:solidFill>
                <a:latin typeface="Segoe UI Symbol"/>
                <a:cs typeface="Segoe UI Symbol"/>
              </a:rPr>
              <a:t>✗ </a:t>
            </a:r>
            <a:r>
              <a:rPr lang="en-SG" sz="1300" b="1" i="0" dirty="0">
                <a:solidFill>
                  <a:srgbClr val="FFC36A"/>
                </a:solidFill>
                <a:latin typeface="Arial"/>
                <a:cs typeface="Arial"/>
              </a:rPr>
              <a:t>Nothing on which responses count as a success</a:t>
            </a:r>
          </a:p>
        </p:txBody>
      </p:sp>
      <p:cxnSp>
        <p:nvCxnSpPr>
          <p:cNvPr id="10" name="Arrow"/>
          <p:cNvCxnSpPr/>
          <p:nvPr/>
        </p:nvCxnSpPr>
        <p:spPr>
          <a:xfrm>
            <a:off x="4041648" y="4160520"/>
            <a:ext cx="237744" cy="0"/>
          </a:xfrm>
          <a:prstGeom prst="straightConnector1">
            <a:avLst/>
          </a:prstGeom>
          <a:ln w="28575">
            <a:solidFill>
              <a:srgbClr val="7F8EA6"/>
            </a:solidFill>
            <a:tailEnd type="triangle" w="med" len="med"/>
          </a:ln>
        </p:spPr>
      </p:cxnSp>
      <p:sp>
        <p:nvSpPr>
          <p:cNvPr id="11" name="The receiving agent"/>
          <p:cNvSpPr/>
          <p:nvPr/>
        </p:nvSpPr>
        <p:spPr>
          <a:xfrm>
            <a:off x="4343400" y="2240280"/>
            <a:ext cx="3291840" cy="3840480"/>
          </a:xfrm>
          <a:prstGeom prst="roundRect">
            <a:avLst>
              <a:gd name="adj" fmla="val 2222"/>
            </a:avLst>
          </a:prstGeom>
          <a:solidFill>
            <a:srgbClr val="1B2940"/>
          </a:solidFill>
          <a:ln>
            <a:noFill/>
          </a:ln>
        </p:spPr>
        <p:txBody>
          <a:bodyPr vert="horz" wrap="square" lIns="201168" tIns="146304" rIns="182880" bIns="109728" rtlCol="0" anchor="t">
            <a:noAutofit/>
          </a:bodyPr>
          <a:lstStyle/>
          <a:p>
            <a:pPr marL="0" indent="0" algn="l">
              <a:lnSpc>
                <a:spcPct val="100000"/>
              </a:lnSpc>
              <a:spcBef>
                <a:spcPts val="0"/>
              </a:spcBef>
              <a:spcAft>
                <a:spcPts val="1000"/>
              </a:spcAft>
              <a:buNone/>
            </a:pPr>
            <a:r>
              <a:rPr lang="en-SG" sz="1200" b="1" i="0" spc="100" dirty="0">
                <a:solidFill>
                  <a:srgbClr val="69DECC"/>
                </a:solidFill>
                <a:latin typeface="Arial"/>
                <a:cs typeface="Arial"/>
              </a:rPr>
              <a:t>THE RECEIVING AGENT</a:t>
            </a:r>
          </a:p>
          <a:p>
            <a:pPr marL="0" indent="0" algn="l">
              <a:lnSpc>
                <a:spcPct val="100000"/>
              </a:lnSpc>
              <a:spcBef>
                <a:spcPts val="0"/>
              </a:spcBef>
              <a:spcAft>
                <a:spcPts val="200"/>
              </a:spcAft>
              <a:buNone/>
            </a:pPr>
            <a:r>
              <a:rPr lang="en-SG" sz="1300" b="1" i="0" dirty="0">
                <a:solidFill>
                  <a:srgbClr val="B9C4D5"/>
                </a:solidFill>
                <a:latin typeface="Arial"/>
                <a:cs typeface="Arial"/>
              </a:rPr>
              <a:t>Asked</a:t>
            </a:r>
          </a:p>
          <a:p>
            <a:pPr marL="0" indent="0" algn="l">
              <a:lnSpc>
                <a:spcPct val="108000"/>
              </a:lnSpc>
              <a:spcBef>
                <a:spcPts val="0"/>
              </a:spcBef>
              <a:spcAft>
                <a:spcPts val="1200"/>
              </a:spcAft>
              <a:buNone/>
            </a:pPr>
            <a:r>
              <a:rPr lang="en-SG" sz="1500" b="0" i="0" dirty="0">
                <a:solidFill>
                  <a:srgbClr val="F5F3EB"/>
                </a:solidFill>
                <a:latin typeface="Arial"/>
                <a:cs typeface="Arial"/>
              </a:rPr>
              <a:t>“Which provider responses count as a successful probe?”</a:t>
            </a:r>
          </a:p>
          <a:p>
            <a:pPr marL="0" indent="0" algn="l">
              <a:lnSpc>
                <a:spcPct val="100000"/>
              </a:lnSpc>
              <a:spcBef>
                <a:spcPts val="0"/>
              </a:spcBef>
              <a:spcAft>
                <a:spcPts val="200"/>
              </a:spcAft>
              <a:buNone/>
            </a:pPr>
            <a:r>
              <a:rPr lang="en-SG" sz="1300" b="1" i="0" dirty="0">
                <a:solidFill>
                  <a:srgbClr val="B9C4D5"/>
                </a:solidFill>
                <a:latin typeface="Arial"/>
                <a:cs typeface="Arial"/>
              </a:rPr>
              <a:t>Answered</a:t>
            </a:r>
          </a:p>
          <a:p>
            <a:pPr marL="0" indent="0" algn="l">
              <a:lnSpc>
                <a:spcPct val="108000"/>
              </a:lnSpc>
              <a:spcBef>
                <a:spcPts val="0"/>
              </a:spcBef>
              <a:spcAft>
                <a:spcPts val="0"/>
              </a:spcAft>
              <a:buNone/>
            </a:pPr>
            <a:r>
              <a:rPr lang="en-SG" sz="1500" b="0" i="1" dirty="0">
                <a:solidFill>
                  <a:srgbClr val="FFC36A"/>
                </a:solidFill>
                <a:latin typeface="Arial"/>
                <a:cs typeface="Arial"/>
              </a:rPr>
              <a:t>“not stated. The handoff mentions only response validation and shape validation, without saying which responses count as success.”</a:t>
            </a:r>
          </a:p>
        </p:txBody>
      </p:sp>
      <p:cxnSp>
        <p:nvCxnSpPr>
          <p:cNvPr id="12" name="Arrow"/>
          <p:cNvCxnSpPr/>
          <p:nvPr/>
        </p:nvCxnSpPr>
        <p:spPr>
          <a:xfrm>
            <a:off x="7699248" y="4160520"/>
            <a:ext cx="237744" cy="0"/>
          </a:xfrm>
          <a:prstGeom prst="straightConnector1">
            <a:avLst/>
          </a:prstGeom>
          <a:ln w="28575">
            <a:solidFill>
              <a:srgbClr val="7F8EA6"/>
            </a:solidFill>
            <a:tailEnd type="triangle" w="med" len="med"/>
          </a:ln>
        </p:spPr>
      </p:cxnSp>
      <p:sp>
        <p:nvSpPr>
          <p:cNvPr id="13" name="The answer key"/>
          <p:cNvSpPr/>
          <p:nvPr/>
        </p:nvSpPr>
        <p:spPr>
          <a:xfrm>
            <a:off x="8001000" y="2240280"/>
            <a:ext cx="3639312" cy="3840480"/>
          </a:xfrm>
          <a:prstGeom prst="roundRect">
            <a:avLst>
              <a:gd name="adj" fmla="val 2010"/>
            </a:avLst>
          </a:prstGeom>
          <a:solidFill>
            <a:srgbClr val="1B2940"/>
          </a:solidFill>
          <a:ln>
            <a:noFill/>
          </a:ln>
        </p:spPr>
        <p:txBody>
          <a:bodyPr vert="horz" wrap="square" lIns="201168" tIns="146304" rIns="182880" bIns="91440" rtlCol="0" anchor="t">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ANSWER KEY</a:t>
            </a:r>
          </a:p>
          <a:p>
            <a:pPr marL="0" indent="0" algn="l">
              <a:lnSpc>
                <a:spcPct val="100000"/>
              </a:lnSpc>
              <a:spcBef>
                <a:spcPts val="0"/>
              </a:spcBef>
              <a:spcAft>
                <a:spcPts val="0"/>
              </a:spcAft>
              <a:buNone/>
            </a:pPr>
            <a:r>
              <a:rPr lang="en-SG" sz="1200" b="0" i="0" dirty="0">
                <a:solidFill>
                  <a:srgbClr val="B9C4D5"/>
                </a:solidFill>
                <a:latin typeface="Arial"/>
                <a:cs typeface="Arial"/>
              </a:rPr>
              <a:t>9 expected facts for this question</a:t>
            </a:r>
          </a:p>
        </p:txBody>
      </p:sp>
      <p:sp>
        <p:nvSpPr>
          <p:cNvPr id="14" name="Fact"/>
          <p:cNvSpPr txBox="1"/>
          <p:nvPr/>
        </p:nvSpPr>
        <p:spPr>
          <a:xfrm>
            <a:off x="8202168" y="2898648"/>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Status code is 200</a:t>
            </a:r>
          </a:p>
        </p:txBody>
      </p:sp>
      <p:sp>
        <p:nvSpPr>
          <p:cNvPr id="15" name="Fact"/>
          <p:cNvSpPr txBox="1"/>
          <p:nvPr/>
        </p:nvSpPr>
        <p:spPr>
          <a:xfrm>
            <a:off x="8202168" y="3200400"/>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Body is valid UTF-8</a:t>
            </a:r>
          </a:p>
        </p:txBody>
      </p:sp>
      <p:sp>
        <p:nvSpPr>
          <p:cNvPr id="16" name="Fact"/>
          <p:cNvSpPr txBox="1"/>
          <p:nvPr/>
        </p:nvSpPr>
        <p:spPr>
          <a:xfrm>
            <a:off x="8202168" y="3502152"/>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Body is valid JSON</a:t>
            </a:r>
          </a:p>
        </p:txBody>
      </p:sp>
      <p:sp>
        <p:nvSpPr>
          <p:cNvPr id="17" name="Fact"/>
          <p:cNvSpPr txBox="1"/>
          <p:nvPr/>
        </p:nvSpPr>
        <p:spPr>
          <a:xfrm>
            <a:off x="8202168" y="3803904"/>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Has a non-empty “choices” list</a:t>
            </a:r>
          </a:p>
        </p:txBody>
      </p:sp>
      <p:sp>
        <p:nvSpPr>
          <p:cNvPr id="18" name="Fact"/>
          <p:cNvSpPr txBox="1"/>
          <p:nvPr/>
        </p:nvSpPr>
        <p:spPr>
          <a:xfrm>
            <a:off x="8202168" y="4105656"/>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First choice has a text message</a:t>
            </a:r>
          </a:p>
        </p:txBody>
      </p:sp>
      <p:sp>
        <p:nvSpPr>
          <p:cNvPr id="19" name="Fact"/>
          <p:cNvSpPr txBox="1"/>
          <p:nvPr/>
        </p:nvSpPr>
        <p:spPr>
          <a:xfrm>
            <a:off x="8202168" y="4407408"/>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Message is not blank</a:t>
            </a:r>
          </a:p>
        </p:txBody>
      </p:sp>
      <p:sp>
        <p:nvSpPr>
          <p:cNvPr id="20" name="Fact"/>
          <p:cNvSpPr txBox="1"/>
          <p:nvPr/>
        </p:nvSpPr>
        <p:spPr>
          <a:xfrm>
            <a:off x="8202168" y="4709160"/>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Message need not say “OK”</a:t>
            </a:r>
          </a:p>
        </p:txBody>
      </p:sp>
      <p:sp>
        <p:nvSpPr>
          <p:cNvPr id="21" name="Fact"/>
          <p:cNvSpPr txBox="1"/>
          <p:nvPr/>
        </p:nvSpPr>
        <p:spPr>
          <a:xfrm>
            <a:off x="8202168" y="5010912"/>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Content-Type header is ignored</a:t>
            </a:r>
          </a:p>
        </p:txBody>
      </p:sp>
      <p:sp>
        <p:nvSpPr>
          <p:cNvPr id="22" name="Fact"/>
          <p:cNvSpPr txBox="1"/>
          <p:nvPr/>
        </p:nvSpPr>
        <p:spPr>
          <a:xfrm>
            <a:off x="8202168" y="5312664"/>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69DECC"/>
                </a:solidFill>
                <a:latin typeface="Segoe UI Symbol"/>
                <a:cs typeface="Segoe UI Symbol"/>
              </a:rPr>
              <a:t>✓  </a:t>
            </a:r>
            <a:r>
              <a:rPr lang="en-SG" sz="1300" b="1" i="0" dirty="0">
                <a:solidFill>
                  <a:srgbClr val="F5F3EB"/>
                </a:solidFill>
                <a:latin typeface="Arial"/>
                <a:cs typeface="Arial"/>
              </a:rPr>
              <a:t>Body is at most 65,536 bytes</a:t>
            </a:r>
          </a:p>
        </p:txBody>
      </p:sp>
      <p:sp>
        <p:nvSpPr>
          <p:cNvPr id="23" name="Fact total"/>
          <p:cNvSpPr txBox="1"/>
          <p:nvPr/>
        </p:nvSpPr>
        <p:spPr>
          <a:xfrm>
            <a:off x="8202168" y="5669280"/>
            <a:ext cx="3291840" cy="32004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1" i="0" dirty="0">
                <a:solidFill>
                  <a:srgbClr val="FFC36A"/>
                </a:solidFill>
                <a:latin typeface="Arial"/>
                <a:cs typeface="Arial"/>
              </a:rPr>
              <a:t>1 of 9 recovered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LIMITATIONS</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What this experiment can’t tell us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These results describe this one setup. They don’t show that either format is better in general.</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11 / 12</a:t>
            </a:r>
          </a:p>
        </p:txBody>
      </p:sp>
      <p:sp>
        <p:nvSpPr>
          <p:cNvPr id="6" name="Limit 1" descr="One coding task. And a quiz, not real follow-up work."/>
          <p:cNvSpPr/>
          <p:nvPr/>
        </p:nvSpPr>
        <p:spPr>
          <a:xfrm>
            <a:off x="548640" y="2286000"/>
            <a:ext cx="3547872" cy="1783080"/>
          </a:xfrm>
          <a:prstGeom prst="roundRect">
            <a:avLst>
              <a:gd name="adj" fmla="val 4102"/>
            </a:avLst>
          </a:prstGeom>
          <a:solidFill>
            <a:srgbClr val="1B2940"/>
          </a:solidFill>
          <a:ln>
            <a:noFill/>
          </a:ln>
        </p:spPr>
      </p:sp>
      <p:sp>
        <p:nvSpPr>
          <p:cNvPr id="7" name="Icon"/>
          <p:cNvSpPr/>
          <p:nvPr/>
        </p:nvSpPr>
        <p:spPr>
          <a:xfrm>
            <a:off x="7406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1</a:t>
            </a:r>
          </a:p>
        </p:txBody>
      </p:sp>
      <p:sp>
        <p:nvSpPr>
          <p:cNvPr id="8" name="Limit title"/>
          <p:cNvSpPr txBox="1"/>
          <p:nvPr/>
        </p:nvSpPr>
        <p:spPr>
          <a:xfrm>
            <a:off x="14447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One coding task</a:t>
            </a:r>
          </a:p>
        </p:txBody>
      </p:sp>
      <p:sp>
        <p:nvSpPr>
          <p:cNvPr id="9" name="Limit detail"/>
          <p:cNvSpPr txBox="1"/>
          <p:nvPr/>
        </p:nvSpPr>
        <p:spPr>
          <a:xfrm>
            <a:off x="7772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And a quiz, not real follow-up work.</a:t>
            </a:r>
          </a:p>
        </p:txBody>
      </p:sp>
      <p:sp>
        <p:nvSpPr>
          <p:cNvPr id="10" name="Limit 2" descr="One handoff per condition. Each was written once, with no repeats."/>
          <p:cNvSpPr/>
          <p:nvPr/>
        </p:nvSpPr>
        <p:spPr>
          <a:xfrm>
            <a:off x="4320540" y="2286000"/>
            <a:ext cx="3547872" cy="1783080"/>
          </a:xfrm>
          <a:prstGeom prst="roundRect">
            <a:avLst>
              <a:gd name="adj" fmla="val 4102"/>
            </a:avLst>
          </a:prstGeom>
          <a:solidFill>
            <a:srgbClr val="1B2940"/>
          </a:solidFill>
          <a:ln>
            <a:noFill/>
          </a:ln>
        </p:spPr>
      </p:sp>
      <p:sp>
        <p:nvSpPr>
          <p:cNvPr id="11" name="Icon"/>
          <p:cNvSpPr/>
          <p:nvPr/>
        </p:nvSpPr>
        <p:spPr>
          <a:xfrm>
            <a:off x="45125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1×</a:t>
            </a:r>
          </a:p>
        </p:txBody>
      </p:sp>
      <p:sp>
        <p:nvSpPr>
          <p:cNvPr id="12" name="Limit title"/>
          <p:cNvSpPr txBox="1"/>
          <p:nvPr/>
        </p:nvSpPr>
        <p:spPr>
          <a:xfrm>
            <a:off x="52166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One handoff per condition</a:t>
            </a:r>
          </a:p>
        </p:txBody>
      </p:sp>
      <p:sp>
        <p:nvSpPr>
          <p:cNvPr id="13" name="Limit detail"/>
          <p:cNvSpPr txBox="1"/>
          <p:nvPr/>
        </p:nvSpPr>
        <p:spPr>
          <a:xfrm>
            <a:off x="45491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Each was written once, with no repeats.</a:t>
            </a:r>
          </a:p>
        </p:txBody>
      </p:sp>
      <p:sp>
        <p:nvSpPr>
          <p:cNvPr id="14" name="Limit 3" descr="The formats ended up alike. Most summaries still labelled each part inline."/>
          <p:cNvSpPr/>
          <p:nvPr/>
        </p:nvSpPr>
        <p:spPr>
          <a:xfrm>
            <a:off x="8092440" y="2286000"/>
            <a:ext cx="3547872" cy="1783080"/>
          </a:xfrm>
          <a:prstGeom prst="roundRect">
            <a:avLst>
              <a:gd name="adj" fmla="val 4102"/>
            </a:avLst>
          </a:prstGeom>
          <a:solidFill>
            <a:srgbClr val="1B2940"/>
          </a:solidFill>
          <a:ln>
            <a:noFill/>
          </a:ln>
        </p:spPr>
      </p:sp>
      <p:sp>
        <p:nvSpPr>
          <p:cNvPr id="15" name="Icon"/>
          <p:cNvSpPr/>
          <p:nvPr/>
        </p:nvSpPr>
        <p:spPr>
          <a:xfrm>
            <a:off x="82844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2000" b="1" i="0" dirty="0">
                <a:solidFill>
                  <a:srgbClr val="FFC36A"/>
                </a:solidFill>
                <a:latin typeface="Arial"/>
                <a:cs typeface="Arial"/>
              </a:rPr>
              <a:t>≈</a:t>
            </a:r>
          </a:p>
        </p:txBody>
      </p:sp>
      <p:sp>
        <p:nvSpPr>
          <p:cNvPr id="16" name="Limit title"/>
          <p:cNvSpPr txBox="1"/>
          <p:nvPr/>
        </p:nvSpPr>
        <p:spPr>
          <a:xfrm>
            <a:off x="89885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The formats ended up alike</a:t>
            </a:r>
          </a:p>
        </p:txBody>
      </p:sp>
      <p:sp>
        <p:nvSpPr>
          <p:cNvPr id="17" name="Limit detail"/>
          <p:cNvSpPr txBox="1"/>
          <p:nvPr/>
        </p:nvSpPr>
        <p:spPr>
          <a:xfrm>
            <a:off x="83210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Most summaries still labelled each part inline.</a:t>
            </a:r>
          </a:p>
        </p:txBody>
      </p:sp>
      <p:sp>
        <p:nvSpPr>
          <p:cNvPr id="18" name="Limit 4" descr="Some went over 200 words. 12 of 40, including 9 of the 10 Claude checklists."/>
          <p:cNvSpPr/>
          <p:nvPr/>
        </p:nvSpPr>
        <p:spPr>
          <a:xfrm>
            <a:off x="548640" y="4251960"/>
            <a:ext cx="3547872" cy="1783080"/>
          </a:xfrm>
          <a:prstGeom prst="roundRect">
            <a:avLst>
              <a:gd name="adj" fmla="val 4102"/>
            </a:avLst>
          </a:prstGeom>
          <a:solidFill>
            <a:srgbClr val="1B2940"/>
          </a:solidFill>
          <a:ln>
            <a:noFill/>
          </a:ln>
        </p:spPr>
      </p:sp>
      <p:sp>
        <p:nvSpPr>
          <p:cNvPr id="19" name="Icon"/>
          <p:cNvSpPr/>
          <p:nvPr/>
        </p:nvSpPr>
        <p:spPr>
          <a:xfrm>
            <a:off x="7406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12</a:t>
            </a:r>
          </a:p>
        </p:txBody>
      </p:sp>
      <p:sp>
        <p:nvSpPr>
          <p:cNvPr id="20" name="Limit title"/>
          <p:cNvSpPr txBox="1"/>
          <p:nvPr/>
        </p:nvSpPr>
        <p:spPr>
          <a:xfrm>
            <a:off x="14447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Some went over 200 words</a:t>
            </a:r>
          </a:p>
        </p:txBody>
      </p:sp>
      <p:sp>
        <p:nvSpPr>
          <p:cNvPr id="21" name="Limit detail"/>
          <p:cNvSpPr txBox="1"/>
          <p:nvPr/>
        </p:nvSpPr>
        <p:spPr>
          <a:xfrm>
            <a:off x="7772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12 of 40, including 9 of the 10 Claude checklists.</a:t>
            </a:r>
          </a:p>
        </p:txBody>
      </p:sp>
      <p:sp>
        <p:nvSpPr>
          <p:cNvPr id="22" name="Limit 5" descr="Two runs added late. Runs 4 and 5 came after I saw runs 1 to 3."/>
          <p:cNvSpPr/>
          <p:nvPr/>
        </p:nvSpPr>
        <p:spPr>
          <a:xfrm>
            <a:off x="4320540" y="4251960"/>
            <a:ext cx="3547872" cy="1783080"/>
          </a:xfrm>
          <a:prstGeom prst="roundRect">
            <a:avLst>
              <a:gd name="adj" fmla="val 4102"/>
            </a:avLst>
          </a:prstGeom>
          <a:solidFill>
            <a:srgbClr val="1B2940"/>
          </a:solidFill>
          <a:ln>
            <a:noFill/>
          </a:ln>
        </p:spPr>
      </p:sp>
      <p:sp>
        <p:nvSpPr>
          <p:cNvPr id="23" name="Icon"/>
          <p:cNvSpPr/>
          <p:nvPr/>
        </p:nvSpPr>
        <p:spPr>
          <a:xfrm>
            <a:off x="45125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+2</a:t>
            </a:r>
          </a:p>
        </p:txBody>
      </p:sp>
      <p:sp>
        <p:nvSpPr>
          <p:cNvPr id="24" name="Limit title"/>
          <p:cNvSpPr txBox="1"/>
          <p:nvPr/>
        </p:nvSpPr>
        <p:spPr>
          <a:xfrm>
            <a:off x="52166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Two runs added late</a:t>
            </a:r>
          </a:p>
        </p:txBody>
      </p:sp>
      <p:sp>
        <p:nvSpPr>
          <p:cNvPr id="25" name="Limit detail"/>
          <p:cNvSpPr txBox="1"/>
          <p:nvPr/>
        </p:nvSpPr>
        <p:spPr>
          <a:xfrm>
            <a:off x="45491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Runs 4 and 5 came after I saw runs 1 to 3.</a:t>
            </a:r>
          </a:p>
        </p:txBody>
      </p:sp>
      <p:sp>
        <p:nvSpPr>
          <p:cNvPr id="26" name="Limit 6" descr="AI grading, not blind. The grader could see each handoff’s format."/>
          <p:cNvSpPr/>
          <p:nvPr/>
        </p:nvSpPr>
        <p:spPr>
          <a:xfrm>
            <a:off x="8092440" y="4251960"/>
            <a:ext cx="3547872" cy="1783080"/>
          </a:xfrm>
          <a:prstGeom prst="roundRect">
            <a:avLst>
              <a:gd name="adj" fmla="val 4102"/>
            </a:avLst>
          </a:prstGeom>
          <a:solidFill>
            <a:srgbClr val="1B2940"/>
          </a:solidFill>
          <a:ln>
            <a:noFill/>
          </a:ln>
        </p:spPr>
      </p:sp>
      <p:sp>
        <p:nvSpPr>
          <p:cNvPr id="27" name="Icon"/>
          <p:cNvSpPr/>
          <p:nvPr/>
        </p:nvSpPr>
        <p:spPr>
          <a:xfrm>
            <a:off x="82844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AI</a:t>
            </a:r>
          </a:p>
        </p:txBody>
      </p:sp>
      <p:sp>
        <p:nvSpPr>
          <p:cNvPr id="28" name="Limit title"/>
          <p:cNvSpPr txBox="1"/>
          <p:nvPr/>
        </p:nvSpPr>
        <p:spPr>
          <a:xfrm>
            <a:off x="89885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AI grading, not blind</a:t>
            </a:r>
          </a:p>
        </p:txBody>
      </p:sp>
      <p:sp>
        <p:nvSpPr>
          <p:cNvPr id="29" name="Limit detail"/>
          <p:cNvSpPr txBox="1"/>
          <p:nvPr/>
        </p:nvSpPr>
        <p:spPr>
          <a:xfrm>
            <a:off x="83210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The grader could see each handoff’s format.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TAKEAWAY</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Decide what goes into a handoff, not just how it looks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 format made only small differences. What mattered more was whether the handoff had the right facts.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12 / 12</a:t>
            </a:r>
          </a:p>
        </p:txBody>
      </p:sp>
      <p:sp>
        <p:nvSpPr>
          <p:cNvPr id="6" name="Recall first"/>
          <p:cNvSpPr/>
          <p:nvPr/>
        </p:nvSpPr>
        <p:spPr>
          <a:xfrm>
            <a:off x="548640" y="2286000"/>
            <a:ext cx="5120640" cy="3794760"/>
          </a:xfrm>
          <a:prstGeom prst="roundRect">
            <a:avLst>
              <a:gd name="adj" fmla="val 1927"/>
            </a:avLst>
          </a:prstGeom>
          <a:solidFill>
            <a:srgbClr val="1B2940"/>
          </a:solidFill>
          <a:ln>
            <a:noFill/>
          </a:ln>
        </p:spPr>
        <p:txBody>
          <a:bodyPr vert="horz" wrap="square" lIns="292608" tIns="237744" rIns="274320" bIns="182880" rtlCol="0" anchor="t">
            <a:noAutofit/>
          </a:bodyPr>
          <a:lstStyle/>
          <a:p>
            <a:pPr marL="0" indent="0" algn="l">
              <a:lnSpc>
                <a:spcPct val="100000"/>
              </a:lnSpc>
              <a:spcBef>
                <a:spcPts val="0"/>
              </a:spcBef>
              <a:spcAft>
                <a:spcPts val="1600"/>
              </a:spcAft>
              <a:buNone/>
            </a:pPr>
            <a:r>
              <a:rPr lang="en-SG" sz="1200" b="1" i="0" spc="100" dirty="0">
                <a:solidFill>
                  <a:srgbClr val="69DECC"/>
                </a:solidFill>
                <a:latin typeface="Arial"/>
                <a:cs typeface="Arial"/>
              </a:rPr>
              <a:t>RECALL FIRST · WEEK 9</a:t>
            </a:r>
          </a:p>
          <a:p>
            <a:pPr marL="0" indent="0" algn="l">
              <a:lnSpc>
                <a:spcPct val="108000"/>
              </a:lnSpc>
              <a:spcBef>
                <a:spcPts val="0"/>
              </a:spcBef>
              <a:spcAft>
                <a:spcPts val="2200"/>
              </a:spcAft>
              <a:buNone/>
            </a:pPr>
            <a:r>
              <a:rPr lang="en-SG" sz="2800" b="1" i="0" dirty="0">
                <a:solidFill>
                  <a:srgbClr val="F5F3EB"/>
                </a:solidFill>
                <a:latin typeface="Arial"/>
                <a:cs typeface="Arial"/>
              </a:rPr>
              <a:t>Lost information can’t be recovered. Extra information can be trimmed later.</a:t>
            </a:r>
          </a:p>
          <a:p>
            <a:pPr marL="0" indent="0" algn="l">
              <a:lnSpc>
                <a:spcPct val="112000"/>
              </a:lnSpc>
              <a:spcBef>
                <a:spcPts val="0"/>
              </a:spcBef>
              <a:spcAft>
                <a:spcPts val="0"/>
              </a:spcAft>
              <a:buNone/>
            </a:pPr>
            <a:r>
              <a:rPr lang="en-SG" sz="1700" b="0" i="0" dirty="0">
                <a:solidFill>
                  <a:srgbClr val="D6DDE8"/>
                </a:solidFill>
                <a:latin typeface="Arial"/>
                <a:cs typeface="Arial"/>
              </a:rPr>
              <a:t>Our handoffs kept what the agent did, but lost the rules the work had to meet.</a:t>
            </a:r>
          </a:p>
        </p:txBody>
      </p:sp>
      <p:sp>
        <p:nvSpPr>
          <p:cNvPr id="7" name="Label"/>
          <p:cNvSpPr txBox="1"/>
          <p:nvPr/>
        </p:nvSpPr>
        <p:spPr>
          <a:xfrm>
            <a:off x="6035040" y="2286000"/>
            <a:ext cx="560527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IDEAS TO TEST NEXT, FOR OUR MP3 WORKFLOW</a:t>
            </a:r>
          </a:p>
        </p:txBody>
      </p:sp>
      <p:sp>
        <p:nvSpPr>
          <p:cNvPr id="8" name="Idea 1"/>
          <p:cNvSpPr/>
          <p:nvPr/>
        </p:nvSpPr>
        <p:spPr>
          <a:xfrm>
            <a:off x="6035040" y="2651760"/>
            <a:ext cx="5605272" cy="1417320"/>
          </a:xfrm>
          <a:prstGeom prst="roundRect">
            <a:avLst>
              <a:gd name="adj" fmla="val 5161"/>
            </a:avLst>
          </a:prstGeom>
          <a:solidFill>
            <a:srgbClr val="1B2940"/>
          </a:solidFill>
          <a:ln>
            <a:noFill/>
          </a:ln>
        </p:spPr>
      </p:sp>
      <p:sp>
        <p:nvSpPr>
          <p:cNvPr id="9" name="Number 1"/>
          <p:cNvSpPr/>
          <p:nvPr/>
        </p:nvSpPr>
        <p:spPr>
          <a:xfrm>
            <a:off x="6245352" y="2862072"/>
            <a:ext cx="457200" cy="457200"/>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1</a:t>
            </a:r>
          </a:p>
        </p:txBody>
      </p:sp>
      <p:sp>
        <p:nvSpPr>
          <p:cNvPr id="10" name="Idea title"/>
          <p:cNvSpPr txBox="1"/>
          <p:nvPr/>
        </p:nvSpPr>
        <p:spPr>
          <a:xfrm>
            <a:off x="6858000" y="2834640"/>
            <a:ext cx="4617720" cy="45720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Add a goal and success-criteria field</a:t>
            </a:r>
          </a:p>
        </p:txBody>
      </p:sp>
      <p:sp>
        <p:nvSpPr>
          <p:cNvPr id="11" name="Idea detail"/>
          <p:cNvSpPr txBox="1"/>
          <p:nvPr/>
        </p:nvSpPr>
        <p:spPr>
          <a:xfrm>
            <a:off x="6858000" y="3310128"/>
            <a:ext cx="4617720" cy="68580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350" b="1" i="0" dirty="0">
                <a:solidFill>
                  <a:srgbClr val="69DECC"/>
                </a:solidFill>
                <a:latin typeface="Arial"/>
                <a:cs typeface="Arial"/>
              </a:rPr>
              <a:t>Structured note taking (Week 9): </a:t>
            </a:r>
            <a:r>
              <a:rPr lang="en-SG" sz="1350" b="0" i="0" dirty="0">
                <a:solidFill>
                  <a:srgbClr val="D6DDE8"/>
                </a:solidFill>
                <a:latin typeface="Arial"/>
                <a:cs typeface="Arial"/>
              </a:rPr>
              <a:t>the lecture’s note template starts with the Goal; our checklist has no such field.</a:t>
            </a:r>
          </a:p>
        </p:txBody>
      </p:sp>
      <p:sp>
        <p:nvSpPr>
          <p:cNvPr id="12" name="Idea 2"/>
          <p:cNvSpPr/>
          <p:nvPr/>
        </p:nvSpPr>
        <p:spPr>
          <a:xfrm>
            <a:off x="6035040" y="4224528"/>
            <a:ext cx="5605272" cy="1417320"/>
          </a:xfrm>
          <a:prstGeom prst="roundRect">
            <a:avLst>
              <a:gd name="adj" fmla="val 5161"/>
            </a:avLst>
          </a:prstGeom>
          <a:solidFill>
            <a:srgbClr val="1B2940"/>
          </a:solidFill>
          <a:ln>
            <a:noFill/>
          </a:ln>
        </p:spPr>
      </p:sp>
      <p:sp>
        <p:nvSpPr>
          <p:cNvPr id="13" name="Number 2"/>
          <p:cNvSpPr/>
          <p:nvPr/>
        </p:nvSpPr>
        <p:spPr>
          <a:xfrm>
            <a:off x="6245352" y="4434840"/>
            <a:ext cx="457200" cy="457200"/>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2</a:t>
            </a:r>
          </a:p>
        </p:txBody>
      </p:sp>
      <p:sp>
        <p:nvSpPr>
          <p:cNvPr id="14" name="Idea title"/>
          <p:cNvSpPr txBox="1"/>
          <p:nvPr/>
        </p:nvSpPr>
        <p:spPr>
          <a:xfrm>
            <a:off x="6858000" y="4407408"/>
            <a:ext cx="4617720" cy="45720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Point to the requirements</a:t>
            </a:r>
          </a:p>
        </p:txBody>
      </p:sp>
      <p:sp>
        <p:nvSpPr>
          <p:cNvPr id="15" name="Idea detail"/>
          <p:cNvSpPr txBox="1"/>
          <p:nvPr/>
        </p:nvSpPr>
        <p:spPr>
          <a:xfrm>
            <a:off x="6858000" y="4882896"/>
            <a:ext cx="4617720" cy="68580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350" b="1" i="0" dirty="0">
                <a:solidFill>
                  <a:srgbClr val="69DECC"/>
                </a:solidFill>
                <a:latin typeface="Arial"/>
                <a:cs typeface="Arial"/>
              </a:rPr>
              <a:t>Just-in-time retrieval (Week 9): </a:t>
            </a:r>
            <a:r>
              <a:rPr lang="en-SG" sz="1350" b="0" i="0" dirty="0">
                <a:solidFill>
                  <a:srgbClr val="D6DDE8"/>
                </a:solidFill>
                <a:latin typeface="Arial"/>
                <a:cs typeface="Arial"/>
              </a:rPr>
              <a:t>link the contract, so the next agent can look the rules up itself.</a:t>
            </a:r>
          </a:p>
        </p:txBody>
      </p:sp>
      <p:sp>
        <p:nvSpPr>
          <p:cNvPr id="16" name="Untested note"/>
          <p:cNvSpPr txBox="1"/>
          <p:nvPr/>
        </p:nvSpPr>
        <p:spPr>
          <a:xfrm>
            <a:off x="6035040" y="5806440"/>
            <a:ext cx="560527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50" b="0" i="1" dirty="0">
                <a:solidFill>
                  <a:srgbClr val="B9C4D5"/>
                </a:solidFill>
                <a:latin typeface="Arial"/>
                <a:cs typeface="Arial"/>
              </a:rPr>
              <a:t>Neither idea was tested in this experiment.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BACKUP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Full results by model and format</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Correct facts out of 136 expected facts, across all five coding runs. No expected fact was scored wrong; the rest were not stated.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Backup</a:t>
            </a:r>
          </a:p>
        </p:txBody>
      </p:sp>
      <p:graphicFrame>
        <p:nvGraphicFramePr>
          <p:cNvPr id="6" name="Results table" descr="Correct facts out of 136 for each handoff model and format, with how many handoffs went over 200 words"/>
          <p:cNvGraphicFramePr>
            <a:graphicFrameLocks noGrp="1"/>
          </p:cNvGraphicFramePr>
          <p:nvPr/>
        </p:nvGraphicFramePr>
        <p:xfrm>
          <a:off x="548640" y="2194560"/>
          <a:ext cx="11091672" cy="3785616"/>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993392">
                  <a:extLst>
                    <a:ext uri="{9D8B030D-6E8A-4147-A177-3AD203B41FA5}">
                      <a16:colId xmlns:a16="http://schemas.microsoft.com/office/drawing/2014/main" val="20004"/>
                    </a:ext>
                  </a:extLst>
                </a:gridCol>
              </a:tblGrid>
              <a:tr h="420624">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HANDOFF MODEL</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FORMAT</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CORRECT FACTS</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SHARE</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OVER 200 WORDS</a:t>
                      </a:r>
                    </a:p>
                  </a:txBody>
                  <a:tcPr marL="137160" marR="137160" marT="36576" marB="36576" anchor="ctr">
                    <a:lnL>
                      <a:noFill/>
                    </a:lnL>
                    <a:lnR>
                      <a:noFill/>
                    </a:lnR>
                    <a:lnT>
                      <a:noFill/>
                    </a:lnT>
                    <a:lnB w="9525">
                      <a:solidFill>
                        <a:srgbClr val="3A4A63"/>
                      </a:solidFill>
                    </a:lnB>
                    <a:solidFill>
                      <a:srgbClr val="24334B"/>
                    </a:solidFill>
                  </a:tcPr>
                </a:tc>
                <a:extLst>
                  <a:ext uri="{0D108BD9-81ED-4DB2-BD59-A6C34878D82A}">
                    <a16:rowId xmlns:a16="http://schemas.microsoft.com/office/drawing/2014/main" val="10000"/>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Sol</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78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1"/>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Sol</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73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54%</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2"/>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Luna</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64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47%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3"/>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Luna</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62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46%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4"/>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Opus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78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3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5"/>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Opus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79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58%</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5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6"/>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Sonnet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74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54%</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7"/>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Sonnet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75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4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BACKUP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How the test was kept fair</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Full method, exclusions and audit details are in report.html inside the results ZIP.</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Backup</a:t>
            </a:r>
          </a:p>
        </p:txBody>
      </p:sp>
      <p:sp>
        <p:nvSpPr>
          <p:cNvPr id="6" name="Same start for every coding run"/>
          <p:cNvSpPr/>
          <p:nvPr/>
        </p:nvSpPr>
        <p:spPr>
          <a:xfrm>
            <a:off x="548640" y="224028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Same start for every coding run</a:t>
            </a:r>
          </a:p>
          <a:p>
            <a:pPr marL="0" indent="0" algn="l">
              <a:lnSpc>
                <a:spcPct val="110000"/>
              </a:lnSpc>
              <a:spcBef>
                <a:spcPts val="0"/>
              </a:spcBef>
              <a:spcAft>
                <a:spcPts val="0"/>
              </a:spcAft>
              <a:buNone/>
            </a:pPr>
            <a:r>
              <a:rPr lang="en-SG" sz="1400" b="0" i="0" dirty="0">
                <a:solidFill>
                  <a:srgbClr val="D6DDE8"/>
                </a:solidFill>
                <a:latin typeface="Arial"/>
                <a:cs typeface="Arial"/>
              </a:rPr>
              <a:t>A fresh copy of the same starting code, contract and 30 offline tests. Edit llm.py only; no network. All five repairs passed all 30 tests.</a:t>
            </a:r>
          </a:p>
        </p:txBody>
      </p:sp>
      <p:sp>
        <p:nvSpPr>
          <p:cNvPr id="7" name="Separate agents, no peeking"/>
          <p:cNvSpPr/>
          <p:nvPr/>
        </p:nvSpPr>
        <p:spPr>
          <a:xfrm>
            <a:off x="6208776" y="224028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Separate agents, no peeking</a:t>
            </a:r>
          </a:p>
          <a:p>
            <a:pPr marL="0" indent="0" algn="l">
              <a:lnSpc>
                <a:spcPct val="110000"/>
              </a:lnSpc>
              <a:spcBef>
                <a:spcPts val="0"/>
              </a:spcBef>
              <a:spcAft>
                <a:spcPts val="0"/>
              </a:spcAft>
              <a:buNone/>
            </a:pPr>
            <a:r>
              <a:rPr lang="en-SG" sz="1400" b="0" i="0" dirty="0">
                <a:solidFill>
                  <a:srgbClr val="D6DDE8"/>
                </a:solidFill>
                <a:latin typeface="Arial"/>
                <a:cs typeface="Arial"/>
              </a:rPr>
              <a:t>Fresh sessions. Handoff and receiving agents had no tools. No agent saw the other handoff or the answer key.</a:t>
            </a:r>
          </a:p>
        </p:txBody>
      </p:sp>
      <p:sp>
        <p:nvSpPr>
          <p:cNvPr id="8" name="Fixed before the handoffs"/>
          <p:cNvSpPr/>
          <p:nvPr/>
        </p:nvSpPr>
        <p:spPr>
          <a:xfrm>
            <a:off x="548640" y="411480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Fixed before the handoffs</a:t>
            </a:r>
          </a:p>
          <a:p>
            <a:pPr marL="0" indent="0" algn="l">
              <a:lnSpc>
                <a:spcPct val="110000"/>
              </a:lnSpc>
              <a:spcBef>
                <a:spcPts val="0"/>
              </a:spcBef>
              <a:spcAft>
                <a:spcPts val="0"/>
              </a:spcAft>
              <a:buNone/>
            </a:pPr>
            <a:r>
              <a:rPr lang="en-SG" sz="1400" b="0" i="0" dirty="0">
                <a:solidFill>
                  <a:srgbClr val="D6DDE8"/>
                </a:solidFill>
                <a:latin typeface="Arial"/>
                <a:cs typeface="Arial"/>
              </a:rPr>
              <a:t>Questions, prompts and each run’s answer key were frozen before that run’s handoffs were written. Runs 4 and 5 reused the same questions and prompts.</a:t>
            </a:r>
          </a:p>
        </p:txBody>
      </p:sp>
      <p:sp>
        <p:nvSpPr>
          <p:cNvPr id="9" name="Changes from the original plan"/>
          <p:cNvSpPr/>
          <p:nvPr/>
        </p:nvSpPr>
        <p:spPr>
          <a:xfrm>
            <a:off x="6208776" y="411480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FC36A"/>
                </a:solidFill>
                <a:latin typeface="Arial"/>
                <a:cs typeface="Arial"/>
              </a:rPr>
              <a:t>Changes from the original plan</a:t>
            </a:r>
          </a:p>
          <a:p>
            <a:pPr marL="0" indent="0" algn="l">
              <a:lnSpc>
                <a:spcPct val="110000"/>
              </a:lnSpc>
              <a:spcBef>
                <a:spcPts val="0"/>
              </a:spcBef>
              <a:spcAft>
                <a:spcPts val="0"/>
              </a:spcAft>
              <a:buNone/>
            </a:pPr>
            <a:r>
              <a:rPr lang="en-SG" sz="1400" b="0" i="0" dirty="0">
                <a:solidFill>
                  <a:srgbClr val="D6DDE8"/>
                </a:solidFill>
                <a:latin typeface="Arial"/>
                <a:cs typeface="Arial"/>
              </a:rPr>
              <a:t>The plan named GPT-6.1 Sol for the coding and receiving agents; the runs used Claude Opus 5.5. Five coding runs instead of three; two were added after the first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3502</Words>
  <Application>Microsoft Office PowerPoint</Application>
  <PresentationFormat>Widescreen</PresentationFormat>
  <Paragraphs>363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 Symbol</vt:lpstr>
      <vt:lpstr>Office Theme</vt:lpstr>
      <vt:lpstr>Free-form summaries vs structured checklists</vt:lpstr>
      <vt:lpstr>Our MP3 agents pass work along in handoffs</vt:lpstr>
      <vt:lpstr>A handoff squeezes a long history into a short note</vt:lpstr>
      <vt:lpstr>Which handoff format keeps more information?</vt:lpstr>
      <vt:lpstr>The task: fix five bugs in Deskmate’s LLM health check</vt:lpstr>
      <vt:lpstr>Three agents pass the work along</vt:lpstr>
      <vt:lpstr>Scoring: how many expected facts survived?</vt:lpstr>
      <vt:lpstr>GPT leaned free-form, Claude leaned checklist</vt:lpstr>
      <vt:lpstr>The real gap was in which facts survived</vt:lpstr>
      <vt:lpstr>The checklist kept the test results but lost the rules</vt:lpstr>
      <vt:lpstr>What this experiment can’t tell us</vt:lpstr>
      <vt:lpstr>Decide what goes into a handoff, not just how it looks</vt:lpstr>
      <vt:lpstr>Full results by model and format</vt:lpstr>
      <vt:lpstr>How the test was kept fair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revision>2</cp:revision>
  <dcterms:created xsi:type="dcterms:W3CDTF">2026-10-19T11:51:30Z</dcterms:created>
  <dcterms:modified xsi:type="dcterms:W3CDTF">2026-10-19T15:54:09Z</dcterms:modified>
</cp:coreProperties>
</file>