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2.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barChart>
        <c:barDir val="bar"/>
        <c:grouping val="clustered"/>
        <c:varyColors val="0"/>
        <c:ser>
          <c:idx val="0"/>
          <c:order val="0"/>
          <c:tx>
            <c:strRef>
              <c:f>Data!$B$1</c:f>
              <c:strCache>
                <c:ptCount val="1"/>
                <c:pt idx="0">
                  <c:v>Prose</c:v>
                </c:pt>
              </c:strCache>
            </c:strRef>
          </c:tx>
          <c:spPr>
            <a:solidFill>
              <a:srgbClr val="B9C4D5"/>
            </a:solidFill>
            <a:ln>
              <a:noFill/>
            </a:ln>
          </c:spPr>
          <c:invertIfNegative val="0"/>
          <c:dLbls>
            <c:numFmt formatCode="0.0%" sourceLinked="0"/>
            <c:spPr>
              <a:noFill/>
              <a:ln>
                <a:noFill/>
              </a:ln>
              <a:effectLst/>
            </c:spPr>
            <c:txPr>
              <a:bodyPr/>
              <a:lstStyle/>
              <a:p>
                <a:pPr>
                  <a:defRPr sz="1600">
                    <a:solidFill>
                      <a:srgbClr val="F5F3EB"/>
                    </a:solidFill>
                    <a:latin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Data!$A$2:$A$5</c:f>
              <c:strCache>
                <c:ptCount val="4"/>
                <c:pt idx="0">
                  <c:v>Sol 5.6</c:v>
                </c:pt>
                <c:pt idx="1">
                  <c:v>Luna 5.6</c:v>
                </c:pt>
                <c:pt idx="2">
                  <c:v>Opus 5.5</c:v>
                </c:pt>
                <c:pt idx="3">
                  <c:v>Sonnet 5.5</c:v>
                </c:pt>
              </c:strCache>
            </c:strRef>
          </c:cat>
          <c:val>
            <c:numRef>
              <c:f>Data!$B$2:$B$5</c:f>
              <c:numCache>
                <c:formatCode>0.0%</c:formatCode>
                <c:ptCount val="4"/>
                <c:pt idx="0">
                  <c:v>0.57352941176500005</c:v>
                </c:pt>
                <c:pt idx="1">
                  <c:v>0.47058823529400001</c:v>
                </c:pt>
                <c:pt idx="2">
                  <c:v>0.57352941176500005</c:v>
                </c:pt>
                <c:pt idx="3">
                  <c:v>0.54411764705900001</c:v>
                </c:pt>
              </c:numCache>
            </c:numRef>
          </c:val>
          <c:extLst>
            <c:ext xmlns:c16="http://schemas.microsoft.com/office/drawing/2014/chart" uri="{C3380CC4-5D6E-409C-BE32-E72D297353CC}">
              <c16:uniqueId val="{00000000-8285-4569-B065-21D2BCB8BD01}"/>
            </c:ext>
          </c:extLst>
        </c:ser>
        <c:ser>
          <c:idx val="1"/>
          <c:order val="1"/>
          <c:tx>
            <c:strRef>
              <c:f>Data!$C$1</c:f>
              <c:strCache>
                <c:ptCount val="1"/>
                <c:pt idx="0">
                  <c:v>Checklist</c:v>
                </c:pt>
              </c:strCache>
            </c:strRef>
          </c:tx>
          <c:spPr>
            <a:solidFill>
              <a:srgbClr val="69DECC"/>
            </a:solidFill>
            <a:ln>
              <a:noFill/>
            </a:ln>
          </c:spPr>
          <c:invertIfNegative val="0"/>
          <c:dLbls>
            <c:numFmt formatCode="0.0%" sourceLinked="0"/>
            <c:spPr>
              <a:noFill/>
              <a:ln>
                <a:noFill/>
              </a:ln>
              <a:effectLst/>
            </c:spPr>
            <c:txPr>
              <a:bodyPr/>
              <a:lstStyle/>
              <a:p>
                <a:pPr>
                  <a:defRPr sz="1600">
                    <a:solidFill>
                      <a:srgbClr val="F5F3EB"/>
                    </a:solidFill>
                    <a:latin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Data!$A$2:$A$5</c:f>
              <c:strCache>
                <c:ptCount val="4"/>
                <c:pt idx="0">
                  <c:v>Sol 5.6</c:v>
                </c:pt>
                <c:pt idx="1">
                  <c:v>Luna 5.6</c:v>
                </c:pt>
                <c:pt idx="2">
                  <c:v>Opus 5.5</c:v>
                </c:pt>
                <c:pt idx="3">
                  <c:v>Sonnet 5.5</c:v>
                </c:pt>
              </c:strCache>
            </c:strRef>
          </c:cat>
          <c:val>
            <c:numRef>
              <c:f>Data!$C$2:$C$5</c:f>
              <c:numCache>
                <c:formatCode>0.0%</c:formatCode>
                <c:ptCount val="4"/>
                <c:pt idx="0">
                  <c:v>0.53676470588199998</c:v>
                </c:pt>
                <c:pt idx="1">
                  <c:v>0.45588235294099999</c:v>
                </c:pt>
                <c:pt idx="2">
                  <c:v>0.58088235294099999</c:v>
                </c:pt>
                <c:pt idx="3">
                  <c:v>0.55147058823499995</c:v>
                </c:pt>
              </c:numCache>
            </c:numRef>
          </c:val>
          <c:extLst>
            <c:ext xmlns:c16="http://schemas.microsoft.com/office/drawing/2014/chart" uri="{C3380CC4-5D6E-409C-BE32-E72D297353CC}">
              <c16:uniqueId val="{00000001-8285-4569-B065-21D2BCB8BD01}"/>
            </c:ext>
          </c:extLst>
        </c:ser>
        <c:dLbls>
          <c:dLblPos val="outEnd"/>
          <c:showLegendKey val="0"/>
          <c:showVal val="1"/>
          <c:showCatName val="0"/>
          <c:showSerName val="0"/>
          <c:showPercent val="0"/>
          <c:showBubbleSize val="0"/>
        </c:dLbls>
        <c:gapWidth val="80"/>
        <c:axId val="10"/>
        <c:axId val="20"/>
      </c:barChart>
      <c:catAx>
        <c:axId val="10"/>
        <c:scaling>
          <c:orientation val="maxMin"/>
        </c:scaling>
        <c:delete val="0"/>
        <c:axPos val="l"/>
        <c:numFmt formatCode="General" sourceLinked="0"/>
        <c:majorTickMark val="none"/>
        <c:minorTickMark val="none"/>
        <c:tickLblPos val="nextTo"/>
        <c:spPr>
          <a:ln w="9525">
            <a:solidFill>
              <a:srgbClr val="3A4A63"/>
            </a:solidFill>
          </a:ln>
        </c:spPr>
        <c:txPr>
          <a:bodyPr/>
          <a:lstStyle/>
          <a:p>
            <a:pPr>
              <a:defRPr sz="1600">
                <a:solidFill>
                  <a:srgbClr val="F5F3EB"/>
                </a:solidFill>
                <a:latin typeface="Arial"/>
              </a:defRPr>
            </a:pPr>
            <a:endParaRPr lang="en-US"/>
          </a:p>
        </c:txPr>
        <c:crossAx val="20"/>
        <c:crosses val="autoZero"/>
        <c:auto val="1"/>
        <c:lblAlgn val="ctr"/>
        <c:lblOffset val="100"/>
        <c:noMultiLvlLbl val="1"/>
      </c:catAx>
      <c:valAx>
        <c:axId val="20"/>
        <c:scaling>
          <c:orientation val="minMax"/>
          <c:max val="1"/>
          <c:min val="0"/>
        </c:scaling>
        <c:delete val="0"/>
        <c:axPos val="b"/>
        <c:majorGridlines>
          <c:spPr>
            <a:ln w="6350">
              <a:solidFill>
                <a:srgbClr val="24334B"/>
              </a:solidFill>
            </a:ln>
          </c:spPr>
        </c:majorGridlines>
        <c:numFmt formatCode="0%" sourceLinked="0"/>
        <c:majorTickMark val="none"/>
        <c:minorTickMark val="none"/>
        <c:tickLblPos val="nextTo"/>
        <c:spPr>
          <a:ln>
            <a:noFill/>
          </a:ln>
        </c:spPr>
        <c:txPr>
          <a:bodyPr/>
          <a:lstStyle/>
          <a:p>
            <a:pPr>
              <a:defRPr sz="1600">
                <a:solidFill>
                  <a:srgbClr val="B9C4D5"/>
                </a:solidFill>
                <a:latin typeface="Arial"/>
              </a:defRPr>
            </a:pPr>
            <a:endParaRPr lang="en-US"/>
          </a:p>
        </c:txPr>
        <c:crossAx val="10"/>
        <c:crosses val="max"/>
        <c:crossBetween val="between"/>
        <c:majorUnit val="0.2"/>
      </c:valAx>
    </c:plotArea>
    <c:legend>
      <c:legendPos val="b"/>
      <c:overlay val="0"/>
      <c:txPr>
        <a:bodyPr/>
        <a:lstStyle/>
        <a:p>
          <a:pPr>
            <a:defRPr sz="1600">
              <a:solidFill>
                <a:srgbClr val="F5F3EB"/>
              </a:solidFill>
              <a:latin typeface="Arial"/>
            </a:defRPr>
          </a:pPr>
          <a:endParaRPr lang="en-US"/>
        </a:p>
      </c:txPr>
    </c:legend>
    <c:plotVisOnly val="1"/>
    <c:dispBlanksAs val="gap"/>
    <c:showDLblsOverMax val="0"/>
  </c:chart>
  <c:spPr>
    <a:noFill/>
    <a:ln>
      <a:noFill/>
    </a:ln>
  </c:spPr>
  <c:txPr>
    <a:bodyPr/>
    <a:lstStyle/>
    <a:p>
      <a:pPr>
        <a:defRPr sz="1600">
          <a:solidFill>
            <a:srgbClr val="F5F3EB"/>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19"/>
          <c:y val="0.02"/>
          <c:w val="0.72"/>
          <c:h val="0.86"/>
        </c:manualLayout>
      </c:layout>
      <c:barChart>
        <c:barDir val="bar"/>
        <c:grouping val="clustered"/>
        <c:varyColors val="0"/>
        <c:ser>
          <c:idx val="0"/>
          <c:order val="0"/>
          <c:tx>
            <c:strRef>
              <c:f>Data!$B$1</c:f>
              <c:strCache>
                <c:ptCount val="1"/>
                <c:pt idx="0">
                  <c:v>Recovery</c:v>
                </c:pt>
              </c:strCache>
            </c:strRef>
          </c:tx>
          <c:spPr>
            <a:solidFill>
              <a:srgbClr val="69DECC"/>
            </a:solidFill>
            <a:ln>
              <a:noFill/>
            </a:ln>
          </c:spPr>
          <c:invertIfNegative val="0"/>
          <c:dPt>
            <c:idx val="4"/>
            <c:invertIfNegative val="0"/>
            <c:bubble3D val="0"/>
            <c:spPr>
              <a:solidFill>
                <a:srgbClr val="FFC36A"/>
              </a:solidFill>
              <a:ln>
                <a:noFill/>
              </a:ln>
            </c:spPr>
          </c:dPt>
          <c:dLbls>
            <c:numFmt formatCode="0.0%" sourceLinked="0"/>
            <c:spPr>
              <a:noFill/>
              <a:ln>
                <a:noFill/>
              </a:ln>
              <a:effectLst/>
            </c:spPr>
            <c:txPr>
              <a:bodyPr/>
              <a:lstStyle/>
              <a:p>
                <a:pPr>
                  <a:defRPr sz="1600">
                    <a:solidFill>
                      <a:srgbClr val="F5F3EB"/>
                    </a:solidFill>
                    <a:latin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Data!$A$2:$A$7</c:f>
              <c:strCache>
                <c:ptCount val="6"/>
                <c:pt idx="0">
                  <c:v>Changed files</c:v>
                </c:pt>
                <c:pt idx="1">
                  <c:v>Checks / outcomes</c:v>
                </c:pt>
                <c:pt idx="2">
                  <c:v>Verification limits</c:v>
                </c:pt>
                <c:pt idx="3">
                  <c:v>Timeout reasoning</c:v>
                </c:pt>
                <c:pt idx="4">
                  <c:v>Success criteria</c:v>
                </c:pt>
                <c:pt idx="5">
                  <c:v>Proxy / headers</c:v>
                </c:pt>
              </c:strCache>
            </c:strRef>
          </c:cat>
          <c:val>
            <c:numRef>
              <c:f>Data!$B$2:$B$7</c:f>
              <c:numCache>
                <c:formatCode>0.0%</c:formatCode>
                <c:ptCount val="6"/>
                <c:pt idx="0">
                  <c:v>1</c:v>
                </c:pt>
                <c:pt idx="1">
                  <c:v>1</c:v>
                </c:pt>
                <c:pt idx="2">
                  <c:v>0.86458333333299997</c:v>
                </c:pt>
                <c:pt idx="3">
                  <c:v>0.45</c:v>
                </c:pt>
                <c:pt idx="4">
                  <c:v>1.1111111111100001E-2</c:v>
                </c:pt>
                <c:pt idx="5">
                  <c:v>1</c:v>
                </c:pt>
              </c:numCache>
            </c:numRef>
          </c:val>
          <c:extLst>
            <c:ext xmlns:c16="http://schemas.microsoft.com/office/drawing/2014/chart" uri="{C3380CC4-5D6E-409C-BE32-E72D297353CC}">
              <c16:uniqueId val="{00000000-2903-45DA-A470-FF4DD54A6783}"/>
            </c:ext>
          </c:extLst>
        </c:ser>
        <c:dLbls>
          <c:dLblPos val="outEnd"/>
          <c:showLegendKey val="0"/>
          <c:showVal val="1"/>
          <c:showCatName val="0"/>
          <c:showSerName val="0"/>
          <c:showPercent val="0"/>
          <c:showBubbleSize val="0"/>
        </c:dLbls>
        <c:gapWidth val="80"/>
        <c:axId val="10"/>
        <c:axId val="20"/>
      </c:barChart>
      <c:catAx>
        <c:axId val="10"/>
        <c:scaling>
          <c:orientation val="maxMin"/>
        </c:scaling>
        <c:delete val="0"/>
        <c:axPos val="l"/>
        <c:numFmt formatCode="General" sourceLinked="0"/>
        <c:majorTickMark val="none"/>
        <c:minorTickMark val="none"/>
        <c:tickLblPos val="nextTo"/>
        <c:spPr>
          <a:ln w="9525">
            <a:solidFill>
              <a:srgbClr val="3A4A63"/>
            </a:solidFill>
          </a:ln>
        </c:spPr>
        <c:txPr>
          <a:bodyPr/>
          <a:lstStyle/>
          <a:p>
            <a:pPr>
              <a:defRPr sz="1600">
                <a:solidFill>
                  <a:srgbClr val="F5F3EB"/>
                </a:solidFill>
                <a:latin typeface="Arial"/>
              </a:defRPr>
            </a:pPr>
            <a:endParaRPr lang="en-US"/>
          </a:p>
        </c:txPr>
        <c:crossAx val="20"/>
        <c:crosses val="autoZero"/>
        <c:auto val="1"/>
        <c:lblAlgn val="ctr"/>
        <c:lblOffset val="100"/>
        <c:noMultiLvlLbl val="1"/>
      </c:catAx>
      <c:valAx>
        <c:axId val="20"/>
        <c:scaling>
          <c:orientation val="minMax"/>
          <c:max val="1"/>
          <c:min val="0"/>
        </c:scaling>
        <c:delete val="0"/>
        <c:axPos val="b"/>
        <c:majorGridlines>
          <c:spPr>
            <a:ln w="6350">
              <a:solidFill>
                <a:srgbClr val="24334B"/>
              </a:solidFill>
            </a:ln>
          </c:spPr>
        </c:majorGridlines>
        <c:numFmt formatCode="0%" sourceLinked="0"/>
        <c:majorTickMark val="none"/>
        <c:minorTickMark val="none"/>
        <c:tickLblPos val="nextTo"/>
        <c:spPr>
          <a:ln>
            <a:noFill/>
          </a:ln>
        </c:spPr>
        <c:txPr>
          <a:bodyPr/>
          <a:lstStyle/>
          <a:p>
            <a:pPr>
              <a:defRPr sz="1600">
                <a:solidFill>
                  <a:srgbClr val="B9C4D5"/>
                </a:solidFill>
                <a:latin typeface="Arial"/>
              </a:defRPr>
            </a:pPr>
            <a:endParaRPr lang="en-US"/>
          </a:p>
        </c:txPr>
        <c:crossAx val="10"/>
        <c:crosses val="max"/>
        <c:crossBetween val="between"/>
        <c:majorUnit val="0.2"/>
      </c:valAx>
    </c:plotArea>
    <c:plotVisOnly val="1"/>
    <c:dispBlanksAs val="gap"/>
    <c:showDLblsOverMax val="0"/>
  </c:chart>
  <c:spPr>
    <a:noFill/>
    <a:ln>
      <a:noFill/>
    </a:ln>
  </c:spPr>
  <c:txPr>
    <a:bodyPr/>
    <a:lstStyle/>
    <a:p>
      <a:pPr>
        <a:defRPr sz="1600">
          <a:solidFill>
            <a:srgbClr val="F5F3EB"/>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AD5A2C-7A87-4C6E-B9D5-E78D2408C15A}" type="datetimeFigureOut">
              <a:rPr lang="en-SG" smtClean="0"/>
              <a:t>19/10/2026</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A976E82-AB8E-4592-BB13-A06718EC07DB}" type="slidenum">
              <a:rPr lang="en-SG" smtClean="0"/>
              <a:t>‹#›</a:t>
            </a:fld>
            <a:endParaRPr lang="en-SG"/>
          </a:p>
        </p:txBody>
      </p:sp>
    </p:spTree>
    <p:extLst>
      <p:ext uri="{BB962C8B-B14F-4D97-AF65-F5344CB8AC3E}">
        <p14:creationId xmlns:p14="http://schemas.microsoft.com/office/powerpoint/2010/main" val="28274797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20 seconds. I compared prose summaries with structured checklists to see how much useful task context a fresh agent can recover. Format alone gave no consistent advantage. The larger issue was which facts survived context compaction.</a:t>
            </a:r>
          </a:p>
          <a:p>
            <a:endParaRPr lang="en-US"/>
          </a:p>
          <a:p>
            <a:r>
              <a:rPr lang="en-US"/>
              <a:t>Sources:</a:t>
            </a:r>
          </a:p>
          <a:p>
            <a:r>
              <a:rPr lang="en-US"/>
              <a:t>{LOCAL_PATH} Notes.md sections 8, 9.1 and 9.2</a:t>
            </a:r>
          </a:p>
          <a:p>
            <a:r>
              <a:rPr lang="en-US"/>
              <a:t>{LOCAL_PATH}</a:t>
            </a:r>
            <a:endParaRPr lang="en-SG"/>
          </a:p>
        </p:txBody>
      </p:sp>
      <p:sp>
        <p:nvSpPr>
          <p:cNvPr id="4" name="Slide Number Placeholder 3"/>
          <p:cNvSpPr>
            <a:spLocks noGrp="1"/>
          </p:cNvSpPr>
          <p:nvPr>
            <p:ph type="sldNum" sz="quarter" idx="5"/>
          </p:nvPr>
        </p:nvSpPr>
        <p:spPr/>
        <p:txBody>
          <a:bodyPr/>
          <a:lstStyle/>
          <a:p>
            <a:fld id="{EA976E82-AB8E-4592-BB13-A06718EC07DB}" type="slidenum">
              <a:rPr lang="en-SG" smtClean="0"/>
              <a:t>1</a:t>
            </a:fld>
            <a:endParaRPr lang="en-SG"/>
          </a:p>
        </p:txBody>
      </p:sp>
    </p:spTree>
    <p:extLst>
      <p:ext uri="{BB962C8B-B14F-4D97-AF65-F5344CB8AC3E}">
        <p14:creationId xmlns:p14="http://schemas.microsoft.com/office/powerpoint/2010/main" val="14739789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25 seconds. Week 8 places handoffs in multi-agent coordination. Week 9 calls context engineering the curation of useful context within constraints. A short handoff performs context compaction. Here I measure recoverable context under a 200-word instruction. This connects to the lecture's recall-first advice: lost information cannot be recovered, while extra information can be pruned. The experiment assesses a handoff artefact, rather than an entire development workflow.</a:t>
            </a:r>
          </a:p>
          <a:p>
            <a:endParaRPr lang="en-US"/>
          </a:p>
          <a:p>
            <a:r>
              <a:rPr lang="en-US"/>
              <a:t>Sources:</a:t>
            </a:r>
          </a:p>
          <a:p>
            <a:r>
              <a:rPr lang="en-US"/>
              <a:t>{LOCAL_PATH} Notes.md section 8: Simple (Manual) Workflow and Handoff as a Skill</a:t>
            </a:r>
          </a:p>
          <a:p>
            <a:r>
              <a:rPr lang="en-US"/>
              <a:t>{LOCAL_PATH} Notes.md section 9.1: Context Engineering and Recall First</a:t>
            </a:r>
            <a:endParaRPr lang="en-SG"/>
          </a:p>
        </p:txBody>
      </p:sp>
      <p:sp>
        <p:nvSpPr>
          <p:cNvPr id="4" name="Slide Number Placeholder 3"/>
          <p:cNvSpPr>
            <a:spLocks noGrp="1"/>
          </p:cNvSpPr>
          <p:nvPr>
            <p:ph type="sldNum" sz="quarter" idx="5"/>
          </p:nvPr>
        </p:nvSpPr>
        <p:spPr/>
        <p:txBody>
          <a:bodyPr/>
          <a:lstStyle/>
          <a:p>
            <a:fld id="{EA976E82-AB8E-4592-BB13-A06718EC07DB}" type="slidenum">
              <a:rPr lang="en-SG" smtClean="0"/>
              <a:t>2</a:t>
            </a:fld>
            <a:endParaRPr lang="en-SG"/>
          </a:p>
        </p:txBody>
      </p:sp>
    </p:spTree>
    <p:extLst>
      <p:ext uri="{BB962C8B-B14F-4D97-AF65-F5344CB8AC3E}">
        <p14:creationId xmlns:p14="http://schemas.microsoft.com/office/powerpoint/2010/main" val="37626360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35 seconds. The task repairs the LLM health-check probe. Coding and receiving both use Opus 5.5. Each of five histories goes to four handoff models, with one fresh session per format. Both formats receive the same history. Separate receiving sessions see only one handoff and six questions. Nobody sees another handoff or the answer key. The receiver answers a quiz. It does not verify the repair, so this is not a generator-verifier feedback loop. Both prompts request the same content. Prose uses connected sentences. The checklist uses labelled fields such as inputs, changed files and checks.</a:t>
            </a:r>
          </a:p>
          <a:p>
            <a:endParaRPr lang="en-US"/>
          </a:p>
          <a:p>
            <a:r>
              <a:rPr lang="en-US"/>
              <a:t>Sources:</a:t>
            </a:r>
          </a:p>
          <a:p>
            <a:r>
              <a:rPr lang="en-US"/>
              <a:t>{LOCAL_PATH}</a:t>
            </a:r>
          </a:p>
          <a:p>
            <a:r>
              <a:rPr lang="en-US"/>
              <a:t>{LOCAL_PATH}</a:t>
            </a:r>
          </a:p>
          <a:p>
            <a:r>
              <a:rPr lang="en-US"/>
              <a:t>{LOCAL_PATH} Notes.md section 8: Generator-Verifier</a:t>
            </a:r>
            <a:endParaRPr lang="en-SG"/>
          </a:p>
        </p:txBody>
      </p:sp>
      <p:sp>
        <p:nvSpPr>
          <p:cNvPr id="4" name="Slide Number Placeholder 3"/>
          <p:cNvSpPr>
            <a:spLocks noGrp="1"/>
          </p:cNvSpPr>
          <p:nvPr>
            <p:ph type="sldNum" sz="quarter" idx="5"/>
          </p:nvPr>
        </p:nvSpPr>
        <p:spPr/>
        <p:txBody>
          <a:bodyPr/>
          <a:lstStyle/>
          <a:p>
            <a:fld id="{EA976E82-AB8E-4592-BB13-A06718EC07DB}" type="slidenum">
              <a:rPr lang="en-SG" smtClean="0"/>
              <a:t>3</a:t>
            </a:fld>
            <a:endParaRPr lang="en-SG"/>
          </a:p>
        </p:txBody>
      </p:sp>
    </p:spTree>
    <p:extLst>
      <p:ext uri="{BB962C8B-B14F-4D97-AF65-F5344CB8AC3E}">
        <p14:creationId xmlns:p14="http://schemas.microsoft.com/office/powerpoint/2010/main" val="39119422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30 seconds. Six neutral questions cover the work and its reasoning. Each history has a source-based answer key, frozen before that batch of handoffs. Facts receive correct, not stated or wrong. Explicit evidence anywhere in the full quiz or its quotes earns credit. Histories contain 27, 27, 28, 27 and 27 expected facts. Each model-format score therefore pools 136 judgments over five quizzes. These are pooled totals, not averages or five reruns of an identical history.</a:t>
            </a:r>
          </a:p>
          <a:p>
            <a:endParaRPr lang="en-US"/>
          </a:p>
          <a:p>
            <a:r>
              <a:rPr lang="en-US"/>
              <a:t>Sources:</a:t>
            </a:r>
          </a:p>
          <a:p>
            <a:r>
              <a:rPr lang="en-US"/>
              <a:t>{LOCAL_PATH}</a:t>
            </a:r>
          </a:p>
          <a:p>
            <a:r>
              <a:rPr lang="en-US"/>
              <a:t>{LOCAL_PATH}</a:t>
            </a:r>
          </a:p>
          <a:p>
            <a:r>
              <a:rPr lang="en-US"/>
              <a:t>{LOCAL_PATH} Notes.md section 2: Testing Loop</a:t>
            </a:r>
            <a:endParaRPr lang="en-SG"/>
          </a:p>
        </p:txBody>
      </p:sp>
      <p:sp>
        <p:nvSpPr>
          <p:cNvPr id="4" name="Slide Number Placeholder 3"/>
          <p:cNvSpPr>
            <a:spLocks noGrp="1"/>
          </p:cNvSpPr>
          <p:nvPr>
            <p:ph type="sldNum" sz="quarter" idx="5"/>
          </p:nvPr>
        </p:nvSpPr>
        <p:spPr/>
        <p:txBody>
          <a:bodyPr/>
          <a:lstStyle/>
          <a:p>
            <a:fld id="{EA976E82-AB8E-4592-BB13-A06718EC07DB}" type="slidenum">
              <a:rPr lang="en-SG" smtClean="0"/>
              <a:t>4</a:t>
            </a:fld>
            <a:endParaRPr lang="en-SG"/>
          </a:p>
        </p:txBody>
      </p:sp>
    </p:spTree>
    <p:extLst>
      <p:ext uri="{BB962C8B-B14F-4D97-AF65-F5344CB8AC3E}">
        <p14:creationId xmlns:p14="http://schemas.microsoft.com/office/powerpoint/2010/main" val="7261060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35 seconds. Every bar uses the same 136 expected facts. Sol recovers 78 with prose and 73 with a checklist. Luna recovers 64 versus 62. Opus recovers 78 versus 79, and Sonnet 74 versus 75. The small differences point in different directions. This does not establish a universal format or model winner. These primary scores retain all outputs, including handoffs that exceeded the word budget.</a:t>
            </a:r>
          </a:p>
          <a:p>
            <a:endParaRPr lang="en-US"/>
          </a:p>
          <a:p>
            <a:r>
              <a:rPr lang="en-US"/>
              <a:t>Sources:</a:t>
            </a:r>
          </a:p>
          <a:p>
            <a:r>
              <a:rPr lang="en-US"/>
              <a:t>{LOCAL_PATH}</a:t>
            </a:r>
          </a:p>
          <a:p>
            <a:r>
              <a:rPr lang="en-US"/>
              <a:t>{LOCAL_PATH}</a:t>
            </a:r>
            <a:endParaRPr lang="en-SG"/>
          </a:p>
        </p:txBody>
      </p:sp>
      <p:sp>
        <p:nvSpPr>
          <p:cNvPr id="4" name="Slide Number Placeholder 3"/>
          <p:cNvSpPr>
            <a:spLocks noGrp="1"/>
          </p:cNvSpPr>
          <p:nvPr>
            <p:ph type="sldNum" sz="quarter" idx="5"/>
          </p:nvPr>
        </p:nvSpPr>
        <p:spPr/>
        <p:txBody>
          <a:bodyPr/>
          <a:lstStyle/>
          <a:p>
            <a:fld id="{EA976E82-AB8E-4592-BB13-A06718EC07DB}" type="slidenum">
              <a:rPr lang="en-SG" smtClean="0"/>
              <a:t>5</a:t>
            </a:fld>
            <a:endParaRPr lang="en-SG"/>
          </a:p>
        </p:txBody>
      </p:sp>
    </p:spTree>
    <p:extLst>
      <p:ext uri="{BB962C8B-B14F-4D97-AF65-F5344CB8AC3E}">
        <p14:creationId xmlns:p14="http://schemas.microsoft.com/office/powerpoint/2010/main" val="244150717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25 seconds. After viewing the first three results, I added two fresh coding histories. This is an exploratory extension. The table shows checklist minus prose in percentage points. A positive value favours checklist. Luna changes direction. Opus and Sonnet finish with a checklist lead of only one fact each. Prompts and original judgments stay unchanged. This sensitivity supports a narrow conclusion.</a:t>
            </a:r>
          </a:p>
          <a:p>
            <a:endParaRPr lang="en-US"/>
          </a:p>
          <a:p>
            <a:r>
              <a:rPr lang="en-US"/>
              <a:t>Sources:</a:t>
            </a:r>
          </a:p>
          <a:p>
            <a:r>
              <a:rPr lang="en-US"/>
              <a:t>{LOCAL_PATH}</a:t>
            </a:r>
          </a:p>
          <a:p>
            <a:r>
              <a:rPr lang="en-US"/>
              <a:t>{LOCAL_PATH}</a:t>
            </a:r>
          </a:p>
          <a:p>
            <a:r>
              <a:rPr lang="en-US"/>
              <a:t>{LOCAL_PATH}</a:t>
            </a:r>
            <a:endParaRPr lang="en-SG"/>
          </a:p>
        </p:txBody>
      </p:sp>
      <p:sp>
        <p:nvSpPr>
          <p:cNvPr id="4" name="Slide Number Placeholder 3"/>
          <p:cNvSpPr>
            <a:spLocks noGrp="1"/>
          </p:cNvSpPr>
          <p:nvPr>
            <p:ph type="sldNum" sz="quarter" idx="5"/>
          </p:nvPr>
        </p:nvSpPr>
        <p:spPr/>
        <p:txBody>
          <a:bodyPr/>
          <a:lstStyle/>
          <a:p>
            <a:fld id="{EA976E82-AB8E-4592-BB13-A06718EC07DB}" type="slidenum">
              <a:rPr lang="en-SG" smtClean="0"/>
              <a:t>6</a:t>
            </a:fld>
            <a:endParaRPr lang="en-SG"/>
          </a:p>
        </p:txBody>
      </p:sp>
    </p:spTree>
    <p:extLst>
      <p:ext uri="{BB962C8B-B14F-4D97-AF65-F5344CB8AC3E}">
        <p14:creationId xmlns:p14="http://schemas.microsoft.com/office/powerpoint/2010/main" val="38388464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30 seconds. This real Sol checklist preserves the test result, which the receiver repeats correctly. But Q5 says the success criteria are not stated. One of nine success facts, the 65,536-byte limit, survives in the test-coverage answer. Full-quiz scoring credits that fact even though it appears under Q2. So a readable checklist still needs the right content. These are partial excerpts. The outcome is one of nine Q5 facts recovered.</a:t>
            </a:r>
          </a:p>
          <a:p>
            <a:endParaRPr lang="en-US"/>
          </a:p>
          <a:p>
            <a:r>
              <a:rPr lang="en-US"/>
              <a:t>Sources:</a:t>
            </a:r>
          </a:p>
          <a:p>
            <a:r>
              <a:rPr lang="en-US"/>
              <a:t>{LOCAL_PATH}</a:t>
            </a:r>
          </a:p>
          <a:p>
            <a:r>
              <a:rPr lang="en-US"/>
              <a:t>{LOCAL_PATH}</a:t>
            </a:r>
          </a:p>
          <a:p>
            <a:r>
              <a:rPr lang="en-US"/>
              <a:t>{LOCAL_PATH}</a:t>
            </a:r>
            <a:endParaRPr lang="en-SG"/>
          </a:p>
        </p:txBody>
      </p:sp>
      <p:sp>
        <p:nvSpPr>
          <p:cNvPr id="4" name="Slide Number Placeholder 3"/>
          <p:cNvSpPr>
            <a:spLocks noGrp="1"/>
          </p:cNvSpPr>
          <p:nvPr>
            <p:ph type="sldNum" sz="quarter" idx="5"/>
          </p:nvPr>
        </p:nvSpPr>
        <p:spPr/>
        <p:txBody>
          <a:bodyPr/>
          <a:lstStyle/>
          <a:p>
            <a:fld id="{EA976E82-AB8E-4592-BB13-A06718EC07DB}" type="slidenum">
              <a:rPr lang="en-SG" smtClean="0"/>
              <a:t>7</a:t>
            </a:fld>
            <a:endParaRPr lang="en-SG"/>
          </a:p>
        </p:txBody>
      </p:sp>
    </p:spTree>
    <p:extLst>
      <p:ext uri="{BB962C8B-B14F-4D97-AF65-F5344CB8AC3E}">
        <p14:creationId xmlns:p14="http://schemas.microsoft.com/office/powerpoint/2010/main" val="19992920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30 seconds. Topic differences are much larger than format differences. Across 40 quizzes, only four of 360 success-criteria facts survive. The shared handoff prompt asks for a work summary and does not explicitly ask for every quiz topic. This pipeline cannot isolate which losses came from the writer versus the receiver. No expected fact was scored wrong, but separate review found other inaccuracies. That zero does not mean every statement was error-free.</a:t>
            </a:r>
          </a:p>
          <a:p>
            <a:endParaRPr lang="en-US"/>
          </a:p>
          <a:p>
            <a:r>
              <a:rPr lang="en-US"/>
              <a:t>Sources:</a:t>
            </a:r>
          </a:p>
          <a:p>
            <a:r>
              <a:rPr lang="en-US"/>
              <a:t>{LOCAL_PATH}</a:t>
            </a:r>
          </a:p>
          <a:p>
            <a:r>
              <a:rPr lang="en-US"/>
              <a:t>{LOCAL_PATH}</a:t>
            </a:r>
          </a:p>
          <a:p>
            <a:r>
              <a:rPr lang="en-US"/>
              <a:t>{LOCAL_PATH}</a:t>
            </a:r>
            <a:endParaRPr lang="en-SG"/>
          </a:p>
        </p:txBody>
      </p:sp>
      <p:sp>
        <p:nvSpPr>
          <p:cNvPr id="4" name="Slide Number Placeholder 3"/>
          <p:cNvSpPr>
            <a:spLocks noGrp="1"/>
          </p:cNvSpPr>
          <p:nvPr>
            <p:ph type="sldNum" sz="quarter" idx="5"/>
          </p:nvPr>
        </p:nvSpPr>
        <p:spPr/>
        <p:txBody>
          <a:bodyPr/>
          <a:lstStyle/>
          <a:p>
            <a:fld id="{EA976E82-AB8E-4592-BB13-A06718EC07DB}" type="slidenum">
              <a:rPr lang="en-SG" smtClean="0"/>
              <a:t>8</a:t>
            </a:fld>
            <a:endParaRPr lang="en-SG"/>
          </a:p>
        </p:txBody>
      </p:sp>
    </p:spTree>
    <p:extLst>
      <p:ext uri="{BB962C8B-B14F-4D97-AF65-F5344CB8AC3E}">
        <p14:creationId xmlns:p14="http://schemas.microsoft.com/office/powerpoint/2010/main" val="25331108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35 seconds. Twelve handoffs exceed 200 words. Both formats must comply for a pair to count here. Sol and Luna retain five pairs each, Opus none, and Sonnet one. The primary comparison therefore includes unequal lengths. We also have one repair task and unblinded grading by the Codex assistant. Five shared histories and many fact rows are not independent task replications. The result concerns recoverable context in this setup, not general coding reliability.</a:t>
            </a:r>
          </a:p>
          <a:p>
            <a:endParaRPr lang="en-US"/>
          </a:p>
          <a:p>
            <a:r>
              <a:rPr lang="en-US"/>
              <a:t>Sources:</a:t>
            </a:r>
          </a:p>
          <a:p>
            <a:r>
              <a:rPr lang="en-US"/>
              <a:t>{LOCAL_PATH}</a:t>
            </a:r>
          </a:p>
          <a:p>
            <a:r>
              <a:rPr lang="en-US"/>
              <a:t>{LOCAL_PATH}</a:t>
            </a:r>
          </a:p>
          <a:p>
            <a:r>
              <a:rPr lang="en-US"/>
              <a:t>{LOCAL_PATH}</a:t>
            </a:r>
            <a:endParaRPr lang="en-SG"/>
          </a:p>
        </p:txBody>
      </p:sp>
      <p:sp>
        <p:nvSpPr>
          <p:cNvPr id="4" name="Slide Number Placeholder 3"/>
          <p:cNvSpPr>
            <a:spLocks noGrp="1"/>
          </p:cNvSpPr>
          <p:nvPr>
            <p:ph type="sldNum" sz="quarter" idx="5"/>
          </p:nvPr>
        </p:nvSpPr>
        <p:spPr/>
        <p:txBody>
          <a:bodyPr/>
          <a:lstStyle/>
          <a:p>
            <a:fld id="{EA976E82-AB8E-4592-BB13-A06718EC07DB}" type="slidenum">
              <a:rPr lang="en-SG" smtClean="0"/>
              <a:t>9</a:t>
            </a:fld>
            <a:endParaRPr lang="en-SG"/>
          </a:p>
        </p:txBody>
      </p:sp>
    </p:spTree>
    <p:extLst>
      <p:ext uri="{BB962C8B-B14F-4D97-AF65-F5344CB8AC3E}">
        <p14:creationId xmlns:p14="http://schemas.microsoft.com/office/powerpoint/2010/main" val="36086873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25 seconds. This experiment found no consistent checklist benefit. The omitted success criteria illustrate why the lecture says recall first. Next I would test structured note taking with an explicit success-criteria field, or just-in-time retrieval of a referenced contract. Neither improvement is proven here. I would compare them under an enforced budget, across more tasks and with blinded grading. The target is useful context that the next agent can actually recover.</a:t>
            </a:r>
          </a:p>
          <a:p>
            <a:endParaRPr lang="en-US"/>
          </a:p>
          <a:p>
            <a:r>
              <a:rPr lang="en-US"/>
              <a:t>Sources:</a:t>
            </a:r>
          </a:p>
          <a:p>
            <a:r>
              <a:rPr lang="en-US"/>
              <a:t>{LOCAL_PATH} Notes.md section 9.1: Recall First, Structured Note Taking, Just-in-Time Retrieval</a:t>
            </a:r>
          </a:p>
          <a:p>
            <a:r>
              <a:rPr lang="en-US"/>
              <a:t>{LOCAL_PATH}</a:t>
            </a:r>
            <a:endParaRPr lang="en-SG"/>
          </a:p>
        </p:txBody>
      </p:sp>
      <p:sp>
        <p:nvSpPr>
          <p:cNvPr id="4" name="Slide Number Placeholder 3"/>
          <p:cNvSpPr>
            <a:spLocks noGrp="1"/>
          </p:cNvSpPr>
          <p:nvPr>
            <p:ph type="sldNum" sz="quarter" idx="5"/>
          </p:nvPr>
        </p:nvSpPr>
        <p:spPr/>
        <p:txBody>
          <a:bodyPr/>
          <a:lstStyle/>
          <a:p>
            <a:fld id="{EA976E82-AB8E-4592-BB13-A06718EC07DB}" type="slidenum">
              <a:rPr lang="en-SG" smtClean="0"/>
              <a:t>10</a:t>
            </a:fld>
            <a:endParaRPr lang="en-SG"/>
          </a:p>
        </p:txBody>
      </p:sp>
    </p:spTree>
    <p:extLst>
      <p:ext uri="{BB962C8B-B14F-4D97-AF65-F5344CB8AC3E}">
        <p14:creationId xmlns:p14="http://schemas.microsoft.com/office/powerpoint/2010/main" val="161688905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Backup slide for questions after the five-minute main presentation.</a:t>
            </a:r>
          </a:p>
          <a:p>
            <a:endParaRPr lang="en-US"/>
          </a:p>
          <a:p>
            <a:r>
              <a:rPr lang="en-US"/>
              <a:t>Use for questions. Each original cell pools 82 expected facts, the added two pool 54, and the expanded cell pools 136. Values are totals and rates, rather than averages. The original 656 labels remain unchanged, and 432 new judgments produce 1,088 total. All source data retain full precision. The main slides and this table round percentages to one decimal place.</a:t>
            </a:r>
          </a:p>
          <a:p>
            <a:endParaRPr lang="en-US"/>
          </a:p>
          <a:p>
            <a:r>
              <a:rPr lang="en-US"/>
              <a:t>Sources:</a:t>
            </a:r>
          </a:p>
          <a:p>
            <a:r>
              <a:rPr lang="en-US"/>
              <a:t>{LOCAL_PATH}</a:t>
            </a:r>
          </a:p>
          <a:p>
            <a:r>
              <a:rPr lang="en-US"/>
              <a:t>{LOCAL_PATH}</a:t>
            </a:r>
            <a:endParaRPr lang="en-SG"/>
          </a:p>
        </p:txBody>
      </p:sp>
      <p:sp>
        <p:nvSpPr>
          <p:cNvPr id="4" name="Slide Number Placeholder 3"/>
          <p:cNvSpPr>
            <a:spLocks noGrp="1"/>
          </p:cNvSpPr>
          <p:nvPr>
            <p:ph type="sldNum" sz="quarter" idx="5"/>
          </p:nvPr>
        </p:nvSpPr>
        <p:spPr/>
        <p:txBody>
          <a:bodyPr/>
          <a:lstStyle/>
          <a:p>
            <a:fld id="{EA976E82-AB8E-4592-BB13-A06718EC07DB}" type="slidenum">
              <a:rPr lang="en-SG" smtClean="0"/>
              <a:t>11</a:t>
            </a:fld>
            <a:endParaRPr lang="en-SG"/>
          </a:p>
        </p:txBody>
      </p:sp>
    </p:spTree>
    <p:extLst>
      <p:ext uri="{BB962C8B-B14F-4D97-AF65-F5344CB8AC3E}">
        <p14:creationId xmlns:p14="http://schemas.microsoft.com/office/powerpoint/2010/main" val="30480649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Backup slide for questions after the five-minute main presentation.</a:t>
            </a:r>
          </a:p>
          <a:p>
            <a:endParaRPr lang="en-US"/>
          </a:p>
          <a:p>
            <a:r>
              <a:rPr lang="en-US"/>
              <a:t>Actual fixed model: claude-opus-5-5. Handoff IDs: gpt-5.6-sol, gpt-5.6-luna, claude-opus-5-5 and claude-sonnet-5-5. The user authorised fixed Opus roles and audited OpenAI sessions. All use medium effort, which does not imply equal compute across providers. Temperature is not exposed. Immutable service snapshots are not guaranteed. All five repairs pass the same 30 offline tests. The visible native-client audit covers 110 scored calls with zero forbidden native events or incomplete audits. The coding harness separately permits only whitelisted read/write/test actions. Claude exposes no tools. OpenAI schemas remain available under the accepted exception. An earlier transcript-rendering correction excluded eight preliminary handoffs. The extension excluded an incomplete setup attempt before scored handoffs. Raw excluded evidence is preserved. Reference repairs and credential files are absent from the shareable bundle. The receiving quiz measures recoverable context, not downstream task execution or independent code verification.</a:t>
            </a:r>
          </a:p>
          <a:p>
            <a:endParaRPr lang="en-US"/>
          </a:p>
          <a:p>
            <a:r>
              <a:rPr lang="en-US"/>
              <a:t>Sources:</a:t>
            </a:r>
          </a:p>
          <a:p>
            <a:r>
              <a:rPr lang="en-US"/>
              <a:t>{LOCAL_PATH}</a:t>
            </a:r>
          </a:p>
          <a:p>
            <a:r>
              <a:rPr lang="en-US"/>
              <a:t>{LOCAL_PATH}</a:t>
            </a:r>
          </a:p>
          <a:p>
            <a:r>
              <a:rPr lang="en-US"/>
              <a:t>{LOCAL_PATH}</a:t>
            </a:r>
          </a:p>
          <a:p>
            <a:r>
              <a:rPr lang="en-US"/>
              <a:t>{LOCAL_PATH}</a:t>
            </a:r>
            <a:endParaRPr lang="en-SG"/>
          </a:p>
        </p:txBody>
      </p:sp>
      <p:sp>
        <p:nvSpPr>
          <p:cNvPr id="4" name="Slide Number Placeholder 3"/>
          <p:cNvSpPr>
            <a:spLocks noGrp="1"/>
          </p:cNvSpPr>
          <p:nvPr>
            <p:ph type="sldNum" sz="quarter" idx="5"/>
          </p:nvPr>
        </p:nvSpPr>
        <p:spPr/>
        <p:txBody>
          <a:bodyPr/>
          <a:lstStyle/>
          <a:p>
            <a:fld id="{EA976E82-AB8E-4592-BB13-A06718EC07DB}" type="slidenum">
              <a:rPr lang="en-SG" smtClean="0"/>
              <a:t>12</a:t>
            </a:fld>
            <a:endParaRPr lang="en-SG"/>
          </a:p>
        </p:txBody>
      </p:sp>
    </p:spTree>
    <p:extLst>
      <p:ext uri="{BB962C8B-B14F-4D97-AF65-F5344CB8AC3E}">
        <p14:creationId xmlns:p14="http://schemas.microsoft.com/office/powerpoint/2010/main" val="11451178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24528-5EA7-4362-5A23-EA2A666363E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G"/>
          </a:p>
        </p:txBody>
      </p:sp>
      <p:sp>
        <p:nvSpPr>
          <p:cNvPr id="3" name="Subtitle 2">
            <a:extLst>
              <a:ext uri="{FF2B5EF4-FFF2-40B4-BE49-F238E27FC236}">
                <a16:creationId xmlns:a16="http://schemas.microsoft.com/office/drawing/2014/main" id="{969AF17C-B608-8D30-C1D6-18BC2233DA0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G"/>
          </a:p>
        </p:txBody>
      </p:sp>
      <p:sp>
        <p:nvSpPr>
          <p:cNvPr id="4" name="Date Placeholder 3">
            <a:extLst>
              <a:ext uri="{FF2B5EF4-FFF2-40B4-BE49-F238E27FC236}">
                <a16:creationId xmlns:a16="http://schemas.microsoft.com/office/drawing/2014/main" id="{3BFD0502-52DA-4EB5-A359-D8BC8521EE3E}"/>
              </a:ext>
            </a:extLst>
          </p:cNvPr>
          <p:cNvSpPr>
            <a:spLocks noGrp="1"/>
          </p:cNvSpPr>
          <p:nvPr>
            <p:ph type="dt" sz="half" idx="10"/>
          </p:nvPr>
        </p:nvSpPr>
        <p:spPr/>
        <p:txBody>
          <a:bodyPr/>
          <a:lstStyle/>
          <a:p>
            <a:fld id="{61668A28-7029-416B-BE36-2AAE1D402D3B}" type="datetimeFigureOut">
              <a:rPr lang="en-SG" smtClean="0"/>
              <a:t>19/10/2026</a:t>
            </a:fld>
            <a:endParaRPr lang="en-SG"/>
          </a:p>
        </p:txBody>
      </p:sp>
      <p:sp>
        <p:nvSpPr>
          <p:cNvPr id="5" name="Footer Placeholder 4">
            <a:extLst>
              <a:ext uri="{FF2B5EF4-FFF2-40B4-BE49-F238E27FC236}">
                <a16:creationId xmlns:a16="http://schemas.microsoft.com/office/drawing/2014/main" id="{3EBD9625-46CE-5F26-5ADF-3A2E6CD003FC}"/>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EEF78864-E1F7-7CF9-2814-40ABA8AC8784}"/>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24451042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E93B83-4DE2-0521-40D5-5CB13CF25342}"/>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id="{8ED1245E-23D2-5A8D-1C88-0F35A7CF1C4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E6984054-3CA9-56EB-F428-5DE9D8D1D1DD}"/>
              </a:ext>
            </a:extLst>
          </p:cNvPr>
          <p:cNvSpPr>
            <a:spLocks noGrp="1"/>
          </p:cNvSpPr>
          <p:nvPr>
            <p:ph type="dt" sz="half" idx="10"/>
          </p:nvPr>
        </p:nvSpPr>
        <p:spPr/>
        <p:txBody>
          <a:bodyPr/>
          <a:lstStyle/>
          <a:p>
            <a:fld id="{61668A28-7029-416B-BE36-2AAE1D402D3B}" type="datetimeFigureOut">
              <a:rPr lang="en-SG" smtClean="0"/>
              <a:t>19/10/2026</a:t>
            </a:fld>
            <a:endParaRPr lang="en-SG"/>
          </a:p>
        </p:txBody>
      </p:sp>
      <p:sp>
        <p:nvSpPr>
          <p:cNvPr id="5" name="Footer Placeholder 4">
            <a:extLst>
              <a:ext uri="{FF2B5EF4-FFF2-40B4-BE49-F238E27FC236}">
                <a16:creationId xmlns:a16="http://schemas.microsoft.com/office/drawing/2014/main" id="{6FDDE685-866C-5E4D-181C-7412BB54A92A}"/>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C1BB3E6B-ED1A-7344-7534-10B8BF4FB98B}"/>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30295230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47039E-0B8E-0459-0429-B85AB1EDA76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G"/>
          </a:p>
        </p:txBody>
      </p:sp>
      <p:sp>
        <p:nvSpPr>
          <p:cNvPr id="3" name="Text Placeholder 2">
            <a:extLst>
              <a:ext uri="{FF2B5EF4-FFF2-40B4-BE49-F238E27FC236}">
                <a16:creationId xmlns:a16="http://schemas.microsoft.com/office/drawing/2014/main" id="{08D52ECC-5D1B-B729-09DA-0B4ACA284F9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C2BB8BE-54A3-97DE-9274-32896E5FC39A}"/>
              </a:ext>
            </a:extLst>
          </p:cNvPr>
          <p:cNvSpPr>
            <a:spLocks noGrp="1"/>
          </p:cNvSpPr>
          <p:nvPr>
            <p:ph type="dt" sz="half" idx="10"/>
          </p:nvPr>
        </p:nvSpPr>
        <p:spPr/>
        <p:txBody>
          <a:bodyPr/>
          <a:lstStyle/>
          <a:p>
            <a:fld id="{61668A28-7029-416B-BE36-2AAE1D402D3B}" type="datetimeFigureOut">
              <a:rPr lang="en-SG" smtClean="0"/>
              <a:t>19/10/2026</a:t>
            </a:fld>
            <a:endParaRPr lang="en-SG"/>
          </a:p>
        </p:txBody>
      </p:sp>
      <p:sp>
        <p:nvSpPr>
          <p:cNvPr id="5" name="Footer Placeholder 4">
            <a:extLst>
              <a:ext uri="{FF2B5EF4-FFF2-40B4-BE49-F238E27FC236}">
                <a16:creationId xmlns:a16="http://schemas.microsoft.com/office/drawing/2014/main" id="{F0F25C86-18FD-5051-D134-C133558512A1}"/>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8867A485-219F-4DC2-6D03-3A509D9B2E78}"/>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38921809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76F17E-8E42-2FA3-F221-58871A5632B0}"/>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id="{DC7A5251-A9B7-9E0D-32EC-B20ACDC325D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Content Placeholder 3">
            <a:extLst>
              <a:ext uri="{FF2B5EF4-FFF2-40B4-BE49-F238E27FC236}">
                <a16:creationId xmlns:a16="http://schemas.microsoft.com/office/drawing/2014/main" id="{2D303A18-026E-522F-06B2-E3A4B2A2D89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Date Placeholder 4">
            <a:extLst>
              <a:ext uri="{FF2B5EF4-FFF2-40B4-BE49-F238E27FC236}">
                <a16:creationId xmlns:a16="http://schemas.microsoft.com/office/drawing/2014/main" id="{E9866F60-FC05-8BAC-D9F2-4484849B7AE2}"/>
              </a:ext>
            </a:extLst>
          </p:cNvPr>
          <p:cNvSpPr>
            <a:spLocks noGrp="1"/>
          </p:cNvSpPr>
          <p:nvPr>
            <p:ph type="dt" sz="half" idx="10"/>
          </p:nvPr>
        </p:nvSpPr>
        <p:spPr/>
        <p:txBody>
          <a:bodyPr/>
          <a:lstStyle/>
          <a:p>
            <a:fld id="{61668A28-7029-416B-BE36-2AAE1D402D3B}" type="datetimeFigureOut">
              <a:rPr lang="en-SG" smtClean="0"/>
              <a:t>19/10/2026</a:t>
            </a:fld>
            <a:endParaRPr lang="en-SG"/>
          </a:p>
        </p:txBody>
      </p:sp>
      <p:sp>
        <p:nvSpPr>
          <p:cNvPr id="6" name="Footer Placeholder 5">
            <a:extLst>
              <a:ext uri="{FF2B5EF4-FFF2-40B4-BE49-F238E27FC236}">
                <a16:creationId xmlns:a16="http://schemas.microsoft.com/office/drawing/2014/main" id="{D80B910C-0D6E-8E60-B423-100DB559B29C}"/>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8F297A1F-871F-1A42-989A-F60FF2B8F0B7}"/>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28422843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2FEB98-1C3C-8B25-E832-34E424F95624}"/>
              </a:ext>
            </a:extLst>
          </p:cNvPr>
          <p:cNvSpPr>
            <a:spLocks noGrp="1"/>
          </p:cNvSpPr>
          <p:nvPr>
            <p:ph type="title"/>
          </p:nvPr>
        </p:nvSpPr>
        <p:spPr>
          <a:xfrm>
            <a:off x="839788" y="365125"/>
            <a:ext cx="10515600" cy="1325563"/>
          </a:xfrm>
        </p:spPr>
        <p:txBody>
          <a:bodyPr/>
          <a:lstStyle/>
          <a:p>
            <a:r>
              <a:rPr lang="en-US"/>
              <a:t>Click to edit Master title style</a:t>
            </a:r>
            <a:endParaRPr lang="en-SG"/>
          </a:p>
        </p:txBody>
      </p:sp>
      <p:sp>
        <p:nvSpPr>
          <p:cNvPr id="3" name="Text Placeholder 2">
            <a:extLst>
              <a:ext uri="{FF2B5EF4-FFF2-40B4-BE49-F238E27FC236}">
                <a16:creationId xmlns:a16="http://schemas.microsoft.com/office/drawing/2014/main" id="{27F6D02A-6771-8EF7-0D42-891F34568EF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4DABD78-E2C8-6860-AF6E-65790420A60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Text Placeholder 4">
            <a:extLst>
              <a:ext uri="{FF2B5EF4-FFF2-40B4-BE49-F238E27FC236}">
                <a16:creationId xmlns:a16="http://schemas.microsoft.com/office/drawing/2014/main" id="{A548B9E9-F772-4D4D-C3E2-BA6B858C6E7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AD3904C-D675-D6DC-7F5E-A70508CE53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Date Placeholder 6">
            <a:extLst>
              <a:ext uri="{FF2B5EF4-FFF2-40B4-BE49-F238E27FC236}">
                <a16:creationId xmlns:a16="http://schemas.microsoft.com/office/drawing/2014/main" id="{5FFCE63F-62B1-E31D-DF17-D88FF4C54D04}"/>
              </a:ext>
            </a:extLst>
          </p:cNvPr>
          <p:cNvSpPr>
            <a:spLocks noGrp="1"/>
          </p:cNvSpPr>
          <p:nvPr>
            <p:ph type="dt" sz="half" idx="10"/>
          </p:nvPr>
        </p:nvSpPr>
        <p:spPr/>
        <p:txBody>
          <a:bodyPr/>
          <a:lstStyle/>
          <a:p>
            <a:fld id="{61668A28-7029-416B-BE36-2AAE1D402D3B}" type="datetimeFigureOut">
              <a:rPr lang="en-SG" smtClean="0"/>
              <a:t>19/10/2026</a:t>
            </a:fld>
            <a:endParaRPr lang="en-SG"/>
          </a:p>
        </p:txBody>
      </p:sp>
      <p:sp>
        <p:nvSpPr>
          <p:cNvPr id="8" name="Footer Placeholder 7">
            <a:extLst>
              <a:ext uri="{FF2B5EF4-FFF2-40B4-BE49-F238E27FC236}">
                <a16:creationId xmlns:a16="http://schemas.microsoft.com/office/drawing/2014/main" id="{398B139E-A810-3CB2-D58E-35AC1EC88C59}"/>
              </a:ext>
            </a:extLst>
          </p:cNvPr>
          <p:cNvSpPr>
            <a:spLocks noGrp="1"/>
          </p:cNvSpPr>
          <p:nvPr>
            <p:ph type="ftr" sz="quarter" idx="11"/>
          </p:nvPr>
        </p:nvSpPr>
        <p:spPr/>
        <p:txBody>
          <a:bodyPr/>
          <a:lstStyle/>
          <a:p>
            <a:endParaRPr lang="en-SG"/>
          </a:p>
        </p:txBody>
      </p:sp>
      <p:sp>
        <p:nvSpPr>
          <p:cNvPr id="9" name="Slide Number Placeholder 8">
            <a:extLst>
              <a:ext uri="{FF2B5EF4-FFF2-40B4-BE49-F238E27FC236}">
                <a16:creationId xmlns:a16="http://schemas.microsoft.com/office/drawing/2014/main" id="{A49B1CF1-69CD-2379-3F17-23DEFBF8A71F}"/>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39364029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9E4BB-508E-5194-93D7-E19C6088DE26}"/>
              </a:ext>
            </a:extLst>
          </p:cNvPr>
          <p:cNvSpPr>
            <a:spLocks noGrp="1"/>
          </p:cNvSpPr>
          <p:nvPr>
            <p:ph type="title"/>
          </p:nvPr>
        </p:nvSpPr>
        <p:spPr/>
        <p:txBody>
          <a:bodyPr/>
          <a:lstStyle/>
          <a:p>
            <a:r>
              <a:rPr lang="en-US"/>
              <a:t>Click to edit Master title style</a:t>
            </a:r>
            <a:endParaRPr lang="en-SG"/>
          </a:p>
        </p:txBody>
      </p:sp>
      <p:sp>
        <p:nvSpPr>
          <p:cNvPr id="3" name="Date Placeholder 2">
            <a:extLst>
              <a:ext uri="{FF2B5EF4-FFF2-40B4-BE49-F238E27FC236}">
                <a16:creationId xmlns:a16="http://schemas.microsoft.com/office/drawing/2014/main" id="{67C3352A-4B56-6C9C-9D95-FC4B90420A66}"/>
              </a:ext>
            </a:extLst>
          </p:cNvPr>
          <p:cNvSpPr>
            <a:spLocks noGrp="1"/>
          </p:cNvSpPr>
          <p:nvPr>
            <p:ph type="dt" sz="half" idx="10"/>
          </p:nvPr>
        </p:nvSpPr>
        <p:spPr/>
        <p:txBody>
          <a:bodyPr/>
          <a:lstStyle/>
          <a:p>
            <a:fld id="{61668A28-7029-416B-BE36-2AAE1D402D3B}" type="datetimeFigureOut">
              <a:rPr lang="en-SG" smtClean="0"/>
              <a:t>19/10/2026</a:t>
            </a:fld>
            <a:endParaRPr lang="en-SG"/>
          </a:p>
        </p:txBody>
      </p:sp>
      <p:sp>
        <p:nvSpPr>
          <p:cNvPr id="4" name="Footer Placeholder 3">
            <a:extLst>
              <a:ext uri="{FF2B5EF4-FFF2-40B4-BE49-F238E27FC236}">
                <a16:creationId xmlns:a16="http://schemas.microsoft.com/office/drawing/2014/main" id="{65949754-841E-84DD-2B9C-FAAFF1CBF2E5}"/>
              </a:ext>
            </a:extLst>
          </p:cNvPr>
          <p:cNvSpPr>
            <a:spLocks noGrp="1"/>
          </p:cNvSpPr>
          <p:nvPr>
            <p:ph type="ftr" sz="quarter" idx="11"/>
          </p:nvPr>
        </p:nvSpPr>
        <p:spPr/>
        <p:txBody>
          <a:bodyPr/>
          <a:lstStyle/>
          <a:p>
            <a:endParaRPr lang="en-SG"/>
          </a:p>
        </p:txBody>
      </p:sp>
      <p:sp>
        <p:nvSpPr>
          <p:cNvPr id="5" name="Slide Number Placeholder 4">
            <a:extLst>
              <a:ext uri="{FF2B5EF4-FFF2-40B4-BE49-F238E27FC236}">
                <a16:creationId xmlns:a16="http://schemas.microsoft.com/office/drawing/2014/main" id="{FF6EF6A8-AF5D-C38D-0F4C-A1000A89456B}"/>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5538245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6B6BC86-28ED-85B6-D46A-A1B8981B4610}"/>
              </a:ext>
            </a:extLst>
          </p:cNvPr>
          <p:cNvSpPr>
            <a:spLocks noGrp="1"/>
          </p:cNvSpPr>
          <p:nvPr>
            <p:ph type="dt" sz="half" idx="10"/>
          </p:nvPr>
        </p:nvSpPr>
        <p:spPr/>
        <p:txBody>
          <a:bodyPr/>
          <a:lstStyle/>
          <a:p>
            <a:fld id="{61668A28-7029-416B-BE36-2AAE1D402D3B}" type="datetimeFigureOut">
              <a:rPr lang="en-SG" smtClean="0"/>
              <a:t>19/10/2026</a:t>
            </a:fld>
            <a:endParaRPr lang="en-SG"/>
          </a:p>
        </p:txBody>
      </p:sp>
      <p:sp>
        <p:nvSpPr>
          <p:cNvPr id="3" name="Footer Placeholder 2">
            <a:extLst>
              <a:ext uri="{FF2B5EF4-FFF2-40B4-BE49-F238E27FC236}">
                <a16:creationId xmlns:a16="http://schemas.microsoft.com/office/drawing/2014/main" id="{BFF2DE35-72EF-06A4-6E65-FD74D0D4DD61}"/>
              </a:ext>
            </a:extLst>
          </p:cNvPr>
          <p:cNvSpPr>
            <a:spLocks noGrp="1"/>
          </p:cNvSpPr>
          <p:nvPr>
            <p:ph type="ftr" sz="quarter" idx="11"/>
          </p:nvPr>
        </p:nvSpPr>
        <p:spPr/>
        <p:txBody>
          <a:bodyPr/>
          <a:lstStyle/>
          <a:p>
            <a:endParaRPr lang="en-SG"/>
          </a:p>
        </p:txBody>
      </p:sp>
      <p:sp>
        <p:nvSpPr>
          <p:cNvPr id="4" name="Slide Number Placeholder 3">
            <a:extLst>
              <a:ext uri="{FF2B5EF4-FFF2-40B4-BE49-F238E27FC236}">
                <a16:creationId xmlns:a16="http://schemas.microsoft.com/office/drawing/2014/main" id="{982C6243-CC8A-9891-DB66-8680C93A97B7}"/>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25408560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9B9036-83C1-1221-EE06-BA4CE828E8B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Content Placeholder 2">
            <a:extLst>
              <a:ext uri="{FF2B5EF4-FFF2-40B4-BE49-F238E27FC236}">
                <a16:creationId xmlns:a16="http://schemas.microsoft.com/office/drawing/2014/main" id="{4B19DF58-383C-1B7E-C056-947D608A4A5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Text Placeholder 3">
            <a:extLst>
              <a:ext uri="{FF2B5EF4-FFF2-40B4-BE49-F238E27FC236}">
                <a16:creationId xmlns:a16="http://schemas.microsoft.com/office/drawing/2014/main" id="{108FF99B-37FE-A3D1-F056-585F71C5311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00ADEB0-250A-6FD9-BA46-0AE111CDB429}"/>
              </a:ext>
            </a:extLst>
          </p:cNvPr>
          <p:cNvSpPr>
            <a:spLocks noGrp="1"/>
          </p:cNvSpPr>
          <p:nvPr>
            <p:ph type="dt" sz="half" idx="10"/>
          </p:nvPr>
        </p:nvSpPr>
        <p:spPr/>
        <p:txBody>
          <a:bodyPr/>
          <a:lstStyle/>
          <a:p>
            <a:fld id="{61668A28-7029-416B-BE36-2AAE1D402D3B}" type="datetimeFigureOut">
              <a:rPr lang="en-SG" smtClean="0"/>
              <a:t>19/10/2026</a:t>
            </a:fld>
            <a:endParaRPr lang="en-SG"/>
          </a:p>
        </p:txBody>
      </p:sp>
      <p:sp>
        <p:nvSpPr>
          <p:cNvPr id="6" name="Footer Placeholder 5">
            <a:extLst>
              <a:ext uri="{FF2B5EF4-FFF2-40B4-BE49-F238E27FC236}">
                <a16:creationId xmlns:a16="http://schemas.microsoft.com/office/drawing/2014/main" id="{2379F193-67A6-5977-8D3F-D4C307BFDCC3}"/>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B066DCA5-5A3F-9C7B-6547-2129C45F75F7}"/>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30269224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EBAED-2732-2192-8F77-5EAD50B6A1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Picture Placeholder 2">
            <a:extLst>
              <a:ext uri="{FF2B5EF4-FFF2-40B4-BE49-F238E27FC236}">
                <a16:creationId xmlns:a16="http://schemas.microsoft.com/office/drawing/2014/main" id="{2984FA65-788A-4DCD-D87E-BF5E0CDFA07D}"/>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a:extLst>
              <a:ext uri="{FF2B5EF4-FFF2-40B4-BE49-F238E27FC236}">
                <a16:creationId xmlns:a16="http://schemas.microsoft.com/office/drawing/2014/main" id="{DD375CAF-79B0-958D-B791-DB84CDAF474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2449241-AFB1-CBB3-4EFD-420D1508AE68}"/>
              </a:ext>
            </a:extLst>
          </p:cNvPr>
          <p:cNvSpPr>
            <a:spLocks noGrp="1"/>
          </p:cNvSpPr>
          <p:nvPr>
            <p:ph type="dt" sz="half" idx="10"/>
          </p:nvPr>
        </p:nvSpPr>
        <p:spPr/>
        <p:txBody>
          <a:bodyPr/>
          <a:lstStyle/>
          <a:p>
            <a:fld id="{61668A28-7029-416B-BE36-2AAE1D402D3B}" type="datetimeFigureOut">
              <a:rPr lang="en-SG" smtClean="0"/>
              <a:t>19/10/2026</a:t>
            </a:fld>
            <a:endParaRPr lang="en-SG"/>
          </a:p>
        </p:txBody>
      </p:sp>
      <p:sp>
        <p:nvSpPr>
          <p:cNvPr id="6" name="Footer Placeholder 5">
            <a:extLst>
              <a:ext uri="{FF2B5EF4-FFF2-40B4-BE49-F238E27FC236}">
                <a16:creationId xmlns:a16="http://schemas.microsoft.com/office/drawing/2014/main" id="{83CDB681-23D0-99AF-184C-30ACD87196A3}"/>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A161625D-015C-2F52-2F28-63C17D6DD046}"/>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11569290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4D33BD-1BA1-1CEB-0E9B-7F5DC8E3FB1A}"/>
              </a:ext>
            </a:extLst>
          </p:cNvPr>
          <p:cNvSpPr>
            <a:spLocks noGrp="1"/>
          </p:cNvSpPr>
          <p:nvPr>
            <p:ph type="title"/>
          </p:nvPr>
        </p:nvSpPr>
        <p:spPr/>
        <p:txBody>
          <a:bodyPr/>
          <a:lstStyle/>
          <a:p>
            <a:r>
              <a:rPr lang="en-US"/>
              <a:t>Click to edit Master title style</a:t>
            </a:r>
            <a:endParaRPr lang="en-SG"/>
          </a:p>
        </p:txBody>
      </p:sp>
      <p:sp>
        <p:nvSpPr>
          <p:cNvPr id="3" name="Vertical Text Placeholder 2">
            <a:extLst>
              <a:ext uri="{FF2B5EF4-FFF2-40B4-BE49-F238E27FC236}">
                <a16:creationId xmlns:a16="http://schemas.microsoft.com/office/drawing/2014/main" id="{BEAF1B6C-3157-E140-A361-AFB19800561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A2C1E98C-E5FC-6FAB-A501-33CE76740F2E}"/>
              </a:ext>
            </a:extLst>
          </p:cNvPr>
          <p:cNvSpPr>
            <a:spLocks noGrp="1"/>
          </p:cNvSpPr>
          <p:nvPr>
            <p:ph type="dt" sz="half" idx="10"/>
          </p:nvPr>
        </p:nvSpPr>
        <p:spPr/>
        <p:txBody>
          <a:bodyPr/>
          <a:lstStyle/>
          <a:p>
            <a:fld id="{61668A28-7029-416B-BE36-2AAE1D402D3B}" type="datetimeFigureOut">
              <a:rPr lang="en-SG" smtClean="0"/>
              <a:t>19/10/2026</a:t>
            </a:fld>
            <a:endParaRPr lang="en-SG"/>
          </a:p>
        </p:txBody>
      </p:sp>
      <p:sp>
        <p:nvSpPr>
          <p:cNvPr id="5" name="Footer Placeholder 4">
            <a:extLst>
              <a:ext uri="{FF2B5EF4-FFF2-40B4-BE49-F238E27FC236}">
                <a16:creationId xmlns:a16="http://schemas.microsoft.com/office/drawing/2014/main" id="{0AE8B5FC-E218-E4E3-3670-69EF73327263}"/>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E79B99AA-6970-0EF7-467F-EE5075E9205A}"/>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12237644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7BD24F5-A00F-5EBC-2744-A678D790A01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SG"/>
          </a:p>
        </p:txBody>
      </p:sp>
      <p:sp>
        <p:nvSpPr>
          <p:cNvPr id="3" name="Vertical Text Placeholder 2">
            <a:extLst>
              <a:ext uri="{FF2B5EF4-FFF2-40B4-BE49-F238E27FC236}">
                <a16:creationId xmlns:a16="http://schemas.microsoft.com/office/drawing/2014/main" id="{8F526418-D519-0DD9-DE44-6715D91BA8F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1A27358C-3BDB-0794-CCE2-9FD61C68981D}"/>
              </a:ext>
            </a:extLst>
          </p:cNvPr>
          <p:cNvSpPr>
            <a:spLocks noGrp="1"/>
          </p:cNvSpPr>
          <p:nvPr>
            <p:ph type="dt" sz="half" idx="10"/>
          </p:nvPr>
        </p:nvSpPr>
        <p:spPr/>
        <p:txBody>
          <a:bodyPr/>
          <a:lstStyle/>
          <a:p>
            <a:fld id="{61668A28-7029-416B-BE36-2AAE1D402D3B}" type="datetimeFigureOut">
              <a:rPr lang="en-SG" smtClean="0"/>
              <a:t>19/10/2026</a:t>
            </a:fld>
            <a:endParaRPr lang="en-SG"/>
          </a:p>
        </p:txBody>
      </p:sp>
      <p:sp>
        <p:nvSpPr>
          <p:cNvPr id="5" name="Footer Placeholder 4">
            <a:extLst>
              <a:ext uri="{FF2B5EF4-FFF2-40B4-BE49-F238E27FC236}">
                <a16:creationId xmlns:a16="http://schemas.microsoft.com/office/drawing/2014/main" id="{1A97BCDF-1F91-3DF1-1954-49C0D19DDC74}"/>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C69265D8-599D-50E1-7D89-3F83A982C7CB}"/>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39160815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927354C-3C19-564E-EC2D-2FE9CDAE0B7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SG"/>
          </a:p>
        </p:txBody>
      </p:sp>
      <p:sp>
        <p:nvSpPr>
          <p:cNvPr id="3" name="Text Placeholder 2">
            <a:extLst>
              <a:ext uri="{FF2B5EF4-FFF2-40B4-BE49-F238E27FC236}">
                <a16:creationId xmlns:a16="http://schemas.microsoft.com/office/drawing/2014/main" id="{4871E529-3686-6C8A-8B3B-D3F1E1CF988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A8ECBDB6-897A-E3FE-B625-2C48B9AFDE0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1668A28-7029-416B-BE36-2AAE1D402D3B}" type="datetimeFigureOut">
              <a:rPr lang="en-SG" smtClean="0"/>
              <a:t>19/10/2026</a:t>
            </a:fld>
            <a:endParaRPr lang="en-SG"/>
          </a:p>
        </p:txBody>
      </p:sp>
      <p:sp>
        <p:nvSpPr>
          <p:cNvPr id="5" name="Footer Placeholder 4">
            <a:extLst>
              <a:ext uri="{FF2B5EF4-FFF2-40B4-BE49-F238E27FC236}">
                <a16:creationId xmlns:a16="http://schemas.microsoft.com/office/drawing/2014/main" id="{4C2FA6F5-2023-105E-C6D5-6B1B89A3D0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SG"/>
          </a:p>
        </p:txBody>
      </p:sp>
      <p:sp>
        <p:nvSpPr>
          <p:cNvPr id="6" name="Slide Number Placeholder 5">
            <a:extLst>
              <a:ext uri="{FF2B5EF4-FFF2-40B4-BE49-F238E27FC236}">
                <a16:creationId xmlns:a16="http://schemas.microsoft.com/office/drawing/2014/main" id="{4149F1BC-64D6-8834-2A3F-CA3A658D861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7A3C78D-58AF-492D-B201-01CD580DDA00}" type="slidenum">
              <a:rPr lang="en-SG" smtClean="0"/>
              <a:t>‹#›</a:t>
            </a:fld>
            <a:endParaRPr lang="en-SG"/>
          </a:p>
        </p:txBody>
      </p:sp>
    </p:spTree>
    <p:extLst>
      <p:ext uri="{BB962C8B-B14F-4D97-AF65-F5344CB8AC3E}">
        <p14:creationId xmlns:p14="http://schemas.microsoft.com/office/powerpoint/2010/main" val="33079780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marker"/>
          <p:cNvSpPr/>
          <p:nvPr/>
        </p:nvSpPr>
        <p:spPr>
          <a:xfrm>
            <a:off x="612648" y="429768"/>
            <a:ext cx="338328" cy="54864"/>
          </a:xfrm>
          <a:prstGeom prst="rect">
            <a:avLst/>
          </a:prstGeom>
          <a:solidFill>
            <a:srgbClr val="69DECC"/>
          </a:solidFill>
          <a:ln>
            <a:noFill/>
          </a:ln>
        </p:spPr>
      </p:sp>
      <p:sp>
        <p:nvSpPr>
          <p:cNvPr id="3" name="Course label"/>
          <p:cNvSpPr txBox="1"/>
          <p:nvPr/>
        </p:nvSpPr>
        <p:spPr>
          <a:xfrm>
            <a:off x="1060704" y="265176"/>
            <a:ext cx="9601200" cy="365760"/>
          </a:xfrm>
          <a:prstGeom prst="rect">
            <a:avLst/>
          </a:prstGeom>
          <a:noFill/>
        </p:spPr>
        <p:txBody>
          <a:bodyPr vert="horz" wrap="square" lIns="0" tIns="0" rIns="0" bIns="0" rtlCol="0" anchor="ctr">
            <a:noAutofit/>
          </a:bodyPr>
          <a:lstStyle/>
          <a:p>
            <a:pPr algn="l">
              <a:buNone/>
            </a:pPr>
            <a:r>
              <a:rPr lang="en-SG" sz="1200" b="1" i="0" dirty="0">
                <a:solidFill>
                  <a:srgbClr val="69DECC"/>
                </a:solidFill>
                <a:latin typeface="Arial" panose="020B0604020202020204" pitchFamily="34" charset="0"/>
              </a:rPr>
              <a:t>CS3227: Agentic Software Engineering / Weeks 8 and 9</a:t>
            </a:r>
            <a:endParaRPr lang="en-SG" sz="1200" b="1" i="0" dirty="0">
              <a:solidFill>
                <a:srgbClr val="69DECC"/>
              </a:solidFill>
              <a:latin typeface="Arial" panose="020B0604020202020204" pitchFamily="34" charset="0"/>
            </a:endParaRPr>
          </a:p>
        </p:txBody>
      </p:sp>
      <p:sp>
        <p:nvSpPr>
          <p:cNvPr id="4" name="Presentation title"/>
          <p:cNvSpPr txBox="1"/>
          <p:nvPr/>
        </p:nvSpPr>
        <p:spPr>
          <a:xfrm>
            <a:off x="612648" y="1097280"/>
            <a:ext cx="10972800" cy="1874520"/>
          </a:xfrm>
          <a:prstGeom prst="rect">
            <a:avLst/>
          </a:prstGeom>
          <a:noFill/>
        </p:spPr>
        <p:txBody>
          <a:bodyPr vert="horz" wrap="square" lIns="0" tIns="0" rIns="0" bIns="0" rtlCol="0" anchor="b">
            <a:noAutofit/>
          </a:bodyPr>
          <a:lstStyle/>
          <a:p>
            <a:pPr algn="l">
              <a:buNone/>
            </a:pPr>
            <a:r>
              <a:rPr lang="en-SG" sz="5600" b="1" i="0" dirty="0">
                <a:solidFill>
                  <a:srgbClr val="F5F3EB"/>
                </a:solidFill>
                <a:latin typeface="Arial" panose="020B0604020202020204" pitchFamily="34" charset="0"/>
              </a:rPr>
              <a:t>Context compaction</a:t>
            </a:r>
            <a:br>
              <a:rPr lang="en-SG" sz="5600" b="1" i="0" dirty="0">
                <a:solidFill>
                  <a:srgbClr val="F5F3EB"/>
                </a:solidFill>
                <a:latin typeface="Arial" panose="020B0604020202020204" pitchFamily="34" charset="0"/>
              </a:rPr>
            </a:br>
            <a:r>
              <a:rPr lang="en-SG" sz="5600" b="1" i="0" dirty="0">
                <a:solidFill>
                  <a:srgbClr val="F5F3EB"/>
                </a:solidFill>
                <a:latin typeface="Arial" panose="020B0604020202020204" pitchFamily="34" charset="0"/>
              </a:rPr>
              <a:t>in agent handoffs</a:t>
            </a:r>
            <a:endParaRPr lang="en-SG" sz="5600" b="1" i="0" dirty="0">
              <a:solidFill>
                <a:srgbClr val="F5F3EB"/>
              </a:solidFill>
              <a:latin typeface="Arial" panose="020B0604020202020204" pitchFamily="34" charset="0"/>
            </a:endParaRPr>
          </a:p>
        </p:txBody>
      </p:sp>
      <p:sp>
        <p:nvSpPr>
          <p:cNvPr id="5" name="Subtitle"/>
          <p:cNvSpPr txBox="1"/>
          <p:nvPr/>
        </p:nvSpPr>
        <p:spPr>
          <a:xfrm>
            <a:off x="649224" y="3246120"/>
            <a:ext cx="10881360" cy="548640"/>
          </a:xfrm>
          <a:prstGeom prst="rect">
            <a:avLst/>
          </a:prstGeom>
          <a:noFill/>
        </p:spPr>
        <p:txBody>
          <a:bodyPr vert="horz" wrap="square" lIns="0" tIns="0" rIns="0" bIns="0" rtlCol="0" anchor="t">
            <a:noAutofit/>
          </a:bodyPr>
          <a:lstStyle/>
          <a:p>
            <a:pPr algn="l">
              <a:buNone/>
            </a:pPr>
            <a:r>
              <a:rPr lang="en-SG" sz="2800" b="0" i="0" dirty="0">
                <a:solidFill>
                  <a:srgbClr val="B9C4D5"/>
                </a:solidFill>
                <a:latin typeface="Arial" panose="020B0604020202020204" pitchFamily="34" charset="0"/>
              </a:rPr>
              <a:t>Prose summaries and structured checklists</a:t>
            </a:r>
            <a:endParaRPr lang="en-SG" sz="2800" b="0" i="0" dirty="0">
              <a:solidFill>
                <a:srgbClr val="B9C4D5"/>
              </a:solidFill>
              <a:latin typeface="Arial" panose="020B0604020202020204" pitchFamily="34" charset="0"/>
            </a:endParaRPr>
          </a:p>
        </p:txBody>
      </p:sp>
      <p:sp>
        <p:nvSpPr>
          <p:cNvPr id="6" name="Date"/>
          <p:cNvSpPr txBox="1"/>
          <p:nvPr/>
        </p:nvSpPr>
        <p:spPr>
          <a:xfrm>
            <a:off x="649224" y="4251960"/>
            <a:ext cx="10881360" cy="457200"/>
          </a:xfrm>
          <a:prstGeom prst="rect">
            <a:avLst/>
          </a:prstGeom>
          <a:noFill/>
        </p:spPr>
        <p:txBody>
          <a:bodyPr vert="horz" wrap="square" lIns="0" tIns="0" rIns="0" bIns="0" rtlCol="0" anchor="t">
            <a:noAutofit/>
          </a:bodyPr>
          <a:lstStyle/>
          <a:p>
            <a:pPr algn="l">
              <a:buNone/>
            </a:pPr>
            <a:r>
              <a:rPr lang="en-SG" sz="2400" b="0" i="1" dirty="0">
                <a:solidFill>
                  <a:srgbClr val="D8D8D8"/>
                </a:solidFill>
                <a:latin typeface="Arial" panose="020B0604020202020204" pitchFamily="34" charset="0"/>
              </a:rPr>
              <a:t>Five coding histories  /  19 October 2026</a:t>
            </a:r>
            <a:endParaRPr lang="en-SG" sz="2400" b="0" i="1" dirty="0">
              <a:solidFill>
                <a:srgbClr val="D8D8D8"/>
              </a:solidFill>
              <a:latin typeface="Arial" panose="020B0604020202020204" pitchFamily="34" charset="0"/>
            </a:endParaRPr>
          </a:p>
        </p:txBody>
      </p:sp>
      <p:sp>
        <p:nvSpPr>
          <p:cNvPr id="7" name="Slide number"/>
          <p:cNvSpPr txBox="1"/>
          <p:nvPr/>
        </p:nvSpPr>
        <p:spPr>
          <a:xfrm>
            <a:off x="10588752" y="6327648"/>
            <a:ext cx="987552" cy="265176"/>
          </a:xfrm>
          <a:prstGeom prst="rect">
            <a:avLst/>
          </a:prstGeom>
          <a:noFill/>
        </p:spPr>
        <p:txBody>
          <a:bodyPr vert="horz" wrap="square" lIns="0" tIns="0" rIns="0" bIns="0" rtlCol="0" anchor="ctr">
            <a:noAutofit/>
          </a:bodyPr>
          <a:lstStyle/>
          <a:p>
            <a:pPr algn="r">
              <a:buNone/>
            </a:pPr>
            <a:r>
              <a:rPr lang="en-SG" sz="1050" b="0" i="0" dirty="0">
                <a:solidFill>
                  <a:srgbClr val="B9C4D5"/>
                </a:solidFill>
                <a:latin typeface="Arial" panose="020B0604020202020204" pitchFamily="34" charset="0"/>
              </a:rPr>
              <a:t>01 / 10</a:t>
            </a:r>
            <a:endParaRPr lang="en-SG" sz="1050" b="0" i="0" dirty="0">
              <a:solidFill>
                <a:srgbClr val="B9C4D5"/>
              </a:solidFill>
              <a:latin typeface="Arial" panose="020B0604020202020204" pitchFamily="34" charset="0"/>
            </a:endParaRPr>
          </a:p>
        </p:txBody>
      </p:sp>
    </p:spTree>
    <p:extLst>
      <p:ext uri="{BB962C8B-B14F-4D97-AF65-F5344CB8AC3E}">
        <p14:creationId xmlns:p14="http://schemas.microsoft.com/office/powerpoint/2010/main" val="6072234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marker"/>
          <p:cNvSpPr/>
          <p:nvPr/>
        </p:nvSpPr>
        <p:spPr>
          <a:xfrm>
            <a:off x="612648" y="429768"/>
            <a:ext cx="338328" cy="54864"/>
          </a:xfrm>
          <a:prstGeom prst="rect">
            <a:avLst/>
          </a:prstGeom>
          <a:solidFill>
            <a:srgbClr val="69DECC"/>
          </a:solidFill>
          <a:ln>
            <a:noFill/>
          </a:ln>
        </p:spPr>
      </p:sp>
      <p:sp>
        <p:nvSpPr>
          <p:cNvPr id="3" name="Section label"/>
          <p:cNvSpPr txBox="1"/>
          <p:nvPr/>
        </p:nvSpPr>
        <p:spPr>
          <a:xfrm>
            <a:off x="1060704" y="265176"/>
            <a:ext cx="9601200" cy="365760"/>
          </a:xfrm>
          <a:prstGeom prst="rect">
            <a:avLst/>
          </a:prstGeom>
          <a:noFill/>
        </p:spPr>
        <p:txBody>
          <a:bodyPr vert="horz" wrap="square" lIns="0" tIns="0" rIns="0" bIns="0" rtlCol="0" anchor="ctr">
            <a:noAutofit/>
          </a:bodyPr>
          <a:lstStyle/>
          <a:p>
            <a:pPr algn="l">
              <a:buNone/>
            </a:pPr>
            <a:r>
              <a:rPr lang="en-SG" sz="1200" b="1" i="0" dirty="0">
                <a:solidFill>
                  <a:srgbClr val="69DECC"/>
                </a:solidFill>
                <a:latin typeface="Arial" panose="020B0604020202020204" pitchFamily="34" charset="0"/>
              </a:rPr>
              <a:t>01 / THE QUESTION</a:t>
            </a:r>
            <a:endParaRPr lang="en-SG" sz="1200" b="1" i="0" dirty="0">
              <a:solidFill>
                <a:srgbClr val="69DECC"/>
              </a:solidFill>
              <a:latin typeface="Arial" panose="020B0604020202020204" pitchFamily="34" charset="0"/>
            </a:endParaRPr>
          </a:p>
        </p:txBody>
      </p:sp>
      <p:sp>
        <p:nvSpPr>
          <p:cNvPr id="4" name="Slide title"/>
          <p:cNvSpPr txBox="1"/>
          <p:nvPr/>
        </p:nvSpPr>
        <p:spPr>
          <a:xfrm>
            <a:off x="612648" y="813816"/>
            <a:ext cx="10972800" cy="850392"/>
          </a:xfrm>
          <a:prstGeom prst="rect">
            <a:avLst/>
          </a:prstGeom>
          <a:noFill/>
        </p:spPr>
        <p:txBody>
          <a:bodyPr vert="horz" wrap="square" lIns="0" tIns="0" rIns="0" bIns="0" rtlCol="0" anchor="ctr">
            <a:noAutofit/>
          </a:bodyPr>
          <a:lstStyle/>
          <a:p>
            <a:pPr algn="l">
              <a:buNone/>
            </a:pPr>
            <a:r>
              <a:rPr lang="en-SG" sz="3400" b="1" i="0" dirty="0">
                <a:solidFill>
                  <a:srgbClr val="F5F3EB"/>
                </a:solidFill>
                <a:latin typeface="Arial" panose="020B0604020202020204" pitchFamily="34" charset="0"/>
              </a:rPr>
              <a:t>Handoffs as context engineering</a:t>
            </a:r>
            <a:endParaRPr lang="en-SG" sz="3400" b="1" i="0" dirty="0">
              <a:solidFill>
                <a:srgbClr val="F5F3EB"/>
              </a:solidFill>
              <a:latin typeface="Arial" panose="020B0604020202020204" pitchFamily="34" charset="0"/>
            </a:endParaRPr>
          </a:p>
        </p:txBody>
      </p:sp>
      <p:sp>
        <p:nvSpPr>
          <p:cNvPr id="5" name="Slide number"/>
          <p:cNvSpPr txBox="1"/>
          <p:nvPr/>
        </p:nvSpPr>
        <p:spPr>
          <a:xfrm>
            <a:off x="10588752" y="6327648"/>
            <a:ext cx="987552" cy="265176"/>
          </a:xfrm>
          <a:prstGeom prst="rect">
            <a:avLst/>
          </a:prstGeom>
          <a:noFill/>
        </p:spPr>
        <p:txBody>
          <a:bodyPr vert="horz" wrap="square" lIns="0" tIns="0" rIns="0" bIns="0" rtlCol="0" anchor="ctr">
            <a:noAutofit/>
          </a:bodyPr>
          <a:lstStyle/>
          <a:p>
            <a:pPr algn="r">
              <a:buNone/>
            </a:pPr>
            <a:r>
              <a:rPr lang="en-SG" sz="1050" b="0" i="0" dirty="0">
                <a:solidFill>
                  <a:srgbClr val="B9C4D5"/>
                </a:solidFill>
                <a:latin typeface="Arial" panose="020B0604020202020204" pitchFamily="34" charset="0"/>
              </a:rPr>
              <a:t>02 / 10</a:t>
            </a:r>
            <a:endParaRPr lang="en-SG" sz="1050" b="0" i="0" dirty="0">
              <a:solidFill>
                <a:srgbClr val="B9C4D5"/>
              </a:solidFill>
              <a:latin typeface="Arial" panose="020B0604020202020204" pitchFamily="34" charset="0"/>
            </a:endParaRPr>
          </a:p>
        </p:txBody>
      </p:sp>
      <p:sp>
        <p:nvSpPr>
          <p:cNvPr id="6" name="Question"/>
          <p:cNvSpPr txBox="1"/>
          <p:nvPr/>
        </p:nvSpPr>
        <p:spPr>
          <a:xfrm>
            <a:off x="612648" y="1828800"/>
            <a:ext cx="10972800" cy="548640"/>
          </a:xfrm>
          <a:prstGeom prst="rect">
            <a:avLst/>
          </a:prstGeom>
          <a:noFill/>
        </p:spPr>
        <p:txBody>
          <a:bodyPr vert="horz" wrap="square" lIns="0" tIns="0" rIns="0" bIns="0" rtlCol="0" anchor="t">
            <a:noAutofit/>
          </a:bodyPr>
          <a:lstStyle/>
          <a:p>
            <a:pPr algn="l">
              <a:buNone/>
            </a:pPr>
            <a:r>
              <a:rPr lang="en-SG" sz="2600" b="1" i="0" dirty="0">
                <a:solidFill>
                  <a:srgbClr val="69DECC"/>
                </a:solidFill>
                <a:latin typeface="Arial" panose="020B0604020202020204" pitchFamily="34" charset="0"/>
              </a:rPr>
              <a:t>How much useful task context can the next agent recover?</a:t>
            </a:r>
            <a:endParaRPr lang="en-SG" sz="2600" b="1" i="0" dirty="0">
              <a:solidFill>
                <a:srgbClr val="69DECC"/>
              </a:solidFill>
              <a:latin typeface="Arial" panose="020B0604020202020204" pitchFamily="34" charset="0"/>
            </a:endParaRPr>
          </a:p>
        </p:txBody>
      </p:sp>
      <p:sp>
        <p:nvSpPr>
          <p:cNvPr id="7" name="Card"/>
          <p:cNvSpPr/>
          <p:nvPr/>
        </p:nvSpPr>
        <p:spPr>
          <a:xfrm>
            <a:off x="612648" y="2743200"/>
            <a:ext cx="5303520" cy="1965960"/>
          </a:xfrm>
          <a:prstGeom prst="rect">
            <a:avLst/>
          </a:prstGeom>
          <a:solidFill>
            <a:srgbClr val="1B2940"/>
          </a:solidFill>
          <a:ln>
            <a:noFill/>
          </a:ln>
        </p:spPr>
      </p:sp>
      <p:sp>
        <p:nvSpPr>
          <p:cNvPr id="8" name="Card marker"/>
          <p:cNvSpPr/>
          <p:nvPr/>
        </p:nvSpPr>
        <p:spPr>
          <a:xfrm>
            <a:off x="612648" y="2743200"/>
            <a:ext cx="5303520" cy="36576"/>
          </a:xfrm>
          <a:prstGeom prst="rect">
            <a:avLst/>
          </a:prstGeom>
          <a:solidFill>
            <a:srgbClr val="69DECC"/>
          </a:solidFill>
          <a:ln>
            <a:noFill/>
          </a:ln>
        </p:spPr>
      </p:sp>
      <p:sp>
        <p:nvSpPr>
          <p:cNvPr id="9" name="Card label"/>
          <p:cNvSpPr txBox="1"/>
          <p:nvPr/>
        </p:nvSpPr>
        <p:spPr>
          <a:xfrm>
            <a:off x="841248" y="2944368"/>
            <a:ext cx="4892040" cy="320040"/>
          </a:xfrm>
          <a:prstGeom prst="rect">
            <a:avLst/>
          </a:prstGeom>
          <a:noFill/>
        </p:spPr>
        <p:txBody>
          <a:bodyPr vert="horz" wrap="square" lIns="0" tIns="0" rIns="0" bIns="0" rtlCol="0" anchor="t">
            <a:noAutofit/>
          </a:bodyPr>
          <a:lstStyle/>
          <a:p>
            <a:pPr algn="l">
              <a:buNone/>
            </a:pPr>
            <a:r>
              <a:rPr lang="en-SG" sz="1400" b="1" i="0" dirty="0">
                <a:solidFill>
                  <a:srgbClr val="69DECC"/>
                </a:solidFill>
                <a:latin typeface="Arial" panose="020B0604020202020204" pitchFamily="34" charset="0"/>
              </a:rPr>
              <a:t>MULTI-AGENT COORDINATION</a:t>
            </a:r>
            <a:endParaRPr lang="en-SG" sz="1400" b="1" i="0" dirty="0">
              <a:solidFill>
                <a:srgbClr val="69DECC"/>
              </a:solidFill>
              <a:latin typeface="Arial" panose="020B0604020202020204" pitchFamily="34" charset="0"/>
            </a:endParaRPr>
          </a:p>
        </p:txBody>
      </p:sp>
      <p:sp>
        <p:nvSpPr>
          <p:cNvPr id="10" name="Card text"/>
          <p:cNvSpPr txBox="1"/>
          <p:nvPr/>
        </p:nvSpPr>
        <p:spPr>
          <a:xfrm>
            <a:off x="841248" y="3401568"/>
            <a:ext cx="4892040" cy="1143000"/>
          </a:xfrm>
          <a:prstGeom prst="rect">
            <a:avLst/>
          </a:prstGeom>
          <a:noFill/>
        </p:spPr>
        <p:txBody>
          <a:bodyPr vert="horz" wrap="square" lIns="0" tIns="0" rIns="0" bIns="0" rtlCol="0" anchor="t">
            <a:noAutofit/>
          </a:bodyPr>
          <a:lstStyle/>
          <a:p>
            <a:pPr algn="l">
              <a:buNone/>
            </a:pPr>
            <a:r>
              <a:rPr lang="en-SG" sz="2200" b="0" i="0" dirty="0">
                <a:solidFill>
                  <a:srgbClr val="F5F3EB"/>
                </a:solidFill>
                <a:latin typeface="Arial" panose="020B0604020202020204" pitchFamily="34" charset="0"/>
              </a:rPr>
              <a:t>Pass work between agents with</a:t>
            </a:r>
            <a:br>
              <a:rPr lang="en-SG" sz="2200" b="0" i="0" dirty="0">
                <a:solidFill>
                  <a:srgbClr val="F5F3EB"/>
                </a:solidFill>
                <a:latin typeface="Arial" panose="020B0604020202020204" pitchFamily="34" charset="0"/>
              </a:rPr>
            </a:br>
            <a:r>
              <a:rPr lang="en-SG" sz="2200" b="0" i="0" dirty="0">
                <a:solidFill>
                  <a:srgbClr val="F5F3EB"/>
                </a:solidFill>
                <a:latin typeface="Arial" panose="020B0604020202020204" pitchFamily="34" charset="0"/>
              </a:rPr>
              <a:t>different roles and focused context.</a:t>
            </a:r>
            <a:endParaRPr lang="en-SG" sz="2200" b="0" i="0" dirty="0">
              <a:solidFill>
                <a:srgbClr val="F5F3EB"/>
              </a:solidFill>
              <a:latin typeface="Arial" panose="020B0604020202020204" pitchFamily="34" charset="0"/>
            </a:endParaRPr>
          </a:p>
        </p:txBody>
      </p:sp>
      <p:sp>
        <p:nvSpPr>
          <p:cNvPr id="11" name="Card"/>
          <p:cNvSpPr/>
          <p:nvPr/>
        </p:nvSpPr>
        <p:spPr>
          <a:xfrm>
            <a:off x="6281928" y="2743200"/>
            <a:ext cx="5303520" cy="1965960"/>
          </a:xfrm>
          <a:prstGeom prst="rect">
            <a:avLst/>
          </a:prstGeom>
          <a:solidFill>
            <a:srgbClr val="1B2940"/>
          </a:solidFill>
          <a:ln>
            <a:noFill/>
          </a:ln>
        </p:spPr>
      </p:sp>
      <p:sp>
        <p:nvSpPr>
          <p:cNvPr id="12" name="Card marker"/>
          <p:cNvSpPr/>
          <p:nvPr/>
        </p:nvSpPr>
        <p:spPr>
          <a:xfrm>
            <a:off x="6281928" y="2743200"/>
            <a:ext cx="5303520" cy="36576"/>
          </a:xfrm>
          <a:prstGeom prst="rect">
            <a:avLst/>
          </a:prstGeom>
          <a:solidFill>
            <a:srgbClr val="69DECC"/>
          </a:solidFill>
          <a:ln>
            <a:noFill/>
          </a:ln>
        </p:spPr>
      </p:sp>
      <p:sp>
        <p:nvSpPr>
          <p:cNvPr id="13" name="Card label"/>
          <p:cNvSpPr txBox="1"/>
          <p:nvPr/>
        </p:nvSpPr>
        <p:spPr>
          <a:xfrm>
            <a:off x="6510528" y="2944368"/>
            <a:ext cx="4892040" cy="320040"/>
          </a:xfrm>
          <a:prstGeom prst="rect">
            <a:avLst/>
          </a:prstGeom>
          <a:noFill/>
        </p:spPr>
        <p:txBody>
          <a:bodyPr vert="horz" wrap="square" lIns="0" tIns="0" rIns="0" bIns="0" rtlCol="0" anchor="t">
            <a:noAutofit/>
          </a:bodyPr>
          <a:lstStyle/>
          <a:p>
            <a:pPr algn="l">
              <a:buNone/>
            </a:pPr>
            <a:r>
              <a:rPr lang="en-SG" sz="1400" b="1" i="0" dirty="0">
                <a:solidFill>
                  <a:srgbClr val="69DECC"/>
                </a:solidFill>
                <a:latin typeface="Arial" panose="020B0604020202020204" pitchFamily="34" charset="0"/>
              </a:rPr>
              <a:t>CONTEXT ENGINEERING</a:t>
            </a:r>
            <a:endParaRPr lang="en-SG" sz="1400" b="1" i="0" dirty="0">
              <a:solidFill>
                <a:srgbClr val="69DECC"/>
              </a:solidFill>
              <a:latin typeface="Arial" panose="020B0604020202020204" pitchFamily="34" charset="0"/>
            </a:endParaRPr>
          </a:p>
        </p:txBody>
      </p:sp>
      <p:sp>
        <p:nvSpPr>
          <p:cNvPr id="14" name="Card text"/>
          <p:cNvSpPr txBox="1"/>
          <p:nvPr/>
        </p:nvSpPr>
        <p:spPr>
          <a:xfrm>
            <a:off x="6510528" y="3401568"/>
            <a:ext cx="4892040" cy="1143000"/>
          </a:xfrm>
          <a:prstGeom prst="rect">
            <a:avLst/>
          </a:prstGeom>
          <a:noFill/>
        </p:spPr>
        <p:txBody>
          <a:bodyPr vert="horz" wrap="square" lIns="0" tIns="0" rIns="0" bIns="0" rtlCol="0" anchor="t">
            <a:noAutofit/>
          </a:bodyPr>
          <a:lstStyle/>
          <a:p>
            <a:pPr algn="l">
              <a:buNone/>
            </a:pPr>
            <a:r>
              <a:rPr lang="en-SG" sz="2200" b="0" i="0" dirty="0">
                <a:solidFill>
                  <a:srgbClr val="F5F3EB"/>
                </a:solidFill>
                <a:latin typeface="Arial" panose="020B0604020202020204" pitchFamily="34" charset="0"/>
              </a:rPr>
              <a:t>Curate a short handoff from</a:t>
            </a:r>
            <a:br>
              <a:rPr lang="en-SG" sz="2200" b="0" i="0" dirty="0">
                <a:solidFill>
                  <a:srgbClr val="F5F3EB"/>
                </a:solidFill>
                <a:latin typeface="Arial" panose="020B0604020202020204" pitchFamily="34" charset="0"/>
              </a:rPr>
            </a:br>
            <a:r>
              <a:rPr lang="en-SG" sz="2200" b="0" i="0" dirty="0">
                <a:solidFill>
                  <a:srgbClr val="F5F3EB"/>
                </a:solidFill>
                <a:latin typeface="Arial" panose="020B0604020202020204" pitchFamily="34" charset="0"/>
              </a:rPr>
              <a:t>a recorded message history.</a:t>
            </a:r>
            <a:endParaRPr lang="en-SG" sz="2200" b="0" i="0" dirty="0">
              <a:solidFill>
                <a:srgbClr val="F5F3EB"/>
              </a:solidFill>
              <a:latin typeface="Arial" panose="020B0604020202020204" pitchFamily="34" charset="0"/>
            </a:endParaRPr>
          </a:p>
        </p:txBody>
      </p:sp>
      <p:sp>
        <p:nvSpPr>
          <p:cNvPr id="15" name="Callout"/>
          <p:cNvSpPr/>
          <p:nvPr/>
        </p:nvSpPr>
        <p:spPr>
          <a:xfrm>
            <a:off x="612648" y="5166360"/>
            <a:ext cx="10972800" cy="685800"/>
          </a:xfrm>
          <a:prstGeom prst="rect">
            <a:avLst/>
          </a:prstGeom>
          <a:solidFill>
            <a:srgbClr val="1B2940"/>
          </a:solidFill>
          <a:ln>
            <a:noFill/>
          </a:ln>
        </p:spPr>
      </p:sp>
      <p:sp>
        <p:nvSpPr>
          <p:cNvPr id="16" name="Callout marker"/>
          <p:cNvSpPr/>
          <p:nvPr/>
        </p:nvSpPr>
        <p:spPr>
          <a:xfrm>
            <a:off x="612648" y="5166360"/>
            <a:ext cx="36576" cy="685800"/>
          </a:xfrm>
          <a:prstGeom prst="rect">
            <a:avLst/>
          </a:prstGeom>
          <a:solidFill>
            <a:srgbClr val="FFC36A"/>
          </a:solidFill>
          <a:ln>
            <a:noFill/>
          </a:ln>
        </p:spPr>
      </p:sp>
      <p:sp>
        <p:nvSpPr>
          <p:cNvPr id="17" name="Callout text"/>
          <p:cNvSpPr txBox="1"/>
          <p:nvPr/>
        </p:nvSpPr>
        <p:spPr>
          <a:xfrm>
            <a:off x="841248" y="5166360"/>
            <a:ext cx="10515600" cy="685800"/>
          </a:xfrm>
          <a:prstGeom prst="rect">
            <a:avLst/>
          </a:prstGeom>
          <a:noFill/>
        </p:spPr>
        <p:txBody>
          <a:bodyPr vert="horz" wrap="square" lIns="0" tIns="0" rIns="0" bIns="0" rtlCol="0" anchor="ctr">
            <a:noAutofit/>
          </a:bodyPr>
          <a:lstStyle/>
          <a:p>
            <a:pPr algn="l">
              <a:buNone/>
            </a:pPr>
            <a:r>
              <a:rPr lang="en-SG" sz="2100" b="1" i="0" dirty="0">
                <a:solidFill>
                  <a:srgbClr val="FFC36A"/>
                </a:solidFill>
                <a:latin typeface="Arial" panose="020B0604020202020204" pitchFamily="34" charset="0"/>
              </a:rPr>
              <a:t>Constraint: at most 200 words, including checklist labels</a:t>
            </a:r>
            <a:endParaRPr lang="en-SG" sz="2100" b="1" i="0" dirty="0">
              <a:solidFill>
                <a:srgbClr val="FFC36A"/>
              </a:solidFill>
              <a:latin typeface="Arial" panose="020B0604020202020204" pitchFamily="34" charset="0"/>
            </a:endParaRPr>
          </a:p>
        </p:txBody>
      </p:sp>
    </p:spTree>
    <p:extLst>
      <p:ext uri="{BB962C8B-B14F-4D97-AF65-F5344CB8AC3E}">
        <p14:creationId xmlns:p14="http://schemas.microsoft.com/office/powerpoint/2010/main" val="18392441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marker"/>
          <p:cNvSpPr/>
          <p:nvPr/>
        </p:nvSpPr>
        <p:spPr>
          <a:xfrm>
            <a:off x="612648" y="429768"/>
            <a:ext cx="338328" cy="54864"/>
          </a:xfrm>
          <a:prstGeom prst="rect">
            <a:avLst/>
          </a:prstGeom>
          <a:solidFill>
            <a:srgbClr val="69DECC"/>
          </a:solidFill>
          <a:ln>
            <a:noFill/>
          </a:ln>
        </p:spPr>
      </p:sp>
      <p:sp>
        <p:nvSpPr>
          <p:cNvPr id="3" name="Section label"/>
          <p:cNvSpPr txBox="1"/>
          <p:nvPr/>
        </p:nvSpPr>
        <p:spPr>
          <a:xfrm>
            <a:off x="1060704" y="265176"/>
            <a:ext cx="9601200" cy="365760"/>
          </a:xfrm>
          <a:prstGeom prst="rect">
            <a:avLst/>
          </a:prstGeom>
          <a:noFill/>
        </p:spPr>
        <p:txBody>
          <a:bodyPr vert="horz" wrap="square" lIns="0" tIns="0" rIns="0" bIns="0" rtlCol="0" anchor="ctr">
            <a:noAutofit/>
          </a:bodyPr>
          <a:lstStyle/>
          <a:p>
            <a:pPr algn="l">
              <a:buNone/>
            </a:pPr>
            <a:r>
              <a:rPr lang="en-SG" sz="1200" b="1" i="0" dirty="0">
                <a:solidFill>
                  <a:srgbClr val="69DECC"/>
                </a:solidFill>
                <a:latin typeface="Arial" panose="020B0604020202020204" pitchFamily="34" charset="0"/>
              </a:rPr>
              <a:t>02 / THE SETUP</a:t>
            </a:r>
            <a:endParaRPr lang="en-SG" sz="1200" b="1" i="0" dirty="0">
              <a:solidFill>
                <a:srgbClr val="69DECC"/>
              </a:solidFill>
              <a:latin typeface="Arial" panose="020B0604020202020204" pitchFamily="34" charset="0"/>
            </a:endParaRPr>
          </a:p>
        </p:txBody>
      </p:sp>
      <p:sp>
        <p:nvSpPr>
          <p:cNvPr id="4" name="Slide title"/>
          <p:cNvSpPr txBox="1"/>
          <p:nvPr/>
        </p:nvSpPr>
        <p:spPr>
          <a:xfrm>
            <a:off x="612648" y="813816"/>
            <a:ext cx="10972800" cy="850392"/>
          </a:xfrm>
          <a:prstGeom prst="rect">
            <a:avLst/>
          </a:prstGeom>
          <a:noFill/>
        </p:spPr>
        <p:txBody>
          <a:bodyPr vert="horz" wrap="square" lIns="0" tIns="0" rIns="0" bIns="0" rtlCol="0" anchor="ctr">
            <a:noAutofit/>
          </a:bodyPr>
          <a:lstStyle/>
          <a:p>
            <a:pPr algn="l">
              <a:buNone/>
            </a:pPr>
            <a:r>
              <a:rPr lang="en-SG" sz="3400" b="1" i="0" dirty="0">
                <a:solidFill>
                  <a:srgbClr val="F5F3EB"/>
                </a:solidFill>
                <a:latin typeface="Arial" panose="020B0604020202020204" pitchFamily="34" charset="0"/>
              </a:rPr>
              <a:t>A paired comparison on one repair task</a:t>
            </a:r>
            <a:endParaRPr lang="en-SG" sz="3400" b="1" i="0" dirty="0">
              <a:solidFill>
                <a:srgbClr val="F5F3EB"/>
              </a:solidFill>
              <a:latin typeface="Arial" panose="020B0604020202020204" pitchFamily="34" charset="0"/>
            </a:endParaRPr>
          </a:p>
        </p:txBody>
      </p:sp>
      <p:sp>
        <p:nvSpPr>
          <p:cNvPr id="5" name="Slide number"/>
          <p:cNvSpPr txBox="1"/>
          <p:nvPr/>
        </p:nvSpPr>
        <p:spPr>
          <a:xfrm>
            <a:off x="10588752" y="6327648"/>
            <a:ext cx="987552" cy="265176"/>
          </a:xfrm>
          <a:prstGeom prst="rect">
            <a:avLst/>
          </a:prstGeom>
          <a:noFill/>
        </p:spPr>
        <p:txBody>
          <a:bodyPr vert="horz" wrap="square" lIns="0" tIns="0" rIns="0" bIns="0" rtlCol="0" anchor="ctr">
            <a:noAutofit/>
          </a:bodyPr>
          <a:lstStyle/>
          <a:p>
            <a:pPr algn="r">
              <a:buNone/>
            </a:pPr>
            <a:r>
              <a:rPr lang="en-SG" sz="1050" b="0" i="0" dirty="0">
                <a:solidFill>
                  <a:srgbClr val="B9C4D5"/>
                </a:solidFill>
                <a:latin typeface="Arial" panose="020B0604020202020204" pitchFamily="34" charset="0"/>
              </a:rPr>
              <a:t>03 / 10</a:t>
            </a:r>
            <a:endParaRPr lang="en-SG" sz="1050" b="0" i="0" dirty="0">
              <a:solidFill>
                <a:srgbClr val="B9C4D5"/>
              </a:solidFill>
              <a:latin typeface="Arial" panose="020B0604020202020204" pitchFamily="34" charset="0"/>
            </a:endParaRPr>
          </a:p>
        </p:txBody>
      </p:sp>
      <p:sp>
        <p:nvSpPr>
          <p:cNvPr id="6" name="Subtitle"/>
          <p:cNvSpPr txBox="1"/>
          <p:nvPr/>
        </p:nvSpPr>
        <p:spPr>
          <a:xfrm>
            <a:off x="612648" y="1792224"/>
            <a:ext cx="10972800" cy="365760"/>
          </a:xfrm>
          <a:prstGeom prst="rect">
            <a:avLst/>
          </a:prstGeom>
          <a:noFill/>
        </p:spPr>
        <p:txBody>
          <a:bodyPr vert="horz" wrap="square" lIns="0" tIns="0" rIns="0" bIns="0" rtlCol="0" anchor="t">
            <a:noAutofit/>
          </a:bodyPr>
          <a:lstStyle/>
          <a:p>
            <a:pPr algn="l">
              <a:buNone/>
            </a:pPr>
            <a:r>
              <a:rPr lang="en-SG" sz="1800" b="0" i="0" dirty="0">
                <a:solidFill>
                  <a:srgbClr val="B9C4D5"/>
                </a:solidFill>
                <a:latin typeface="Arial" panose="020B0604020202020204" pitchFamily="34" charset="0"/>
              </a:rPr>
              <a:t>Repair Deskmate’s LLM health-check probe</a:t>
            </a:r>
            <a:endParaRPr lang="en-SG" sz="1800" b="0" i="0" dirty="0">
              <a:solidFill>
                <a:srgbClr val="B9C4D5"/>
              </a:solidFill>
              <a:latin typeface="Arial" panose="020B0604020202020204" pitchFamily="34" charset="0"/>
            </a:endParaRPr>
          </a:p>
        </p:txBody>
      </p:sp>
      <p:sp>
        <p:nvSpPr>
          <p:cNvPr id="7" name="Stage card"/>
          <p:cNvSpPr/>
          <p:nvPr/>
        </p:nvSpPr>
        <p:spPr>
          <a:xfrm>
            <a:off x="612648" y="2331720"/>
            <a:ext cx="3291840" cy="2560320"/>
          </a:xfrm>
          <a:prstGeom prst="rect">
            <a:avLst/>
          </a:prstGeom>
          <a:solidFill>
            <a:srgbClr val="1B2940"/>
          </a:solidFill>
          <a:ln>
            <a:noFill/>
          </a:ln>
        </p:spPr>
      </p:sp>
      <p:sp>
        <p:nvSpPr>
          <p:cNvPr id="8" name="Stage marker"/>
          <p:cNvSpPr/>
          <p:nvPr/>
        </p:nvSpPr>
        <p:spPr>
          <a:xfrm>
            <a:off x="612648" y="2331720"/>
            <a:ext cx="3291840" cy="36576"/>
          </a:xfrm>
          <a:prstGeom prst="rect">
            <a:avLst/>
          </a:prstGeom>
          <a:solidFill>
            <a:srgbClr val="69DECC"/>
          </a:solidFill>
          <a:ln>
            <a:noFill/>
          </a:ln>
        </p:spPr>
      </p:sp>
      <p:sp>
        <p:nvSpPr>
          <p:cNvPr id="9" name="Stage"/>
          <p:cNvSpPr txBox="1"/>
          <p:nvPr/>
        </p:nvSpPr>
        <p:spPr>
          <a:xfrm>
            <a:off x="841248" y="2532888"/>
            <a:ext cx="2926080" cy="320040"/>
          </a:xfrm>
          <a:prstGeom prst="rect">
            <a:avLst/>
          </a:prstGeom>
          <a:noFill/>
        </p:spPr>
        <p:txBody>
          <a:bodyPr vert="horz" wrap="square" lIns="0" tIns="0" rIns="0" bIns="0" rtlCol="0" anchor="t">
            <a:noAutofit/>
          </a:bodyPr>
          <a:lstStyle/>
          <a:p>
            <a:pPr algn="l">
              <a:buNone/>
            </a:pPr>
            <a:r>
              <a:rPr lang="en-SG" sz="1400" b="1" i="0" dirty="0">
                <a:solidFill>
                  <a:srgbClr val="69DECC"/>
                </a:solidFill>
                <a:latin typeface="Arial" panose="020B0604020202020204" pitchFamily="34" charset="0"/>
              </a:rPr>
              <a:t>CODING AGENT</a:t>
            </a:r>
            <a:endParaRPr lang="en-SG" sz="1400" b="1" i="0" dirty="0">
              <a:solidFill>
                <a:srgbClr val="69DECC"/>
              </a:solidFill>
              <a:latin typeface="Arial" panose="020B0604020202020204" pitchFamily="34" charset="0"/>
            </a:endParaRPr>
          </a:p>
        </p:txBody>
      </p:sp>
      <p:sp>
        <p:nvSpPr>
          <p:cNvPr id="10" name="Input and output"/>
          <p:cNvSpPr txBox="1"/>
          <p:nvPr/>
        </p:nvSpPr>
        <p:spPr>
          <a:xfrm>
            <a:off x="841248" y="2898648"/>
            <a:ext cx="2926080" cy="1188720"/>
          </a:xfrm>
          <a:prstGeom prst="rect">
            <a:avLst/>
          </a:prstGeom>
          <a:noFill/>
        </p:spPr>
        <p:txBody>
          <a:bodyPr vert="horz" wrap="square" lIns="0" tIns="0" rIns="0" bIns="0" rtlCol="0" anchor="t">
            <a:noAutofit/>
          </a:bodyPr>
          <a:lstStyle/>
          <a:p>
            <a:pPr algn="l">
              <a:buNone/>
            </a:pPr>
            <a:r>
              <a:rPr lang="en-SG" sz="1700" b="0" i="0" dirty="0">
                <a:solidFill>
                  <a:srgbClr val="F5F3EB"/>
                </a:solidFill>
                <a:latin typeface="Arial" panose="020B0604020202020204" pitchFamily="34" charset="0"/>
              </a:rPr>
              <a:t>Starting code, contract</a:t>
            </a:r>
            <a:br>
              <a:rPr lang="en-SG" sz="1700" b="0" i="0" dirty="0">
                <a:solidFill>
                  <a:srgbClr val="F5F3EB"/>
                </a:solidFill>
                <a:latin typeface="Arial" panose="020B0604020202020204" pitchFamily="34" charset="0"/>
              </a:rPr>
            </a:br>
            <a:r>
              <a:rPr lang="en-SG" sz="1700" b="0" i="0" dirty="0">
                <a:solidFill>
                  <a:srgbClr val="F5F3EB"/>
                </a:solidFill>
                <a:latin typeface="Arial" panose="020B0604020202020204" pitchFamily="34" charset="0"/>
              </a:rPr>
              <a:t>and tests</a:t>
            </a:r>
            <a:endParaRPr lang="en-SG" sz="1700" b="0" i="0" dirty="0">
              <a:solidFill>
                <a:srgbClr val="F5F3EB"/>
              </a:solidFill>
              <a:latin typeface="Arial" panose="020B0604020202020204" pitchFamily="34" charset="0"/>
            </a:endParaRPr>
          </a:p>
          <a:p>
            <a:pPr algn="l">
              <a:spcBef>
                <a:spcPts val="600"/>
              </a:spcBef>
              <a:buNone/>
            </a:pPr>
            <a:r>
              <a:rPr lang="en-SG" sz="1700" b="0" i="0" dirty="0">
                <a:solidFill>
                  <a:srgbClr val="F5F3EB"/>
                </a:solidFill>
                <a:latin typeface="Arial" panose="020B0604020202020204" pitchFamily="34" charset="0"/>
              </a:rPr>
              <a:t>Recorded message history</a:t>
            </a:r>
            <a:endParaRPr lang="en-SG" sz="1700" b="0" i="0" dirty="0">
              <a:solidFill>
                <a:srgbClr val="F5F3EB"/>
              </a:solidFill>
              <a:latin typeface="Arial" panose="020B0604020202020204" pitchFamily="34" charset="0"/>
            </a:endParaRPr>
          </a:p>
        </p:txBody>
      </p:sp>
      <p:sp>
        <p:nvSpPr>
          <p:cNvPr id="11" name="Model label"/>
          <p:cNvSpPr txBox="1"/>
          <p:nvPr/>
        </p:nvSpPr>
        <p:spPr>
          <a:xfrm>
            <a:off x="841248" y="4178808"/>
            <a:ext cx="2926080" cy="228600"/>
          </a:xfrm>
          <a:prstGeom prst="rect">
            <a:avLst/>
          </a:prstGeom>
          <a:noFill/>
        </p:spPr>
        <p:txBody>
          <a:bodyPr vert="horz" wrap="square" lIns="0" tIns="0" rIns="0" bIns="0" rtlCol="0" anchor="t">
            <a:noAutofit/>
          </a:bodyPr>
          <a:lstStyle/>
          <a:p>
            <a:pPr algn="l">
              <a:buNone/>
            </a:pPr>
            <a:r>
              <a:rPr lang="en-SG" sz="1100" b="1" i="0" dirty="0">
                <a:solidFill>
                  <a:srgbClr val="B9C4D5"/>
                </a:solidFill>
                <a:latin typeface="Arial" panose="020B0604020202020204" pitchFamily="34" charset="0"/>
              </a:rPr>
              <a:t>MODEL</a:t>
            </a:r>
            <a:endParaRPr lang="en-SG" sz="1100" b="1" i="0" dirty="0">
              <a:solidFill>
                <a:srgbClr val="B9C4D5"/>
              </a:solidFill>
              <a:latin typeface="Arial" panose="020B0604020202020204" pitchFamily="34" charset="0"/>
            </a:endParaRPr>
          </a:p>
        </p:txBody>
      </p:sp>
      <p:sp>
        <p:nvSpPr>
          <p:cNvPr id="12" name="Model"/>
          <p:cNvSpPr txBox="1"/>
          <p:nvPr/>
        </p:nvSpPr>
        <p:spPr>
          <a:xfrm>
            <a:off x="841248" y="4407408"/>
            <a:ext cx="2926080" cy="365760"/>
          </a:xfrm>
          <a:prstGeom prst="rect">
            <a:avLst/>
          </a:prstGeom>
          <a:noFill/>
        </p:spPr>
        <p:txBody>
          <a:bodyPr vert="horz" wrap="square" lIns="0" tIns="0" rIns="0" bIns="0" rtlCol="0" anchor="t">
            <a:noAutofit/>
          </a:bodyPr>
          <a:lstStyle/>
          <a:p>
            <a:pPr algn="l">
              <a:buNone/>
            </a:pPr>
            <a:r>
              <a:rPr lang="en-SG" sz="1900" b="1" i="0" dirty="0">
                <a:solidFill>
                  <a:srgbClr val="F5F3EB"/>
                </a:solidFill>
                <a:latin typeface="Arial" panose="020B0604020202020204" pitchFamily="34" charset="0"/>
              </a:rPr>
              <a:t>Opus 5.5</a:t>
            </a:r>
            <a:endParaRPr lang="en-SG" sz="1900" b="1" i="0" dirty="0">
              <a:solidFill>
                <a:srgbClr val="F5F3EB"/>
              </a:solidFill>
              <a:latin typeface="Arial" panose="020B0604020202020204" pitchFamily="34" charset="0"/>
            </a:endParaRPr>
          </a:p>
        </p:txBody>
      </p:sp>
      <p:sp>
        <p:nvSpPr>
          <p:cNvPr id="13" name="Arrow"/>
          <p:cNvSpPr txBox="1"/>
          <p:nvPr/>
        </p:nvSpPr>
        <p:spPr>
          <a:xfrm>
            <a:off x="3904488" y="3383280"/>
            <a:ext cx="548640" cy="457200"/>
          </a:xfrm>
          <a:prstGeom prst="rect">
            <a:avLst/>
          </a:prstGeom>
          <a:noFill/>
        </p:spPr>
        <p:txBody>
          <a:bodyPr vert="horz" wrap="square" lIns="0" tIns="0" rIns="0" bIns="0" rtlCol="0" anchor="ctr">
            <a:noAutofit/>
          </a:bodyPr>
          <a:lstStyle/>
          <a:p>
            <a:pPr algn="ctr">
              <a:buNone/>
            </a:pPr>
            <a:r>
              <a:rPr lang="en-SG" sz="2800" b="1" i="0" dirty="0">
                <a:solidFill>
                  <a:srgbClr val="FFC36A"/>
                </a:solidFill>
                <a:latin typeface="Arial" panose="020B0604020202020204" pitchFamily="34" charset="0"/>
              </a:rPr>
              <a:t>→</a:t>
            </a:r>
            <a:endParaRPr lang="en-SG" sz="2800" b="1" i="0" dirty="0">
              <a:solidFill>
                <a:srgbClr val="FFC36A"/>
              </a:solidFill>
              <a:latin typeface="Arial" panose="020B0604020202020204" pitchFamily="34" charset="0"/>
            </a:endParaRPr>
          </a:p>
        </p:txBody>
      </p:sp>
      <p:sp>
        <p:nvSpPr>
          <p:cNvPr id="14" name="Stage card"/>
          <p:cNvSpPr/>
          <p:nvPr/>
        </p:nvSpPr>
        <p:spPr>
          <a:xfrm>
            <a:off x="4453128" y="2331720"/>
            <a:ext cx="3291840" cy="2560320"/>
          </a:xfrm>
          <a:prstGeom prst="rect">
            <a:avLst/>
          </a:prstGeom>
          <a:solidFill>
            <a:srgbClr val="1B2940"/>
          </a:solidFill>
          <a:ln>
            <a:noFill/>
          </a:ln>
        </p:spPr>
      </p:sp>
      <p:sp>
        <p:nvSpPr>
          <p:cNvPr id="15" name="Stage marker"/>
          <p:cNvSpPr/>
          <p:nvPr/>
        </p:nvSpPr>
        <p:spPr>
          <a:xfrm>
            <a:off x="4453128" y="2331720"/>
            <a:ext cx="3291840" cy="36576"/>
          </a:xfrm>
          <a:prstGeom prst="rect">
            <a:avLst/>
          </a:prstGeom>
          <a:solidFill>
            <a:srgbClr val="FFC36A"/>
          </a:solidFill>
          <a:ln>
            <a:noFill/>
          </a:ln>
        </p:spPr>
      </p:sp>
      <p:sp>
        <p:nvSpPr>
          <p:cNvPr id="16" name="Stage"/>
          <p:cNvSpPr txBox="1"/>
          <p:nvPr/>
        </p:nvSpPr>
        <p:spPr>
          <a:xfrm>
            <a:off x="4681728" y="2532888"/>
            <a:ext cx="2926080" cy="320040"/>
          </a:xfrm>
          <a:prstGeom prst="rect">
            <a:avLst/>
          </a:prstGeom>
          <a:noFill/>
        </p:spPr>
        <p:txBody>
          <a:bodyPr vert="horz" wrap="square" lIns="0" tIns="0" rIns="0" bIns="0" rtlCol="0" anchor="t">
            <a:noAutofit/>
          </a:bodyPr>
          <a:lstStyle/>
          <a:p>
            <a:pPr algn="l">
              <a:buNone/>
            </a:pPr>
            <a:r>
              <a:rPr lang="en-SG" sz="1400" b="1" i="0" dirty="0">
                <a:solidFill>
                  <a:srgbClr val="FFC36A"/>
                </a:solidFill>
                <a:latin typeface="Arial" panose="020B0604020202020204" pitchFamily="34" charset="0"/>
              </a:rPr>
              <a:t>HANDOFF AGENT</a:t>
            </a:r>
            <a:endParaRPr lang="en-SG" sz="1400" b="1" i="0" dirty="0">
              <a:solidFill>
                <a:srgbClr val="FFC36A"/>
              </a:solidFill>
              <a:latin typeface="Arial" panose="020B0604020202020204" pitchFamily="34" charset="0"/>
            </a:endParaRPr>
          </a:p>
        </p:txBody>
      </p:sp>
      <p:sp>
        <p:nvSpPr>
          <p:cNvPr id="17" name="Input and output"/>
          <p:cNvSpPr txBox="1"/>
          <p:nvPr/>
        </p:nvSpPr>
        <p:spPr>
          <a:xfrm>
            <a:off x="4681728" y="2898648"/>
            <a:ext cx="2926080" cy="1188720"/>
          </a:xfrm>
          <a:prstGeom prst="rect">
            <a:avLst/>
          </a:prstGeom>
          <a:noFill/>
        </p:spPr>
        <p:txBody>
          <a:bodyPr vert="horz" wrap="square" lIns="0" tIns="0" rIns="0" bIns="0" rtlCol="0" anchor="t">
            <a:noAutofit/>
          </a:bodyPr>
          <a:lstStyle/>
          <a:p>
            <a:pPr algn="l">
              <a:buNone/>
            </a:pPr>
            <a:r>
              <a:rPr lang="en-SG" sz="1700" b="0" i="0" dirty="0">
                <a:solidFill>
                  <a:srgbClr val="F5F3EB"/>
                </a:solidFill>
                <a:latin typeface="Arial" panose="020B0604020202020204" pitchFamily="34" charset="0"/>
              </a:rPr>
              <a:t>Same history for both formats</a:t>
            </a:r>
            <a:endParaRPr lang="en-SG" sz="1700" b="0" i="0" dirty="0">
              <a:solidFill>
                <a:srgbClr val="F5F3EB"/>
              </a:solidFill>
              <a:latin typeface="Arial" panose="020B0604020202020204" pitchFamily="34" charset="0"/>
            </a:endParaRPr>
          </a:p>
          <a:p>
            <a:pPr algn="l">
              <a:spcBef>
                <a:spcPts val="600"/>
              </a:spcBef>
              <a:buNone/>
            </a:pPr>
            <a:r>
              <a:rPr lang="en-SG" sz="1700" b="0" i="0" dirty="0">
                <a:solidFill>
                  <a:srgbClr val="F5F3EB"/>
                </a:solidFill>
                <a:latin typeface="Arial" panose="020B0604020202020204" pitchFamily="34" charset="0"/>
              </a:rPr>
              <a:t>One prose / one checklist</a:t>
            </a:r>
            <a:endParaRPr lang="en-SG" sz="1700" b="0" i="0" dirty="0">
              <a:solidFill>
                <a:srgbClr val="F5F3EB"/>
              </a:solidFill>
              <a:latin typeface="Arial" panose="020B0604020202020204" pitchFamily="34" charset="0"/>
            </a:endParaRPr>
          </a:p>
        </p:txBody>
      </p:sp>
      <p:sp>
        <p:nvSpPr>
          <p:cNvPr id="18" name="Model label"/>
          <p:cNvSpPr txBox="1"/>
          <p:nvPr/>
        </p:nvSpPr>
        <p:spPr>
          <a:xfrm>
            <a:off x="4681728" y="4178808"/>
            <a:ext cx="2926080" cy="228600"/>
          </a:xfrm>
          <a:prstGeom prst="rect">
            <a:avLst/>
          </a:prstGeom>
          <a:noFill/>
        </p:spPr>
        <p:txBody>
          <a:bodyPr vert="horz" wrap="square" lIns="0" tIns="0" rIns="0" bIns="0" rtlCol="0" anchor="t">
            <a:noAutofit/>
          </a:bodyPr>
          <a:lstStyle/>
          <a:p>
            <a:pPr algn="l">
              <a:buNone/>
            </a:pPr>
            <a:r>
              <a:rPr lang="en-SG" sz="1100" b="1" i="0" dirty="0">
                <a:solidFill>
                  <a:srgbClr val="B9C4D5"/>
                </a:solidFill>
                <a:latin typeface="Arial" panose="020B0604020202020204" pitchFamily="34" charset="0"/>
              </a:rPr>
              <a:t>MODEL</a:t>
            </a:r>
            <a:endParaRPr lang="en-SG" sz="1100" b="1" i="0" dirty="0">
              <a:solidFill>
                <a:srgbClr val="B9C4D5"/>
              </a:solidFill>
              <a:latin typeface="Arial" panose="020B0604020202020204" pitchFamily="34" charset="0"/>
            </a:endParaRPr>
          </a:p>
        </p:txBody>
      </p:sp>
      <p:sp>
        <p:nvSpPr>
          <p:cNvPr id="19" name="Model"/>
          <p:cNvSpPr txBox="1"/>
          <p:nvPr/>
        </p:nvSpPr>
        <p:spPr>
          <a:xfrm>
            <a:off x="4681728" y="4407408"/>
            <a:ext cx="2926080" cy="365760"/>
          </a:xfrm>
          <a:prstGeom prst="rect">
            <a:avLst/>
          </a:prstGeom>
          <a:noFill/>
        </p:spPr>
        <p:txBody>
          <a:bodyPr vert="horz" wrap="square" lIns="0" tIns="0" rIns="0" bIns="0" rtlCol="0" anchor="t">
            <a:noAutofit/>
          </a:bodyPr>
          <a:lstStyle/>
          <a:p>
            <a:pPr algn="l">
              <a:buNone/>
            </a:pPr>
            <a:r>
              <a:rPr lang="en-SG" sz="1900" b="1" i="0" dirty="0">
                <a:solidFill>
                  <a:srgbClr val="F5F3EB"/>
                </a:solidFill>
                <a:latin typeface="Arial" panose="020B0604020202020204" pitchFamily="34" charset="0"/>
              </a:rPr>
              <a:t>Four models</a:t>
            </a:r>
            <a:endParaRPr lang="en-SG" sz="1900" b="1" i="0" dirty="0">
              <a:solidFill>
                <a:srgbClr val="F5F3EB"/>
              </a:solidFill>
              <a:latin typeface="Arial" panose="020B0604020202020204" pitchFamily="34" charset="0"/>
            </a:endParaRPr>
          </a:p>
        </p:txBody>
      </p:sp>
      <p:sp>
        <p:nvSpPr>
          <p:cNvPr id="20" name="Arrow"/>
          <p:cNvSpPr txBox="1"/>
          <p:nvPr/>
        </p:nvSpPr>
        <p:spPr>
          <a:xfrm>
            <a:off x="7744968" y="3383280"/>
            <a:ext cx="548640" cy="457200"/>
          </a:xfrm>
          <a:prstGeom prst="rect">
            <a:avLst/>
          </a:prstGeom>
          <a:noFill/>
        </p:spPr>
        <p:txBody>
          <a:bodyPr vert="horz" wrap="square" lIns="0" tIns="0" rIns="0" bIns="0" rtlCol="0" anchor="ctr">
            <a:noAutofit/>
          </a:bodyPr>
          <a:lstStyle/>
          <a:p>
            <a:pPr algn="ctr">
              <a:buNone/>
            </a:pPr>
            <a:r>
              <a:rPr lang="en-SG" sz="2800" b="1" i="0" dirty="0">
                <a:solidFill>
                  <a:srgbClr val="FFC36A"/>
                </a:solidFill>
                <a:latin typeface="Arial" panose="020B0604020202020204" pitchFamily="34" charset="0"/>
              </a:rPr>
              <a:t>→</a:t>
            </a:r>
            <a:endParaRPr lang="en-SG" sz="2800" b="1" i="0" dirty="0">
              <a:solidFill>
                <a:srgbClr val="FFC36A"/>
              </a:solidFill>
              <a:latin typeface="Arial" panose="020B0604020202020204" pitchFamily="34" charset="0"/>
            </a:endParaRPr>
          </a:p>
        </p:txBody>
      </p:sp>
      <p:sp>
        <p:nvSpPr>
          <p:cNvPr id="21" name="Stage card"/>
          <p:cNvSpPr/>
          <p:nvPr/>
        </p:nvSpPr>
        <p:spPr>
          <a:xfrm>
            <a:off x="8293608" y="2331720"/>
            <a:ext cx="3291840" cy="2560320"/>
          </a:xfrm>
          <a:prstGeom prst="rect">
            <a:avLst/>
          </a:prstGeom>
          <a:solidFill>
            <a:srgbClr val="1B2940"/>
          </a:solidFill>
          <a:ln>
            <a:noFill/>
          </a:ln>
        </p:spPr>
      </p:sp>
      <p:sp>
        <p:nvSpPr>
          <p:cNvPr id="22" name="Stage marker"/>
          <p:cNvSpPr/>
          <p:nvPr/>
        </p:nvSpPr>
        <p:spPr>
          <a:xfrm>
            <a:off x="8293608" y="2331720"/>
            <a:ext cx="3291840" cy="36576"/>
          </a:xfrm>
          <a:prstGeom prst="rect">
            <a:avLst/>
          </a:prstGeom>
          <a:solidFill>
            <a:srgbClr val="69DECC"/>
          </a:solidFill>
          <a:ln>
            <a:noFill/>
          </a:ln>
        </p:spPr>
      </p:sp>
      <p:sp>
        <p:nvSpPr>
          <p:cNvPr id="23" name="Stage"/>
          <p:cNvSpPr txBox="1"/>
          <p:nvPr/>
        </p:nvSpPr>
        <p:spPr>
          <a:xfrm>
            <a:off x="8522208" y="2532888"/>
            <a:ext cx="2926080" cy="320040"/>
          </a:xfrm>
          <a:prstGeom prst="rect">
            <a:avLst/>
          </a:prstGeom>
          <a:noFill/>
        </p:spPr>
        <p:txBody>
          <a:bodyPr vert="horz" wrap="square" lIns="0" tIns="0" rIns="0" bIns="0" rtlCol="0" anchor="t">
            <a:noAutofit/>
          </a:bodyPr>
          <a:lstStyle/>
          <a:p>
            <a:pPr algn="l">
              <a:buNone/>
            </a:pPr>
            <a:r>
              <a:rPr lang="en-SG" sz="1400" b="1" i="0" dirty="0">
                <a:solidFill>
                  <a:srgbClr val="69DECC"/>
                </a:solidFill>
                <a:latin typeface="Arial" panose="020B0604020202020204" pitchFamily="34" charset="0"/>
              </a:rPr>
              <a:t>RECEIVING AGENT</a:t>
            </a:r>
            <a:endParaRPr lang="en-SG" sz="1400" b="1" i="0" dirty="0">
              <a:solidFill>
                <a:srgbClr val="69DECC"/>
              </a:solidFill>
              <a:latin typeface="Arial" panose="020B0604020202020204" pitchFamily="34" charset="0"/>
            </a:endParaRPr>
          </a:p>
        </p:txBody>
      </p:sp>
      <p:sp>
        <p:nvSpPr>
          <p:cNvPr id="24" name="Input and output"/>
          <p:cNvSpPr txBox="1"/>
          <p:nvPr/>
        </p:nvSpPr>
        <p:spPr>
          <a:xfrm>
            <a:off x="8522208" y="2898648"/>
            <a:ext cx="2926080" cy="1188720"/>
          </a:xfrm>
          <a:prstGeom prst="rect">
            <a:avLst/>
          </a:prstGeom>
          <a:noFill/>
        </p:spPr>
        <p:txBody>
          <a:bodyPr vert="horz" wrap="square" lIns="0" tIns="0" rIns="0" bIns="0" rtlCol="0" anchor="t">
            <a:noAutofit/>
          </a:bodyPr>
          <a:lstStyle/>
          <a:p>
            <a:pPr algn="l">
              <a:buNone/>
            </a:pPr>
            <a:r>
              <a:rPr lang="en-SG" sz="1700" b="0" i="0" dirty="0">
                <a:solidFill>
                  <a:srgbClr val="F5F3EB"/>
                </a:solidFill>
                <a:latin typeface="Arial" panose="020B0604020202020204" pitchFamily="34" charset="0"/>
              </a:rPr>
              <a:t>Only the handoff and</a:t>
            </a:r>
            <a:br>
              <a:rPr lang="en-SG" sz="1700" b="0" i="0" dirty="0">
                <a:solidFill>
                  <a:srgbClr val="F5F3EB"/>
                </a:solidFill>
                <a:latin typeface="Arial" panose="020B0604020202020204" pitchFamily="34" charset="0"/>
              </a:rPr>
            </a:br>
            <a:r>
              <a:rPr lang="en-SG" sz="1700" b="0" i="0" dirty="0">
                <a:solidFill>
                  <a:srgbClr val="F5F3EB"/>
                </a:solidFill>
                <a:latin typeface="Arial" panose="020B0604020202020204" pitchFamily="34" charset="0"/>
              </a:rPr>
              <a:t>six questions</a:t>
            </a:r>
            <a:endParaRPr lang="en-SG" sz="1700" b="0" i="0" dirty="0">
              <a:solidFill>
                <a:srgbClr val="F5F3EB"/>
              </a:solidFill>
              <a:latin typeface="Arial" panose="020B0604020202020204" pitchFamily="34" charset="0"/>
            </a:endParaRPr>
          </a:p>
          <a:p>
            <a:pPr algn="l">
              <a:spcBef>
                <a:spcPts val="600"/>
              </a:spcBef>
              <a:buNone/>
            </a:pPr>
            <a:r>
              <a:rPr lang="en-SG" sz="1700" b="0" i="0" dirty="0">
                <a:solidFill>
                  <a:srgbClr val="F5F3EB"/>
                </a:solidFill>
                <a:latin typeface="Arial" panose="020B0604020202020204" pitchFamily="34" charset="0"/>
              </a:rPr>
              <a:t>Answers with</a:t>
            </a:r>
            <a:br>
              <a:rPr lang="en-SG" sz="1700" b="0" i="0" dirty="0">
                <a:solidFill>
                  <a:srgbClr val="F5F3EB"/>
                </a:solidFill>
                <a:latin typeface="Arial" panose="020B0604020202020204" pitchFamily="34" charset="0"/>
              </a:rPr>
            </a:br>
            <a:r>
              <a:rPr lang="en-SG" sz="1700" b="0" i="0" dirty="0">
                <a:solidFill>
                  <a:srgbClr val="F5F3EB"/>
                </a:solidFill>
                <a:latin typeface="Arial" panose="020B0604020202020204" pitchFamily="34" charset="0"/>
              </a:rPr>
              <a:t>supporting quotes</a:t>
            </a:r>
            <a:endParaRPr lang="en-SG" sz="1700" b="0" i="0" dirty="0">
              <a:solidFill>
                <a:srgbClr val="F5F3EB"/>
              </a:solidFill>
              <a:latin typeface="Arial" panose="020B0604020202020204" pitchFamily="34" charset="0"/>
            </a:endParaRPr>
          </a:p>
        </p:txBody>
      </p:sp>
      <p:sp>
        <p:nvSpPr>
          <p:cNvPr id="25" name="Model label"/>
          <p:cNvSpPr txBox="1"/>
          <p:nvPr/>
        </p:nvSpPr>
        <p:spPr>
          <a:xfrm>
            <a:off x="8522208" y="4178808"/>
            <a:ext cx="2926080" cy="228600"/>
          </a:xfrm>
          <a:prstGeom prst="rect">
            <a:avLst/>
          </a:prstGeom>
          <a:noFill/>
        </p:spPr>
        <p:txBody>
          <a:bodyPr vert="horz" wrap="square" lIns="0" tIns="0" rIns="0" bIns="0" rtlCol="0" anchor="t">
            <a:noAutofit/>
          </a:bodyPr>
          <a:lstStyle/>
          <a:p>
            <a:pPr algn="l">
              <a:buNone/>
            </a:pPr>
            <a:r>
              <a:rPr lang="en-SG" sz="1100" b="1" i="0" dirty="0">
                <a:solidFill>
                  <a:srgbClr val="B9C4D5"/>
                </a:solidFill>
                <a:latin typeface="Arial" panose="020B0604020202020204" pitchFamily="34" charset="0"/>
              </a:rPr>
              <a:t>MODEL</a:t>
            </a:r>
            <a:endParaRPr lang="en-SG" sz="1100" b="1" i="0" dirty="0">
              <a:solidFill>
                <a:srgbClr val="B9C4D5"/>
              </a:solidFill>
              <a:latin typeface="Arial" panose="020B0604020202020204" pitchFamily="34" charset="0"/>
            </a:endParaRPr>
          </a:p>
        </p:txBody>
      </p:sp>
      <p:sp>
        <p:nvSpPr>
          <p:cNvPr id="26" name="Model"/>
          <p:cNvSpPr txBox="1"/>
          <p:nvPr/>
        </p:nvSpPr>
        <p:spPr>
          <a:xfrm>
            <a:off x="8522208" y="4407408"/>
            <a:ext cx="2926080" cy="365760"/>
          </a:xfrm>
          <a:prstGeom prst="rect">
            <a:avLst/>
          </a:prstGeom>
          <a:noFill/>
        </p:spPr>
        <p:txBody>
          <a:bodyPr vert="horz" wrap="square" lIns="0" tIns="0" rIns="0" bIns="0" rtlCol="0" anchor="t">
            <a:noAutofit/>
          </a:bodyPr>
          <a:lstStyle/>
          <a:p>
            <a:pPr algn="l">
              <a:buNone/>
            </a:pPr>
            <a:r>
              <a:rPr lang="en-SG" sz="1900" b="1" i="0" dirty="0">
                <a:solidFill>
                  <a:srgbClr val="F5F3EB"/>
                </a:solidFill>
                <a:latin typeface="Arial" panose="020B0604020202020204" pitchFamily="34" charset="0"/>
              </a:rPr>
              <a:t>Opus 5.5</a:t>
            </a:r>
            <a:endParaRPr lang="en-SG" sz="1900" b="1" i="0" dirty="0">
              <a:solidFill>
                <a:srgbClr val="F5F3EB"/>
              </a:solidFill>
              <a:latin typeface="Arial" panose="020B0604020202020204" pitchFamily="34" charset="0"/>
            </a:endParaRPr>
          </a:p>
        </p:txBody>
      </p:sp>
      <p:sp>
        <p:nvSpPr>
          <p:cNvPr id="27" name="Callout"/>
          <p:cNvSpPr/>
          <p:nvPr/>
        </p:nvSpPr>
        <p:spPr>
          <a:xfrm>
            <a:off x="612648" y="5166360"/>
            <a:ext cx="10972800" cy="685800"/>
          </a:xfrm>
          <a:prstGeom prst="rect">
            <a:avLst/>
          </a:prstGeom>
          <a:solidFill>
            <a:srgbClr val="1B2940"/>
          </a:solidFill>
          <a:ln>
            <a:noFill/>
          </a:ln>
        </p:spPr>
      </p:sp>
      <p:sp>
        <p:nvSpPr>
          <p:cNvPr id="28" name="Callout marker"/>
          <p:cNvSpPr/>
          <p:nvPr/>
        </p:nvSpPr>
        <p:spPr>
          <a:xfrm>
            <a:off x="612648" y="5166360"/>
            <a:ext cx="36576" cy="685800"/>
          </a:xfrm>
          <a:prstGeom prst="rect">
            <a:avLst/>
          </a:prstGeom>
          <a:solidFill>
            <a:srgbClr val="FFC36A"/>
          </a:solidFill>
          <a:ln>
            <a:noFill/>
          </a:ln>
        </p:spPr>
      </p:sp>
      <p:sp>
        <p:nvSpPr>
          <p:cNvPr id="29" name="Callout text"/>
          <p:cNvSpPr txBox="1"/>
          <p:nvPr/>
        </p:nvSpPr>
        <p:spPr>
          <a:xfrm>
            <a:off x="841248" y="5166360"/>
            <a:ext cx="10515600" cy="685800"/>
          </a:xfrm>
          <a:prstGeom prst="rect">
            <a:avLst/>
          </a:prstGeom>
          <a:noFill/>
        </p:spPr>
        <p:txBody>
          <a:bodyPr vert="horz" wrap="square" lIns="0" tIns="0" rIns="0" bIns="0" rtlCol="0" anchor="ctr">
            <a:noAutofit/>
          </a:bodyPr>
          <a:lstStyle/>
          <a:p>
            <a:pPr algn="l">
              <a:buNone/>
            </a:pPr>
            <a:r>
              <a:rPr lang="en-SG" sz="2100" b="1" i="0" dirty="0">
                <a:solidFill>
                  <a:srgbClr val="FFC36A"/>
                </a:solidFill>
                <a:latin typeface="Arial" panose="020B0604020202020204" pitchFamily="34" charset="0"/>
              </a:rPr>
              <a:t>5 histories × 4 models × 2 formats = 40 handoffs and 40 quizzes</a:t>
            </a:r>
            <a:endParaRPr lang="en-SG" sz="2100" b="1" i="0" dirty="0">
              <a:solidFill>
                <a:srgbClr val="FFC36A"/>
              </a:solidFill>
              <a:latin typeface="Arial" panose="020B0604020202020204" pitchFamily="34" charset="0"/>
            </a:endParaRPr>
          </a:p>
        </p:txBody>
      </p:sp>
    </p:spTree>
    <p:extLst>
      <p:ext uri="{BB962C8B-B14F-4D97-AF65-F5344CB8AC3E}">
        <p14:creationId xmlns:p14="http://schemas.microsoft.com/office/powerpoint/2010/main" val="3576815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marker"/>
          <p:cNvSpPr/>
          <p:nvPr/>
        </p:nvSpPr>
        <p:spPr>
          <a:xfrm>
            <a:off x="612648" y="429768"/>
            <a:ext cx="338328" cy="54864"/>
          </a:xfrm>
          <a:prstGeom prst="rect">
            <a:avLst/>
          </a:prstGeom>
          <a:solidFill>
            <a:srgbClr val="69DECC"/>
          </a:solidFill>
          <a:ln>
            <a:noFill/>
          </a:ln>
        </p:spPr>
      </p:sp>
      <p:sp>
        <p:nvSpPr>
          <p:cNvPr id="3" name="Section label"/>
          <p:cNvSpPr txBox="1"/>
          <p:nvPr/>
        </p:nvSpPr>
        <p:spPr>
          <a:xfrm>
            <a:off x="1060704" y="265176"/>
            <a:ext cx="9601200" cy="365760"/>
          </a:xfrm>
          <a:prstGeom prst="rect">
            <a:avLst/>
          </a:prstGeom>
          <a:noFill/>
        </p:spPr>
        <p:txBody>
          <a:bodyPr vert="horz" wrap="square" lIns="0" tIns="0" rIns="0" bIns="0" rtlCol="0" anchor="ctr">
            <a:noAutofit/>
          </a:bodyPr>
          <a:lstStyle/>
          <a:p>
            <a:pPr algn="l">
              <a:buNone/>
            </a:pPr>
            <a:r>
              <a:rPr lang="en-SG" sz="1200" b="1" i="0" dirty="0">
                <a:solidFill>
                  <a:srgbClr val="69DECC"/>
                </a:solidFill>
                <a:latin typeface="Arial" panose="020B0604020202020204" pitchFamily="34" charset="0"/>
              </a:rPr>
              <a:t>03 / THE MEASURE</a:t>
            </a:r>
            <a:endParaRPr lang="en-SG" sz="1200" b="1" i="0" dirty="0">
              <a:solidFill>
                <a:srgbClr val="69DECC"/>
              </a:solidFill>
              <a:latin typeface="Arial" panose="020B0604020202020204" pitchFamily="34" charset="0"/>
            </a:endParaRPr>
          </a:p>
        </p:txBody>
      </p:sp>
      <p:sp>
        <p:nvSpPr>
          <p:cNvPr id="4" name="Slide title"/>
          <p:cNvSpPr txBox="1"/>
          <p:nvPr/>
        </p:nvSpPr>
        <p:spPr>
          <a:xfrm>
            <a:off x="612648" y="813816"/>
            <a:ext cx="10972800" cy="850392"/>
          </a:xfrm>
          <a:prstGeom prst="rect">
            <a:avLst/>
          </a:prstGeom>
          <a:noFill/>
        </p:spPr>
        <p:txBody>
          <a:bodyPr vert="horz" wrap="square" lIns="0" tIns="0" rIns="0" bIns="0" rtlCol="0" anchor="ctr">
            <a:noAutofit/>
          </a:bodyPr>
          <a:lstStyle/>
          <a:p>
            <a:pPr algn="l">
              <a:buNone/>
            </a:pPr>
            <a:r>
              <a:rPr lang="en-SG" sz="3400" b="1" i="0" dirty="0">
                <a:solidFill>
                  <a:srgbClr val="F5F3EB"/>
                </a:solidFill>
                <a:latin typeface="Arial" panose="020B0604020202020204" pitchFamily="34" charset="0"/>
              </a:rPr>
              <a:t>Fact recovery as the assessment</a:t>
            </a:r>
            <a:endParaRPr lang="en-SG" sz="3400" b="1" i="0" dirty="0">
              <a:solidFill>
                <a:srgbClr val="F5F3EB"/>
              </a:solidFill>
              <a:latin typeface="Arial" panose="020B0604020202020204" pitchFamily="34" charset="0"/>
            </a:endParaRPr>
          </a:p>
        </p:txBody>
      </p:sp>
      <p:sp>
        <p:nvSpPr>
          <p:cNvPr id="5" name="Slide number"/>
          <p:cNvSpPr txBox="1"/>
          <p:nvPr/>
        </p:nvSpPr>
        <p:spPr>
          <a:xfrm>
            <a:off x="10588752" y="6327648"/>
            <a:ext cx="987552" cy="265176"/>
          </a:xfrm>
          <a:prstGeom prst="rect">
            <a:avLst/>
          </a:prstGeom>
          <a:noFill/>
        </p:spPr>
        <p:txBody>
          <a:bodyPr vert="horz" wrap="square" lIns="0" tIns="0" rIns="0" bIns="0" rtlCol="0" anchor="ctr">
            <a:noAutofit/>
          </a:bodyPr>
          <a:lstStyle/>
          <a:p>
            <a:pPr algn="r">
              <a:buNone/>
            </a:pPr>
            <a:r>
              <a:rPr lang="en-SG" sz="1050" b="0" i="0" dirty="0">
                <a:solidFill>
                  <a:srgbClr val="B9C4D5"/>
                </a:solidFill>
                <a:latin typeface="Arial" panose="020B0604020202020204" pitchFamily="34" charset="0"/>
              </a:rPr>
              <a:t>04 / 10</a:t>
            </a:r>
            <a:endParaRPr lang="en-SG" sz="1050" b="0" i="0" dirty="0">
              <a:solidFill>
                <a:srgbClr val="B9C4D5"/>
              </a:solidFill>
              <a:latin typeface="Arial" panose="020B0604020202020204" pitchFamily="34" charset="0"/>
            </a:endParaRPr>
          </a:p>
        </p:txBody>
      </p:sp>
      <p:sp>
        <p:nvSpPr>
          <p:cNvPr id="6" name="Table label"/>
          <p:cNvSpPr txBox="1"/>
          <p:nvPr/>
        </p:nvSpPr>
        <p:spPr>
          <a:xfrm>
            <a:off x="612648" y="1828800"/>
            <a:ext cx="10972800" cy="274320"/>
          </a:xfrm>
          <a:prstGeom prst="rect">
            <a:avLst/>
          </a:prstGeom>
          <a:noFill/>
        </p:spPr>
        <p:txBody>
          <a:bodyPr vert="horz" wrap="square" lIns="0" tIns="0" rIns="0" bIns="0" rtlCol="0" anchor="t">
            <a:noAutofit/>
          </a:bodyPr>
          <a:lstStyle/>
          <a:p>
            <a:pPr algn="l">
              <a:buNone/>
            </a:pPr>
            <a:r>
              <a:rPr lang="en-SG" sz="1200" b="1" i="0" dirty="0">
                <a:solidFill>
                  <a:srgbClr val="69DECC"/>
                </a:solidFill>
                <a:latin typeface="Arial" panose="020B0604020202020204" pitchFamily="34" charset="0"/>
              </a:rPr>
              <a:t>QUESTION TOPICS</a:t>
            </a:r>
            <a:endParaRPr lang="en-SG" sz="1200" b="1" i="0" dirty="0">
              <a:solidFill>
                <a:srgbClr val="69DECC"/>
              </a:solidFill>
              <a:latin typeface="Arial" panose="020B0604020202020204" pitchFamily="34" charset="0"/>
            </a:endParaRPr>
          </a:p>
        </p:txBody>
      </p:sp>
      <p:sp>
        <p:nvSpPr>
          <p:cNvPr id="7" name="Question number"/>
          <p:cNvSpPr/>
          <p:nvPr/>
        </p:nvSpPr>
        <p:spPr>
          <a:xfrm>
            <a:off x="612648" y="2240280"/>
            <a:ext cx="640080" cy="493776"/>
          </a:xfrm>
          <a:prstGeom prst="rect">
            <a:avLst/>
          </a:prstGeom>
          <a:solidFill>
            <a:srgbClr val="24334B"/>
          </a:solidFill>
          <a:ln>
            <a:noFill/>
          </a:ln>
        </p:spPr>
      </p:sp>
      <p:sp>
        <p:nvSpPr>
          <p:cNvPr id="8" name="Question number text"/>
          <p:cNvSpPr txBox="1"/>
          <p:nvPr/>
        </p:nvSpPr>
        <p:spPr>
          <a:xfrm>
            <a:off x="612648" y="2240280"/>
            <a:ext cx="640080" cy="493776"/>
          </a:xfrm>
          <a:prstGeom prst="rect">
            <a:avLst/>
          </a:prstGeom>
          <a:noFill/>
        </p:spPr>
        <p:txBody>
          <a:bodyPr vert="horz" wrap="square" lIns="0" tIns="0" rIns="0" bIns="0" rtlCol="0" anchor="ctr">
            <a:noAutofit/>
          </a:bodyPr>
          <a:lstStyle/>
          <a:p>
            <a:pPr algn="ctr">
              <a:buNone/>
            </a:pPr>
            <a:r>
              <a:rPr lang="en-SG" sz="1800" b="1" i="0" dirty="0">
                <a:solidFill>
                  <a:srgbClr val="69DECC"/>
                </a:solidFill>
                <a:latin typeface="Arial" panose="020B0604020202020204" pitchFamily="34" charset="0"/>
              </a:rPr>
              <a:t>Q1</a:t>
            </a:r>
            <a:endParaRPr lang="en-SG" sz="1800" b="1" i="0" dirty="0">
              <a:solidFill>
                <a:srgbClr val="69DECC"/>
              </a:solidFill>
              <a:latin typeface="Arial" panose="020B0604020202020204" pitchFamily="34" charset="0"/>
            </a:endParaRPr>
          </a:p>
        </p:txBody>
      </p:sp>
      <p:sp>
        <p:nvSpPr>
          <p:cNvPr id="9" name="Question topic"/>
          <p:cNvSpPr txBox="1"/>
          <p:nvPr/>
        </p:nvSpPr>
        <p:spPr>
          <a:xfrm>
            <a:off x="1481328" y="2240280"/>
            <a:ext cx="4572000" cy="493776"/>
          </a:xfrm>
          <a:prstGeom prst="rect">
            <a:avLst/>
          </a:prstGeom>
          <a:noFill/>
        </p:spPr>
        <p:txBody>
          <a:bodyPr vert="horz" wrap="square" lIns="0" tIns="0" rIns="0" bIns="0" rtlCol="0" anchor="ctr">
            <a:noAutofit/>
          </a:bodyPr>
          <a:lstStyle/>
          <a:p>
            <a:pPr algn="l">
              <a:buNone/>
            </a:pPr>
            <a:r>
              <a:rPr lang="en-SG" sz="2100" b="0" i="0" dirty="0">
                <a:solidFill>
                  <a:srgbClr val="F5F3EB"/>
                </a:solidFill>
                <a:latin typeface="Arial" panose="020B0604020202020204" pitchFamily="34" charset="0"/>
              </a:rPr>
              <a:t>Changed files</a:t>
            </a:r>
            <a:endParaRPr lang="en-SG" sz="2100" b="0" i="0" dirty="0">
              <a:solidFill>
                <a:srgbClr val="F5F3EB"/>
              </a:solidFill>
              <a:latin typeface="Arial" panose="020B0604020202020204" pitchFamily="34" charset="0"/>
            </a:endParaRPr>
          </a:p>
        </p:txBody>
      </p:sp>
      <p:sp>
        <p:nvSpPr>
          <p:cNvPr id="10" name="Question number"/>
          <p:cNvSpPr/>
          <p:nvPr/>
        </p:nvSpPr>
        <p:spPr>
          <a:xfrm>
            <a:off x="612648" y="2898648"/>
            <a:ext cx="640080" cy="493776"/>
          </a:xfrm>
          <a:prstGeom prst="rect">
            <a:avLst/>
          </a:prstGeom>
          <a:solidFill>
            <a:srgbClr val="24334B"/>
          </a:solidFill>
          <a:ln>
            <a:noFill/>
          </a:ln>
        </p:spPr>
      </p:sp>
      <p:sp>
        <p:nvSpPr>
          <p:cNvPr id="11" name="Question number text"/>
          <p:cNvSpPr txBox="1"/>
          <p:nvPr/>
        </p:nvSpPr>
        <p:spPr>
          <a:xfrm>
            <a:off x="612648" y="2898648"/>
            <a:ext cx="640080" cy="493776"/>
          </a:xfrm>
          <a:prstGeom prst="rect">
            <a:avLst/>
          </a:prstGeom>
          <a:noFill/>
        </p:spPr>
        <p:txBody>
          <a:bodyPr vert="horz" wrap="square" lIns="0" tIns="0" rIns="0" bIns="0" rtlCol="0" anchor="ctr">
            <a:noAutofit/>
          </a:bodyPr>
          <a:lstStyle/>
          <a:p>
            <a:pPr algn="ctr">
              <a:buNone/>
            </a:pPr>
            <a:r>
              <a:rPr lang="en-SG" sz="1800" b="1" i="0" dirty="0">
                <a:solidFill>
                  <a:srgbClr val="69DECC"/>
                </a:solidFill>
                <a:latin typeface="Arial" panose="020B0604020202020204" pitchFamily="34" charset="0"/>
              </a:rPr>
              <a:t>Q2</a:t>
            </a:r>
            <a:endParaRPr lang="en-SG" sz="1800" b="1" i="0" dirty="0">
              <a:solidFill>
                <a:srgbClr val="69DECC"/>
              </a:solidFill>
              <a:latin typeface="Arial" panose="020B0604020202020204" pitchFamily="34" charset="0"/>
            </a:endParaRPr>
          </a:p>
        </p:txBody>
      </p:sp>
      <p:sp>
        <p:nvSpPr>
          <p:cNvPr id="12" name="Question topic"/>
          <p:cNvSpPr txBox="1"/>
          <p:nvPr/>
        </p:nvSpPr>
        <p:spPr>
          <a:xfrm>
            <a:off x="1481328" y="2898648"/>
            <a:ext cx="4572000" cy="493776"/>
          </a:xfrm>
          <a:prstGeom prst="rect">
            <a:avLst/>
          </a:prstGeom>
          <a:noFill/>
        </p:spPr>
        <p:txBody>
          <a:bodyPr vert="horz" wrap="square" lIns="0" tIns="0" rIns="0" bIns="0" rtlCol="0" anchor="ctr">
            <a:noAutofit/>
          </a:bodyPr>
          <a:lstStyle/>
          <a:p>
            <a:pPr algn="l">
              <a:buNone/>
            </a:pPr>
            <a:r>
              <a:rPr lang="en-SG" sz="2100" b="0" i="0" dirty="0">
                <a:solidFill>
                  <a:srgbClr val="F5F3EB"/>
                </a:solidFill>
                <a:latin typeface="Arial" panose="020B0604020202020204" pitchFamily="34" charset="0"/>
              </a:rPr>
              <a:t>Checks and outcomes</a:t>
            </a:r>
            <a:endParaRPr lang="en-SG" sz="2100" b="0" i="0" dirty="0">
              <a:solidFill>
                <a:srgbClr val="F5F3EB"/>
              </a:solidFill>
              <a:latin typeface="Arial" panose="020B0604020202020204" pitchFamily="34" charset="0"/>
            </a:endParaRPr>
          </a:p>
        </p:txBody>
      </p:sp>
      <p:sp>
        <p:nvSpPr>
          <p:cNvPr id="13" name="Question number"/>
          <p:cNvSpPr/>
          <p:nvPr/>
        </p:nvSpPr>
        <p:spPr>
          <a:xfrm>
            <a:off x="612648" y="3557016"/>
            <a:ext cx="640080" cy="493776"/>
          </a:xfrm>
          <a:prstGeom prst="rect">
            <a:avLst/>
          </a:prstGeom>
          <a:solidFill>
            <a:srgbClr val="24334B"/>
          </a:solidFill>
          <a:ln>
            <a:noFill/>
          </a:ln>
        </p:spPr>
      </p:sp>
      <p:sp>
        <p:nvSpPr>
          <p:cNvPr id="14" name="Question number text"/>
          <p:cNvSpPr txBox="1"/>
          <p:nvPr/>
        </p:nvSpPr>
        <p:spPr>
          <a:xfrm>
            <a:off x="612648" y="3557016"/>
            <a:ext cx="640080" cy="493776"/>
          </a:xfrm>
          <a:prstGeom prst="rect">
            <a:avLst/>
          </a:prstGeom>
          <a:noFill/>
        </p:spPr>
        <p:txBody>
          <a:bodyPr vert="horz" wrap="square" lIns="0" tIns="0" rIns="0" bIns="0" rtlCol="0" anchor="ctr">
            <a:noAutofit/>
          </a:bodyPr>
          <a:lstStyle/>
          <a:p>
            <a:pPr algn="ctr">
              <a:buNone/>
            </a:pPr>
            <a:r>
              <a:rPr lang="en-SG" sz="1800" b="1" i="0" dirty="0">
                <a:solidFill>
                  <a:srgbClr val="69DECC"/>
                </a:solidFill>
                <a:latin typeface="Arial" panose="020B0604020202020204" pitchFamily="34" charset="0"/>
              </a:rPr>
              <a:t>Q3</a:t>
            </a:r>
            <a:endParaRPr lang="en-SG" sz="1800" b="1" i="0" dirty="0">
              <a:solidFill>
                <a:srgbClr val="69DECC"/>
              </a:solidFill>
              <a:latin typeface="Arial" panose="020B0604020202020204" pitchFamily="34" charset="0"/>
            </a:endParaRPr>
          </a:p>
        </p:txBody>
      </p:sp>
      <p:sp>
        <p:nvSpPr>
          <p:cNvPr id="15" name="Question topic"/>
          <p:cNvSpPr txBox="1"/>
          <p:nvPr/>
        </p:nvSpPr>
        <p:spPr>
          <a:xfrm>
            <a:off x="1481328" y="3557016"/>
            <a:ext cx="4572000" cy="493776"/>
          </a:xfrm>
          <a:prstGeom prst="rect">
            <a:avLst/>
          </a:prstGeom>
          <a:noFill/>
        </p:spPr>
        <p:txBody>
          <a:bodyPr vert="horz" wrap="square" lIns="0" tIns="0" rIns="0" bIns="0" rtlCol="0" anchor="ctr">
            <a:noAutofit/>
          </a:bodyPr>
          <a:lstStyle/>
          <a:p>
            <a:pPr algn="l">
              <a:buNone/>
            </a:pPr>
            <a:r>
              <a:rPr lang="en-SG" sz="2100" b="0" i="0" dirty="0">
                <a:solidFill>
                  <a:srgbClr val="F5F3EB"/>
                </a:solidFill>
                <a:latin typeface="Arial" panose="020B0604020202020204" pitchFamily="34" charset="0"/>
              </a:rPr>
              <a:t>Verification limits</a:t>
            </a:r>
            <a:endParaRPr lang="en-SG" sz="2100" b="0" i="0" dirty="0">
              <a:solidFill>
                <a:srgbClr val="F5F3EB"/>
              </a:solidFill>
              <a:latin typeface="Arial" panose="020B0604020202020204" pitchFamily="34" charset="0"/>
            </a:endParaRPr>
          </a:p>
        </p:txBody>
      </p:sp>
      <p:sp>
        <p:nvSpPr>
          <p:cNvPr id="16" name="Question number"/>
          <p:cNvSpPr/>
          <p:nvPr/>
        </p:nvSpPr>
        <p:spPr>
          <a:xfrm>
            <a:off x="6281928" y="2240280"/>
            <a:ext cx="640080" cy="493776"/>
          </a:xfrm>
          <a:prstGeom prst="rect">
            <a:avLst/>
          </a:prstGeom>
          <a:solidFill>
            <a:srgbClr val="24334B"/>
          </a:solidFill>
          <a:ln>
            <a:noFill/>
          </a:ln>
        </p:spPr>
      </p:sp>
      <p:sp>
        <p:nvSpPr>
          <p:cNvPr id="17" name="Question number text"/>
          <p:cNvSpPr txBox="1"/>
          <p:nvPr/>
        </p:nvSpPr>
        <p:spPr>
          <a:xfrm>
            <a:off x="6281928" y="2240280"/>
            <a:ext cx="640080" cy="493776"/>
          </a:xfrm>
          <a:prstGeom prst="rect">
            <a:avLst/>
          </a:prstGeom>
          <a:noFill/>
        </p:spPr>
        <p:txBody>
          <a:bodyPr vert="horz" wrap="square" lIns="0" tIns="0" rIns="0" bIns="0" rtlCol="0" anchor="ctr">
            <a:noAutofit/>
          </a:bodyPr>
          <a:lstStyle/>
          <a:p>
            <a:pPr algn="ctr">
              <a:buNone/>
            </a:pPr>
            <a:r>
              <a:rPr lang="en-SG" sz="1800" b="1" i="0" dirty="0">
                <a:solidFill>
                  <a:srgbClr val="69DECC"/>
                </a:solidFill>
                <a:latin typeface="Arial" panose="020B0604020202020204" pitchFamily="34" charset="0"/>
              </a:rPr>
              <a:t>Q4</a:t>
            </a:r>
            <a:endParaRPr lang="en-SG" sz="1800" b="1" i="0" dirty="0">
              <a:solidFill>
                <a:srgbClr val="69DECC"/>
              </a:solidFill>
              <a:latin typeface="Arial" panose="020B0604020202020204" pitchFamily="34" charset="0"/>
            </a:endParaRPr>
          </a:p>
        </p:txBody>
      </p:sp>
      <p:sp>
        <p:nvSpPr>
          <p:cNvPr id="18" name="Question topic"/>
          <p:cNvSpPr txBox="1"/>
          <p:nvPr/>
        </p:nvSpPr>
        <p:spPr>
          <a:xfrm>
            <a:off x="7150608" y="2240280"/>
            <a:ext cx="4572000" cy="493776"/>
          </a:xfrm>
          <a:prstGeom prst="rect">
            <a:avLst/>
          </a:prstGeom>
          <a:noFill/>
        </p:spPr>
        <p:txBody>
          <a:bodyPr vert="horz" wrap="square" lIns="0" tIns="0" rIns="0" bIns="0" rtlCol="0" anchor="ctr">
            <a:noAutofit/>
          </a:bodyPr>
          <a:lstStyle/>
          <a:p>
            <a:pPr algn="l">
              <a:buNone/>
            </a:pPr>
            <a:r>
              <a:rPr lang="en-SG" sz="2100" b="0" i="0" dirty="0">
                <a:solidFill>
                  <a:srgbClr val="F5F3EB"/>
                </a:solidFill>
                <a:latin typeface="Arial" panose="020B0604020202020204" pitchFamily="34" charset="0"/>
              </a:rPr>
              <a:t>Timeout reasoning</a:t>
            </a:r>
            <a:endParaRPr lang="en-SG" sz="2100" b="0" i="0" dirty="0">
              <a:solidFill>
                <a:srgbClr val="F5F3EB"/>
              </a:solidFill>
              <a:latin typeface="Arial" panose="020B0604020202020204" pitchFamily="34" charset="0"/>
            </a:endParaRPr>
          </a:p>
        </p:txBody>
      </p:sp>
      <p:sp>
        <p:nvSpPr>
          <p:cNvPr id="19" name="Question number"/>
          <p:cNvSpPr/>
          <p:nvPr/>
        </p:nvSpPr>
        <p:spPr>
          <a:xfrm>
            <a:off x="6281928" y="2898648"/>
            <a:ext cx="640080" cy="493776"/>
          </a:xfrm>
          <a:prstGeom prst="rect">
            <a:avLst/>
          </a:prstGeom>
          <a:solidFill>
            <a:srgbClr val="24334B"/>
          </a:solidFill>
          <a:ln>
            <a:noFill/>
          </a:ln>
        </p:spPr>
      </p:sp>
      <p:sp>
        <p:nvSpPr>
          <p:cNvPr id="20" name="Question number text"/>
          <p:cNvSpPr txBox="1"/>
          <p:nvPr/>
        </p:nvSpPr>
        <p:spPr>
          <a:xfrm>
            <a:off x="6281928" y="2898648"/>
            <a:ext cx="640080" cy="493776"/>
          </a:xfrm>
          <a:prstGeom prst="rect">
            <a:avLst/>
          </a:prstGeom>
          <a:noFill/>
        </p:spPr>
        <p:txBody>
          <a:bodyPr vert="horz" wrap="square" lIns="0" tIns="0" rIns="0" bIns="0" rtlCol="0" anchor="ctr">
            <a:noAutofit/>
          </a:bodyPr>
          <a:lstStyle/>
          <a:p>
            <a:pPr algn="ctr">
              <a:buNone/>
            </a:pPr>
            <a:r>
              <a:rPr lang="en-SG" sz="1800" b="1" i="0" dirty="0">
                <a:solidFill>
                  <a:srgbClr val="69DECC"/>
                </a:solidFill>
                <a:latin typeface="Arial" panose="020B0604020202020204" pitchFamily="34" charset="0"/>
              </a:rPr>
              <a:t>Q5</a:t>
            </a:r>
            <a:endParaRPr lang="en-SG" sz="1800" b="1" i="0" dirty="0">
              <a:solidFill>
                <a:srgbClr val="69DECC"/>
              </a:solidFill>
              <a:latin typeface="Arial" panose="020B0604020202020204" pitchFamily="34" charset="0"/>
            </a:endParaRPr>
          </a:p>
        </p:txBody>
      </p:sp>
      <p:sp>
        <p:nvSpPr>
          <p:cNvPr id="21" name="Question topic"/>
          <p:cNvSpPr txBox="1"/>
          <p:nvPr/>
        </p:nvSpPr>
        <p:spPr>
          <a:xfrm>
            <a:off x="7150608" y="2898648"/>
            <a:ext cx="4572000" cy="493776"/>
          </a:xfrm>
          <a:prstGeom prst="rect">
            <a:avLst/>
          </a:prstGeom>
          <a:noFill/>
        </p:spPr>
        <p:txBody>
          <a:bodyPr vert="horz" wrap="square" lIns="0" tIns="0" rIns="0" bIns="0" rtlCol="0" anchor="ctr">
            <a:noAutofit/>
          </a:bodyPr>
          <a:lstStyle/>
          <a:p>
            <a:pPr algn="l">
              <a:buNone/>
            </a:pPr>
            <a:r>
              <a:rPr lang="en-SG" sz="2100" b="0" i="0" dirty="0">
                <a:solidFill>
                  <a:srgbClr val="F5F3EB"/>
                </a:solidFill>
                <a:latin typeface="Arial" panose="020B0604020202020204" pitchFamily="34" charset="0"/>
              </a:rPr>
              <a:t>Successful provider responses</a:t>
            </a:r>
            <a:endParaRPr lang="en-SG" sz="2100" b="0" i="0" dirty="0">
              <a:solidFill>
                <a:srgbClr val="F5F3EB"/>
              </a:solidFill>
              <a:latin typeface="Arial" panose="020B0604020202020204" pitchFamily="34" charset="0"/>
            </a:endParaRPr>
          </a:p>
        </p:txBody>
      </p:sp>
      <p:sp>
        <p:nvSpPr>
          <p:cNvPr id="22" name="Question number"/>
          <p:cNvSpPr/>
          <p:nvPr/>
        </p:nvSpPr>
        <p:spPr>
          <a:xfrm>
            <a:off x="6281928" y="3557016"/>
            <a:ext cx="640080" cy="493776"/>
          </a:xfrm>
          <a:prstGeom prst="rect">
            <a:avLst/>
          </a:prstGeom>
          <a:solidFill>
            <a:srgbClr val="24334B"/>
          </a:solidFill>
          <a:ln>
            <a:noFill/>
          </a:ln>
        </p:spPr>
      </p:sp>
      <p:sp>
        <p:nvSpPr>
          <p:cNvPr id="23" name="Question number text"/>
          <p:cNvSpPr txBox="1"/>
          <p:nvPr/>
        </p:nvSpPr>
        <p:spPr>
          <a:xfrm>
            <a:off x="6281928" y="3557016"/>
            <a:ext cx="640080" cy="493776"/>
          </a:xfrm>
          <a:prstGeom prst="rect">
            <a:avLst/>
          </a:prstGeom>
          <a:noFill/>
        </p:spPr>
        <p:txBody>
          <a:bodyPr vert="horz" wrap="square" lIns="0" tIns="0" rIns="0" bIns="0" rtlCol="0" anchor="ctr">
            <a:noAutofit/>
          </a:bodyPr>
          <a:lstStyle/>
          <a:p>
            <a:pPr algn="ctr">
              <a:buNone/>
            </a:pPr>
            <a:r>
              <a:rPr lang="en-SG" sz="1800" b="1" i="0" dirty="0">
                <a:solidFill>
                  <a:srgbClr val="69DECC"/>
                </a:solidFill>
                <a:latin typeface="Arial" panose="020B0604020202020204" pitchFamily="34" charset="0"/>
              </a:rPr>
              <a:t>Q6</a:t>
            </a:r>
            <a:endParaRPr lang="en-SG" sz="1800" b="1" i="0" dirty="0">
              <a:solidFill>
                <a:srgbClr val="69DECC"/>
              </a:solidFill>
              <a:latin typeface="Arial" panose="020B0604020202020204" pitchFamily="34" charset="0"/>
            </a:endParaRPr>
          </a:p>
        </p:txBody>
      </p:sp>
      <p:sp>
        <p:nvSpPr>
          <p:cNvPr id="24" name="Question topic"/>
          <p:cNvSpPr txBox="1"/>
          <p:nvPr/>
        </p:nvSpPr>
        <p:spPr>
          <a:xfrm>
            <a:off x="7150608" y="3557016"/>
            <a:ext cx="4572000" cy="493776"/>
          </a:xfrm>
          <a:prstGeom prst="rect">
            <a:avLst/>
          </a:prstGeom>
          <a:noFill/>
        </p:spPr>
        <p:txBody>
          <a:bodyPr vert="horz" wrap="square" lIns="0" tIns="0" rIns="0" bIns="0" rtlCol="0" anchor="ctr">
            <a:noAutofit/>
          </a:bodyPr>
          <a:lstStyle/>
          <a:p>
            <a:pPr algn="l">
              <a:buNone/>
            </a:pPr>
            <a:r>
              <a:rPr lang="en-SG" sz="2100" b="0" i="0" dirty="0">
                <a:solidFill>
                  <a:srgbClr val="F5F3EB"/>
                </a:solidFill>
                <a:latin typeface="Arial" panose="020B0604020202020204" pitchFamily="34" charset="0"/>
              </a:rPr>
              <a:t>Proxy / header behaviour</a:t>
            </a:r>
            <a:endParaRPr lang="en-SG" sz="2100" b="0" i="0" dirty="0">
              <a:solidFill>
                <a:srgbClr val="F5F3EB"/>
              </a:solidFill>
              <a:latin typeface="Arial" panose="020B0604020202020204" pitchFamily="34" charset="0"/>
            </a:endParaRPr>
          </a:p>
        </p:txBody>
      </p:sp>
      <p:sp>
        <p:nvSpPr>
          <p:cNvPr id="25" name="Callout"/>
          <p:cNvSpPr/>
          <p:nvPr/>
        </p:nvSpPr>
        <p:spPr>
          <a:xfrm>
            <a:off x="612648" y="4343400"/>
            <a:ext cx="10972800" cy="685800"/>
          </a:xfrm>
          <a:prstGeom prst="rect">
            <a:avLst/>
          </a:prstGeom>
          <a:solidFill>
            <a:srgbClr val="1B2940"/>
          </a:solidFill>
          <a:ln>
            <a:noFill/>
          </a:ln>
        </p:spPr>
      </p:sp>
      <p:sp>
        <p:nvSpPr>
          <p:cNvPr id="26" name="Callout marker"/>
          <p:cNvSpPr/>
          <p:nvPr/>
        </p:nvSpPr>
        <p:spPr>
          <a:xfrm>
            <a:off x="612648" y="4343400"/>
            <a:ext cx="36576" cy="685800"/>
          </a:xfrm>
          <a:prstGeom prst="rect">
            <a:avLst/>
          </a:prstGeom>
          <a:solidFill>
            <a:srgbClr val="FFC36A"/>
          </a:solidFill>
          <a:ln>
            <a:noFill/>
          </a:ln>
        </p:spPr>
      </p:sp>
      <p:sp>
        <p:nvSpPr>
          <p:cNvPr id="27" name="Callout text"/>
          <p:cNvSpPr txBox="1"/>
          <p:nvPr/>
        </p:nvSpPr>
        <p:spPr>
          <a:xfrm>
            <a:off x="841248" y="4343400"/>
            <a:ext cx="10515600" cy="685800"/>
          </a:xfrm>
          <a:prstGeom prst="rect">
            <a:avLst/>
          </a:prstGeom>
          <a:noFill/>
        </p:spPr>
        <p:txBody>
          <a:bodyPr vert="horz" wrap="square" lIns="0" tIns="0" rIns="0" bIns="0" rtlCol="0" anchor="ctr">
            <a:noAutofit/>
          </a:bodyPr>
          <a:lstStyle/>
          <a:p>
            <a:pPr algn="l">
              <a:buNone/>
            </a:pPr>
            <a:r>
              <a:rPr lang="en-SG" sz="2100" b="1" i="0" dirty="0">
                <a:solidFill>
                  <a:srgbClr val="FFC36A"/>
                </a:solidFill>
                <a:latin typeface="Arial" panose="020B0604020202020204" pitchFamily="34" charset="0"/>
              </a:rPr>
              <a:t>Recovery rate = correct expected facts / source-supported facts</a:t>
            </a:r>
            <a:endParaRPr lang="en-SG" sz="2100" b="1" i="0" dirty="0">
              <a:solidFill>
                <a:srgbClr val="FFC36A"/>
              </a:solidFill>
              <a:latin typeface="Arial" panose="020B0604020202020204" pitchFamily="34" charset="0"/>
            </a:endParaRPr>
          </a:p>
        </p:txBody>
      </p:sp>
      <p:sp>
        <p:nvSpPr>
          <p:cNvPr id="28" name="Totals"/>
          <p:cNvSpPr txBox="1"/>
          <p:nvPr/>
        </p:nvSpPr>
        <p:spPr>
          <a:xfrm>
            <a:off x="612648" y="5257800"/>
            <a:ext cx="10972800" cy="822960"/>
          </a:xfrm>
          <a:prstGeom prst="rect">
            <a:avLst/>
          </a:prstGeom>
          <a:noFill/>
        </p:spPr>
        <p:txBody>
          <a:bodyPr vert="horz" wrap="square" lIns="0" tIns="0" rIns="0" bIns="0" rtlCol="0" anchor="t">
            <a:noAutofit/>
          </a:bodyPr>
          <a:lstStyle/>
          <a:p>
            <a:pPr algn="l">
              <a:buNone/>
            </a:pPr>
            <a:r>
              <a:rPr lang="en-SG" sz="1800" b="0" i="0" dirty="0">
                <a:solidFill>
                  <a:srgbClr val="B9C4D5"/>
                </a:solidFill>
                <a:latin typeface="Arial" panose="020B0604020202020204" pitchFamily="34" charset="0"/>
              </a:rPr>
              <a:t>136 facts per model and format, pooled over five histories</a:t>
            </a:r>
            <a:endParaRPr lang="en-SG" sz="1800" b="0" i="0" dirty="0">
              <a:solidFill>
                <a:srgbClr val="B9C4D5"/>
              </a:solidFill>
              <a:latin typeface="Arial" panose="020B0604020202020204" pitchFamily="34" charset="0"/>
            </a:endParaRPr>
          </a:p>
          <a:p>
            <a:pPr algn="l">
              <a:spcBef>
                <a:spcPts val="400"/>
              </a:spcBef>
              <a:buNone/>
            </a:pPr>
            <a:r>
              <a:rPr lang="en-SG" sz="1800" b="0" i="0" dirty="0">
                <a:solidFill>
                  <a:srgbClr val="B9C4D5"/>
                </a:solidFill>
                <a:latin typeface="Arial" panose="020B0604020202020204" pitchFamily="34" charset="0"/>
              </a:rPr>
              <a:t>Overall: 583 correct, 505 not stated, 0 wrong expected facts</a:t>
            </a:r>
            <a:endParaRPr lang="en-SG" sz="1800" b="0" i="0" dirty="0">
              <a:solidFill>
                <a:srgbClr val="B9C4D5"/>
              </a:solidFill>
              <a:latin typeface="Arial" panose="020B0604020202020204" pitchFamily="34" charset="0"/>
            </a:endParaRPr>
          </a:p>
        </p:txBody>
      </p:sp>
    </p:spTree>
    <p:extLst>
      <p:ext uri="{BB962C8B-B14F-4D97-AF65-F5344CB8AC3E}">
        <p14:creationId xmlns:p14="http://schemas.microsoft.com/office/powerpoint/2010/main" val="30005953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marker"/>
          <p:cNvSpPr/>
          <p:nvPr/>
        </p:nvSpPr>
        <p:spPr>
          <a:xfrm>
            <a:off x="612648" y="429768"/>
            <a:ext cx="338328" cy="54864"/>
          </a:xfrm>
          <a:prstGeom prst="rect">
            <a:avLst/>
          </a:prstGeom>
          <a:solidFill>
            <a:srgbClr val="69DECC"/>
          </a:solidFill>
          <a:ln>
            <a:noFill/>
          </a:ln>
        </p:spPr>
      </p:sp>
      <p:sp>
        <p:nvSpPr>
          <p:cNvPr id="3" name="Section label"/>
          <p:cNvSpPr txBox="1"/>
          <p:nvPr/>
        </p:nvSpPr>
        <p:spPr>
          <a:xfrm>
            <a:off x="1060704" y="265176"/>
            <a:ext cx="9601200" cy="365760"/>
          </a:xfrm>
          <a:prstGeom prst="rect">
            <a:avLst/>
          </a:prstGeom>
          <a:noFill/>
        </p:spPr>
        <p:txBody>
          <a:bodyPr vert="horz" wrap="square" lIns="0" tIns="0" rIns="0" bIns="0" rtlCol="0" anchor="ctr">
            <a:noAutofit/>
          </a:bodyPr>
          <a:lstStyle/>
          <a:p>
            <a:pPr algn="l">
              <a:buNone/>
            </a:pPr>
            <a:r>
              <a:rPr lang="en-SG" sz="1200" b="1" i="0" dirty="0">
                <a:solidFill>
                  <a:srgbClr val="69DECC"/>
                </a:solidFill>
                <a:latin typeface="Arial" panose="020B0604020202020204" pitchFamily="34" charset="0"/>
              </a:rPr>
              <a:t>04 / THE RESULT</a:t>
            </a:r>
            <a:endParaRPr lang="en-SG" sz="1200" b="1" i="0" dirty="0">
              <a:solidFill>
                <a:srgbClr val="69DECC"/>
              </a:solidFill>
              <a:latin typeface="Arial" panose="020B0604020202020204" pitchFamily="34" charset="0"/>
            </a:endParaRPr>
          </a:p>
        </p:txBody>
      </p:sp>
      <p:sp>
        <p:nvSpPr>
          <p:cNvPr id="4" name="Slide title"/>
          <p:cNvSpPr txBox="1"/>
          <p:nvPr/>
        </p:nvSpPr>
        <p:spPr>
          <a:xfrm>
            <a:off x="612648" y="813816"/>
            <a:ext cx="10972800" cy="850392"/>
          </a:xfrm>
          <a:prstGeom prst="rect">
            <a:avLst/>
          </a:prstGeom>
          <a:noFill/>
        </p:spPr>
        <p:txBody>
          <a:bodyPr vert="horz" wrap="square" lIns="0" tIns="0" rIns="0" bIns="0" rtlCol="0" anchor="ctr">
            <a:noAutofit/>
          </a:bodyPr>
          <a:lstStyle/>
          <a:p>
            <a:pPr algn="l">
              <a:buNone/>
            </a:pPr>
            <a:r>
              <a:rPr lang="en-SG" sz="3400" b="1" i="0" dirty="0">
                <a:solidFill>
                  <a:srgbClr val="F5F3EB"/>
                </a:solidFill>
                <a:latin typeface="Arial" panose="020B0604020202020204" pitchFamily="34" charset="0"/>
              </a:rPr>
              <a:t>No consistent checklist advantage</a:t>
            </a:r>
            <a:endParaRPr lang="en-SG" sz="3400" b="1" i="0" dirty="0">
              <a:solidFill>
                <a:srgbClr val="F5F3EB"/>
              </a:solidFill>
              <a:latin typeface="Arial" panose="020B0604020202020204" pitchFamily="34" charset="0"/>
            </a:endParaRPr>
          </a:p>
        </p:txBody>
      </p:sp>
      <p:sp>
        <p:nvSpPr>
          <p:cNvPr id="5" name="Slide number"/>
          <p:cNvSpPr txBox="1"/>
          <p:nvPr/>
        </p:nvSpPr>
        <p:spPr>
          <a:xfrm>
            <a:off x="10588752" y="6327648"/>
            <a:ext cx="987552" cy="265176"/>
          </a:xfrm>
          <a:prstGeom prst="rect">
            <a:avLst/>
          </a:prstGeom>
          <a:noFill/>
        </p:spPr>
        <p:txBody>
          <a:bodyPr vert="horz" wrap="square" lIns="0" tIns="0" rIns="0" bIns="0" rtlCol="0" anchor="ctr">
            <a:noAutofit/>
          </a:bodyPr>
          <a:lstStyle/>
          <a:p>
            <a:pPr algn="r">
              <a:buNone/>
            </a:pPr>
            <a:r>
              <a:rPr lang="en-SG" sz="1050" b="0" i="0" dirty="0">
                <a:solidFill>
                  <a:srgbClr val="B9C4D5"/>
                </a:solidFill>
                <a:latin typeface="Arial" panose="020B0604020202020204" pitchFamily="34" charset="0"/>
              </a:rPr>
              <a:t>05 / 10</a:t>
            </a:r>
            <a:endParaRPr lang="en-SG" sz="1050" b="0" i="0" dirty="0">
              <a:solidFill>
                <a:srgbClr val="B9C4D5"/>
              </a:solidFill>
              <a:latin typeface="Arial" panose="020B0604020202020204" pitchFamily="34" charset="0"/>
            </a:endParaRPr>
          </a:p>
        </p:txBody>
      </p:sp>
      <p:sp>
        <p:nvSpPr>
          <p:cNvPr id="6" name="Subtitle"/>
          <p:cNvSpPr txBox="1"/>
          <p:nvPr/>
        </p:nvSpPr>
        <p:spPr>
          <a:xfrm>
            <a:off x="612648" y="1792224"/>
            <a:ext cx="10972800" cy="365760"/>
          </a:xfrm>
          <a:prstGeom prst="rect">
            <a:avLst/>
          </a:prstGeom>
          <a:noFill/>
        </p:spPr>
        <p:txBody>
          <a:bodyPr vert="horz" wrap="square" lIns="0" tIns="0" rIns="0" bIns="0" rtlCol="0" anchor="t">
            <a:noAutofit/>
          </a:bodyPr>
          <a:lstStyle/>
          <a:p>
            <a:pPr algn="l">
              <a:buNone/>
            </a:pPr>
            <a:r>
              <a:rPr lang="en-SG" sz="1800" b="0" i="0" dirty="0">
                <a:solidFill>
                  <a:srgbClr val="B9C4D5"/>
                </a:solidFill>
                <a:latin typeface="Arial" panose="020B0604020202020204" pitchFamily="34" charset="0"/>
              </a:rPr>
              <a:t>Expected facts recovered (%)  /  Five histories, 136 facts per bar</a:t>
            </a:r>
            <a:endParaRPr lang="en-SG" sz="1800" b="0" i="0" dirty="0">
              <a:solidFill>
                <a:srgbClr val="B9C4D5"/>
              </a:solidFill>
              <a:latin typeface="Arial" panose="020B0604020202020204" pitchFamily="34" charset="0"/>
            </a:endParaRPr>
          </a:p>
        </p:txBody>
      </p:sp>
      <p:graphicFrame>
        <p:nvGraphicFramePr>
          <p:cNvPr id="7" name="Editable data chart"/>
          <p:cNvGraphicFramePr/>
          <p:nvPr/>
        </p:nvGraphicFramePr>
        <p:xfrm>
          <a:off x="612648" y="2286000"/>
          <a:ext cx="10972800" cy="3886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3425229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marker"/>
          <p:cNvSpPr/>
          <p:nvPr/>
        </p:nvSpPr>
        <p:spPr>
          <a:xfrm>
            <a:off x="612648" y="429768"/>
            <a:ext cx="338328" cy="54864"/>
          </a:xfrm>
          <a:prstGeom prst="rect">
            <a:avLst/>
          </a:prstGeom>
          <a:solidFill>
            <a:srgbClr val="69DECC"/>
          </a:solidFill>
          <a:ln>
            <a:noFill/>
          </a:ln>
        </p:spPr>
      </p:sp>
      <p:sp>
        <p:nvSpPr>
          <p:cNvPr id="3" name="Section label"/>
          <p:cNvSpPr txBox="1"/>
          <p:nvPr/>
        </p:nvSpPr>
        <p:spPr>
          <a:xfrm>
            <a:off x="1060704" y="265176"/>
            <a:ext cx="9601200" cy="365760"/>
          </a:xfrm>
          <a:prstGeom prst="rect">
            <a:avLst/>
          </a:prstGeom>
          <a:noFill/>
        </p:spPr>
        <p:txBody>
          <a:bodyPr vert="horz" wrap="square" lIns="0" tIns="0" rIns="0" bIns="0" rtlCol="0" anchor="ctr">
            <a:noAutofit/>
          </a:bodyPr>
          <a:lstStyle/>
          <a:p>
            <a:pPr algn="l">
              <a:buNone/>
            </a:pPr>
            <a:r>
              <a:rPr lang="en-SG" sz="1200" b="1" i="0" dirty="0">
                <a:solidFill>
                  <a:srgbClr val="69DECC"/>
                </a:solidFill>
                <a:latin typeface="Arial" panose="020B0604020202020204" pitchFamily="34" charset="0"/>
              </a:rPr>
              <a:t>05 / MORE HISTORIES</a:t>
            </a:r>
            <a:endParaRPr lang="en-SG" sz="1200" b="1" i="0" dirty="0">
              <a:solidFill>
                <a:srgbClr val="69DECC"/>
              </a:solidFill>
              <a:latin typeface="Arial" panose="020B0604020202020204" pitchFamily="34" charset="0"/>
            </a:endParaRPr>
          </a:p>
        </p:txBody>
      </p:sp>
      <p:sp>
        <p:nvSpPr>
          <p:cNvPr id="4" name="Slide title"/>
          <p:cNvSpPr txBox="1"/>
          <p:nvPr/>
        </p:nvSpPr>
        <p:spPr>
          <a:xfrm>
            <a:off x="612648" y="813816"/>
            <a:ext cx="10972800" cy="850392"/>
          </a:xfrm>
          <a:prstGeom prst="rect">
            <a:avLst/>
          </a:prstGeom>
          <a:noFill/>
        </p:spPr>
        <p:txBody>
          <a:bodyPr vert="horz" wrap="square" lIns="0" tIns="0" rIns="0" bIns="0" rtlCol="0" anchor="ctr">
            <a:noAutofit/>
          </a:bodyPr>
          <a:lstStyle/>
          <a:p>
            <a:pPr algn="l">
              <a:buNone/>
            </a:pPr>
            <a:r>
              <a:rPr lang="en-SG" sz="3400" b="1" i="0" dirty="0">
                <a:solidFill>
                  <a:srgbClr val="F5F3EB"/>
                </a:solidFill>
                <a:latin typeface="Arial" panose="020B0604020202020204" pitchFamily="34" charset="0"/>
              </a:rPr>
              <a:t>Two more histories changed the small leads</a:t>
            </a:r>
            <a:endParaRPr lang="en-SG" sz="3400" b="1" i="0" dirty="0">
              <a:solidFill>
                <a:srgbClr val="F5F3EB"/>
              </a:solidFill>
              <a:latin typeface="Arial" panose="020B0604020202020204" pitchFamily="34" charset="0"/>
            </a:endParaRPr>
          </a:p>
        </p:txBody>
      </p:sp>
      <p:sp>
        <p:nvSpPr>
          <p:cNvPr id="5" name="Footnote"/>
          <p:cNvSpPr txBox="1"/>
          <p:nvPr/>
        </p:nvSpPr>
        <p:spPr>
          <a:xfrm>
            <a:off x="612648" y="6327648"/>
            <a:ext cx="9692640" cy="265176"/>
          </a:xfrm>
          <a:prstGeom prst="rect">
            <a:avLst/>
          </a:prstGeom>
          <a:noFill/>
        </p:spPr>
        <p:txBody>
          <a:bodyPr vert="horz" wrap="square" lIns="0" tIns="0" rIns="0" bIns="0" rtlCol="0" anchor="ctr">
            <a:noAutofit/>
          </a:bodyPr>
          <a:lstStyle/>
          <a:p>
            <a:pPr algn="l">
              <a:buNone/>
            </a:pPr>
            <a:r>
              <a:rPr lang="en-SG" sz="1050" b="0" i="0" dirty="0">
                <a:solidFill>
                  <a:srgbClr val="B9C4D5"/>
                </a:solidFill>
                <a:latin typeface="Arial" panose="020B0604020202020204" pitchFamily="34" charset="0"/>
              </a:rPr>
              <a:t>Exploratory extension after viewing the first three results</a:t>
            </a:r>
            <a:endParaRPr lang="en-SG" sz="1050" b="0" i="0" dirty="0">
              <a:solidFill>
                <a:srgbClr val="B9C4D5"/>
              </a:solidFill>
              <a:latin typeface="Arial" panose="020B0604020202020204" pitchFamily="34" charset="0"/>
            </a:endParaRPr>
          </a:p>
        </p:txBody>
      </p:sp>
      <p:sp>
        <p:nvSpPr>
          <p:cNvPr id="6" name="Slide number"/>
          <p:cNvSpPr txBox="1"/>
          <p:nvPr/>
        </p:nvSpPr>
        <p:spPr>
          <a:xfrm>
            <a:off x="10588752" y="6327648"/>
            <a:ext cx="987552" cy="265176"/>
          </a:xfrm>
          <a:prstGeom prst="rect">
            <a:avLst/>
          </a:prstGeom>
          <a:noFill/>
        </p:spPr>
        <p:txBody>
          <a:bodyPr vert="horz" wrap="square" lIns="0" tIns="0" rIns="0" bIns="0" rtlCol="0" anchor="ctr">
            <a:noAutofit/>
          </a:bodyPr>
          <a:lstStyle/>
          <a:p>
            <a:pPr algn="r">
              <a:buNone/>
            </a:pPr>
            <a:r>
              <a:rPr lang="en-SG" sz="1050" b="0" i="0" dirty="0">
                <a:solidFill>
                  <a:srgbClr val="B9C4D5"/>
                </a:solidFill>
                <a:latin typeface="Arial" panose="020B0604020202020204" pitchFamily="34" charset="0"/>
              </a:rPr>
              <a:t>06 / 10</a:t>
            </a:r>
            <a:endParaRPr lang="en-SG" sz="1050" b="0" i="0" dirty="0">
              <a:solidFill>
                <a:srgbClr val="B9C4D5"/>
              </a:solidFill>
              <a:latin typeface="Arial" panose="020B0604020202020204" pitchFamily="34" charset="0"/>
            </a:endParaRPr>
          </a:p>
        </p:txBody>
      </p:sp>
      <p:sp>
        <p:nvSpPr>
          <p:cNvPr id="7" name="Subtitle"/>
          <p:cNvSpPr txBox="1"/>
          <p:nvPr/>
        </p:nvSpPr>
        <p:spPr>
          <a:xfrm>
            <a:off x="612648" y="1792224"/>
            <a:ext cx="10972800" cy="365760"/>
          </a:xfrm>
          <a:prstGeom prst="rect">
            <a:avLst/>
          </a:prstGeom>
          <a:noFill/>
        </p:spPr>
        <p:txBody>
          <a:bodyPr vert="horz" wrap="square" lIns="0" tIns="0" rIns="0" bIns="0" rtlCol="0" anchor="t">
            <a:noAutofit/>
          </a:bodyPr>
          <a:lstStyle/>
          <a:p>
            <a:pPr algn="l">
              <a:buNone/>
            </a:pPr>
            <a:r>
              <a:rPr lang="en-SG" sz="1800" b="0" i="0" dirty="0">
                <a:solidFill>
                  <a:srgbClr val="B9C4D5"/>
                </a:solidFill>
                <a:latin typeface="Arial" panose="020B0604020202020204" pitchFamily="34" charset="0"/>
              </a:rPr>
              <a:t>Checklist minus prose, in percentage points</a:t>
            </a:r>
            <a:endParaRPr lang="en-SG" sz="1800" b="0" i="0" dirty="0">
              <a:solidFill>
                <a:srgbClr val="B9C4D5"/>
              </a:solidFill>
              <a:latin typeface="Arial" panose="020B0604020202020204" pitchFamily="34" charset="0"/>
            </a:endParaRPr>
          </a:p>
        </p:txBody>
      </p:sp>
      <p:graphicFrame>
        <p:nvGraphicFramePr>
          <p:cNvPr id="8" name="Editable evidence table"/>
          <p:cNvGraphicFramePr>
            <a:graphicFrameLocks noGrp="1"/>
          </p:cNvGraphicFramePr>
          <p:nvPr/>
        </p:nvGraphicFramePr>
        <p:xfrm>
          <a:off x="612648" y="2286000"/>
          <a:ext cx="10972800" cy="2514600"/>
        </p:xfrm>
        <a:graphic>
          <a:graphicData uri="http://schemas.openxmlformats.org/drawingml/2006/table">
            <a:tbl>
              <a:tblPr firstRow="1">
                <a:tableStyleId>{2D5ABB26-0587-4C30-8999-92F81FD0307C}</a:tableStyleId>
              </a:tblPr>
              <a:tblGrid>
                <a:gridCol w="3657600"/>
                <a:gridCol w="3657600"/>
                <a:gridCol w="3657600"/>
              </a:tblGrid>
              <a:tr h="502920">
                <a:tc>
                  <a:txBody>
                    <a:bodyPr/>
                    <a:lstStyle/>
                    <a:p>
                      <a:pPr algn="l">
                        <a:buNone/>
                      </a:pPr>
                      <a:r>
                        <a:rPr lang="en-SG" sz="1400" b="1" i="0" dirty="0">
                          <a:solidFill>
                            <a:srgbClr val="69DECC"/>
                          </a:solidFill>
                          <a:latin typeface="Arial" panose="020B0604020202020204" pitchFamily="34" charset="0"/>
                        </a:rPr>
                        <a:t>HANDOFF MODEL</a:t>
                      </a:r>
                      <a:endParaRPr lang="en-SG" sz="1400" b="1" i="0" dirty="0">
                        <a:solidFill>
                          <a:srgbClr val="69DECC"/>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24334B"/>
                    </a:solidFill>
                  </a:tcPr>
                </a:tc>
                <a:tc>
                  <a:txBody>
                    <a:bodyPr/>
                    <a:lstStyle/>
                    <a:p>
                      <a:pPr algn="l">
                        <a:buNone/>
                      </a:pPr>
                      <a:r>
                        <a:rPr lang="en-SG" sz="1400" b="1" i="0" dirty="0">
                          <a:solidFill>
                            <a:srgbClr val="69DECC"/>
                          </a:solidFill>
                          <a:latin typeface="Arial" panose="020B0604020202020204" pitchFamily="34" charset="0"/>
                        </a:rPr>
                        <a:t>ORIGINAL 3 HISTORIES</a:t>
                      </a:r>
                      <a:endParaRPr lang="en-SG" sz="1400" b="1" i="0" dirty="0">
                        <a:solidFill>
                          <a:srgbClr val="69DECC"/>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24334B"/>
                    </a:solidFill>
                  </a:tcPr>
                </a:tc>
                <a:tc>
                  <a:txBody>
                    <a:bodyPr/>
                    <a:lstStyle/>
                    <a:p>
                      <a:pPr algn="l">
                        <a:buNone/>
                      </a:pPr>
                      <a:r>
                        <a:rPr lang="en-SG" sz="1400" b="1" i="0" dirty="0">
                          <a:solidFill>
                            <a:srgbClr val="69DECC"/>
                          </a:solidFill>
                          <a:latin typeface="Arial" panose="020B0604020202020204" pitchFamily="34" charset="0"/>
                        </a:rPr>
                        <a:t>EXPANDED 5 HISTORIES</a:t>
                      </a:r>
                      <a:endParaRPr lang="en-SG" sz="1400" b="1" i="0" dirty="0">
                        <a:solidFill>
                          <a:srgbClr val="69DECC"/>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24334B"/>
                    </a:solidFill>
                  </a:tcPr>
                </a:tc>
              </a:tr>
              <a:tr h="502920">
                <a:tc>
                  <a:txBody>
                    <a:bodyPr/>
                    <a:lstStyle/>
                    <a:p>
                      <a:pPr algn="l">
                        <a:buNone/>
                      </a:pPr>
                      <a:r>
                        <a:rPr lang="en-SG" sz="2000" b="0" i="0" dirty="0">
                          <a:solidFill>
                            <a:srgbClr val="F5F3EB"/>
                          </a:solidFill>
                          <a:latin typeface="Arial" panose="020B0604020202020204" pitchFamily="34" charset="0"/>
                        </a:rPr>
                        <a:t>Sol 5.6</a:t>
                      </a:r>
                      <a:endParaRPr lang="en-SG" sz="20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2000" b="0" i="0" dirty="0">
                          <a:solidFill>
                            <a:srgbClr val="F5F3EB"/>
                          </a:solidFill>
                          <a:latin typeface="Arial" panose="020B0604020202020204" pitchFamily="34" charset="0"/>
                        </a:rPr>
                        <a:t>-6.1 pp</a:t>
                      </a:r>
                      <a:endParaRPr lang="en-SG" sz="20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2000" b="0" i="0" dirty="0">
                          <a:solidFill>
                            <a:srgbClr val="F5F3EB"/>
                          </a:solidFill>
                          <a:latin typeface="Arial" panose="020B0604020202020204" pitchFamily="34" charset="0"/>
                        </a:rPr>
                        <a:t>-3.7 pp</a:t>
                      </a:r>
                      <a:endParaRPr lang="en-SG" sz="20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r>
              <a:tr h="502920">
                <a:tc>
                  <a:txBody>
                    <a:bodyPr/>
                    <a:lstStyle/>
                    <a:p>
                      <a:pPr algn="l">
                        <a:buNone/>
                      </a:pPr>
                      <a:r>
                        <a:rPr lang="en-SG" sz="2000" b="0" i="0" dirty="0">
                          <a:solidFill>
                            <a:srgbClr val="F5F3EB"/>
                          </a:solidFill>
                          <a:latin typeface="Arial" panose="020B0604020202020204" pitchFamily="34" charset="0"/>
                        </a:rPr>
                        <a:t>Luna 5.6</a:t>
                      </a:r>
                      <a:endParaRPr lang="en-SG" sz="20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2000" b="0" i="0" dirty="0">
                          <a:solidFill>
                            <a:srgbClr val="FFC36A"/>
                          </a:solidFill>
                          <a:latin typeface="Arial" panose="020B0604020202020204" pitchFamily="34" charset="0"/>
                        </a:rPr>
                        <a:t>+2.4 pp</a:t>
                      </a:r>
                      <a:endParaRPr lang="en-SG" sz="2000" b="0" i="0" dirty="0">
                        <a:solidFill>
                          <a:srgbClr val="FFC36A"/>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2000" b="0" i="0" dirty="0">
                          <a:solidFill>
                            <a:srgbClr val="FFC36A"/>
                          </a:solidFill>
                          <a:latin typeface="Arial" panose="020B0604020202020204" pitchFamily="34" charset="0"/>
                        </a:rPr>
                        <a:t>-1.5 pp</a:t>
                      </a:r>
                      <a:endParaRPr lang="en-SG" sz="2000" b="0" i="0" dirty="0">
                        <a:solidFill>
                          <a:srgbClr val="FFC36A"/>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r>
              <a:tr h="502920">
                <a:tc>
                  <a:txBody>
                    <a:bodyPr/>
                    <a:lstStyle/>
                    <a:p>
                      <a:pPr algn="l">
                        <a:buNone/>
                      </a:pPr>
                      <a:r>
                        <a:rPr lang="en-SG" sz="2000" b="0" i="0" dirty="0">
                          <a:solidFill>
                            <a:srgbClr val="F5F3EB"/>
                          </a:solidFill>
                          <a:latin typeface="Arial" panose="020B0604020202020204" pitchFamily="34" charset="0"/>
                        </a:rPr>
                        <a:t>Opus 5.5</a:t>
                      </a:r>
                      <a:endParaRPr lang="en-SG" sz="20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2000" b="0" i="0" dirty="0">
                          <a:solidFill>
                            <a:srgbClr val="F5F3EB"/>
                          </a:solidFill>
                          <a:latin typeface="Arial" panose="020B0604020202020204" pitchFamily="34" charset="0"/>
                        </a:rPr>
                        <a:t>+2.4 pp</a:t>
                      </a:r>
                      <a:endParaRPr lang="en-SG" sz="20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2000" b="0" i="0" dirty="0">
                          <a:solidFill>
                            <a:srgbClr val="F5F3EB"/>
                          </a:solidFill>
                          <a:latin typeface="Arial" panose="020B0604020202020204" pitchFamily="34" charset="0"/>
                        </a:rPr>
                        <a:t>+0.7 pp</a:t>
                      </a:r>
                      <a:endParaRPr lang="en-SG" sz="20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r>
              <a:tr h="502920">
                <a:tc>
                  <a:txBody>
                    <a:bodyPr/>
                    <a:lstStyle/>
                    <a:p>
                      <a:pPr algn="l">
                        <a:buNone/>
                      </a:pPr>
                      <a:r>
                        <a:rPr lang="en-SG" sz="2000" b="0" i="0" dirty="0">
                          <a:solidFill>
                            <a:srgbClr val="F5F3EB"/>
                          </a:solidFill>
                          <a:latin typeface="Arial" panose="020B0604020202020204" pitchFamily="34" charset="0"/>
                        </a:rPr>
                        <a:t>Sonnet 5.5</a:t>
                      </a:r>
                      <a:endParaRPr lang="en-SG" sz="20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2000" b="0" i="0" dirty="0">
                          <a:solidFill>
                            <a:srgbClr val="F5F3EB"/>
                          </a:solidFill>
                          <a:latin typeface="Arial" panose="020B0604020202020204" pitchFamily="34" charset="0"/>
                        </a:rPr>
                        <a:t>+0.0 pp</a:t>
                      </a:r>
                      <a:endParaRPr lang="en-SG" sz="20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2000" b="0" i="0" dirty="0">
                          <a:solidFill>
                            <a:srgbClr val="F5F3EB"/>
                          </a:solidFill>
                          <a:latin typeface="Arial" panose="020B0604020202020204" pitchFamily="34" charset="0"/>
                        </a:rPr>
                        <a:t>+0.7 pp</a:t>
                      </a:r>
                      <a:endParaRPr lang="en-SG" sz="20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r>
            </a:tbl>
          </a:graphicData>
        </a:graphic>
      </p:graphicFrame>
      <p:sp>
        <p:nvSpPr>
          <p:cNvPr id="9" name="Callout"/>
          <p:cNvSpPr/>
          <p:nvPr/>
        </p:nvSpPr>
        <p:spPr>
          <a:xfrm>
            <a:off x="612648" y="5166360"/>
            <a:ext cx="10972800" cy="685800"/>
          </a:xfrm>
          <a:prstGeom prst="rect">
            <a:avLst/>
          </a:prstGeom>
          <a:solidFill>
            <a:srgbClr val="1B2940"/>
          </a:solidFill>
          <a:ln>
            <a:noFill/>
          </a:ln>
        </p:spPr>
      </p:sp>
      <p:sp>
        <p:nvSpPr>
          <p:cNvPr id="10" name="Callout marker"/>
          <p:cNvSpPr/>
          <p:nvPr/>
        </p:nvSpPr>
        <p:spPr>
          <a:xfrm>
            <a:off x="612648" y="5166360"/>
            <a:ext cx="36576" cy="685800"/>
          </a:xfrm>
          <a:prstGeom prst="rect">
            <a:avLst/>
          </a:prstGeom>
          <a:solidFill>
            <a:srgbClr val="FFC36A"/>
          </a:solidFill>
          <a:ln>
            <a:noFill/>
          </a:ln>
        </p:spPr>
      </p:sp>
      <p:sp>
        <p:nvSpPr>
          <p:cNvPr id="11" name="Callout text"/>
          <p:cNvSpPr txBox="1"/>
          <p:nvPr/>
        </p:nvSpPr>
        <p:spPr>
          <a:xfrm>
            <a:off x="841248" y="5166360"/>
            <a:ext cx="10515600" cy="685800"/>
          </a:xfrm>
          <a:prstGeom prst="rect">
            <a:avLst/>
          </a:prstGeom>
          <a:noFill/>
        </p:spPr>
        <p:txBody>
          <a:bodyPr vert="horz" wrap="square" lIns="0" tIns="0" rIns="0" bIns="0" rtlCol="0" anchor="ctr">
            <a:noAutofit/>
          </a:bodyPr>
          <a:lstStyle/>
          <a:p>
            <a:pPr algn="l">
              <a:buNone/>
            </a:pPr>
            <a:r>
              <a:rPr lang="en-SG" sz="2100" b="1" i="0" dirty="0">
                <a:solidFill>
                  <a:srgbClr val="FFC36A"/>
                </a:solidFill>
                <a:latin typeface="Arial" panose="020B0604020202020204" pitchFamily="34" charset="0"/>
              </a:rPr>
              <a:t>Positive favours checklist. Luna’s lead reverses.</a:t>
            </a:r>
            <a:endParaRPr lang="en-SG" sz="2100" b="1" i="0" dirty="0">
              <a:solidFill>
                <a:srgbClr val="FFC36A"/>
              </a:solidFill>
              <a:latin typeface="Arial" panose="020B0604020202020204" pitchFamily="34" charset="0"/>
            </a:endParaRPr>
          </a:p>
        </p:txBody>
      </p:sp>
    </p:spTree>
    <p:extLst>
      <p:ext uri="{BB962C8B-B14F-4D97-AF65-F5344CB8AC3E}">
        <p14:creationId xmlns:p14="http://schemas.microsoft.com/office/powerpoint/2010/main" val="22451337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marker"/>
          <p:cNvSpPr/>
          <p:nvPr/>
        </p:nvSpPr>
        <p:spPr>
          <a:xfrm>
            <a:off x="612648" y="429768"/>
            <a:ext cx="338328" cy="54864"/>
          </a:xfrm>
          <a:prstGeom prst="rect">
            <a:avLst/>
          </a:prstGeom>
          <a:solidFill>
            <a:srgbClr val="69DECC"/>
          </a:solidFill>
          <a:ln>
            <a:noFill/>
          </a:ln>
        </p:spPr>
      </p:sp>
      <p:sp>
        <p:nvSpPr>
          <p:cNvPr id="3" name="Section label"/>
          <p:cNvSpPr txBox="1"/>
          <p:nvPr/>
        </p:nvSpPr>
        <p:spPr>
          <a:xfrm>
            <a:off x="1060704" y="265176"/>
            <a:ext cx="9601200" cy="365760"/>
          </a:xfrm>
          <a:prstGeom prst="rect">
            <a:avLst/>
          </a:prstGeom>
          <a:noFill/>
        </p:spPr>
        <p:txBody>
          <a:bodyPr vert="horz" wrap="square" lIns="0" tIns="0" rIns="0" bIns="0" rtlCol="0" anchor="ctr">
            <a:noAutofit/>
          </a:bodyPr>
          <a:lstStyle/>
          <a:p>
            <a:pPr algn="l">
              <a:buNone/>
            </a:pPr>
            <a:r>
              <a:rPr lang="en-SG" sz="1200" b="1" i="0" dirty="0">
                <a:solidFill>
                  <a:srgbClr val="69DECC"/>
                </a:solidFill>
                <a:latin typeface="Arial" panose="020B0604020202020204" pitchFamily="34" charset="0"/>
              </a:rPr>
              <a:t>06 / AN EXAMPLE</a:t>
            </a:r>
            <a:endParaRPr lang="en-SG" sz="1200" b="1" i="0" dirty="0">
              <a:solidFill>
                <a:srgbClr val="69DECC"/>
              </a:solidFill>
              <a:latin typeface="Arial" panose="020B0604020202020204" pitchFamily="34" charset="0"/>
            </a:endParaRPr>
          </a:p>
        </p:txBody>
      </p:sp>
      <p:sp>
        <p:nvSpPr>
          <p:cNvPr id="4" name="Slide title"/>
          <p:cNvSpPr txBox="1"/>
          <p:nvPr/>
        </p:nvSpPr>
        <p:spPr>
          <a:xfrm>
            <a:off x="612648" y="813816"/>
            <a:ext cx="10972800" cy="850392"/>
          </a:xfrm>
          <a:prstGeom prst="rect">
            <a:avLst/>
          </a:prstGeom>
          <a:noFill/>
        </p:spPr>
        <p:txBody>
          <a:bodyPr vert="horz" wrap="square" lIns="0" tIns="0" rIns="0" bIns="0" rtlCol="0" anchor="ctr">
            <a:noAutofit/>
          </a:bodyPr>
          <a:lstStyle/>
          <a:p>
            <a:pPr algn="l">
              <a:buNone/>
            </a:pPr>
            <a:r>
              <a:rPr lang="en-SG" sz="3400" b="1" i="0" dirty="0">
                <a:solidFill>
                  <a:srgbClr val="F5F3EB"/>
                </a:solidFill>
                <a:latin typeface="Arial" panose="020B0604020202020204" pitchFamily="34" charset="0"/>
              </a:rPr>
              <a:t>One checklist omitted most success criteria</a:t>
            </a:r>
            <a:endParaRPr lang="en-SG" sz="3400" b="1" i="0" dirty="0">
              <a:solidFill>
                <a:srgbClr val="F5F3EB"/>
              </a:solidFill>
              <a:latin typeface="Arial" panose="020B0604020202020204" pitchFamily="34" charset="0"/>
            </a:endParaRPr>
          </a:p>
        </p:txBody>
      </p:sp>
      <p:sp>
        <p:nvSpPr>
          <p:cNvPr id="5" name="Slide number"/>
          <p:cNvSpPr txBox="1"/>
          <p:nvPr/>
        </p:nvSpPr>
        <p:spPr>
          <a:xfrm>
            <a:off x="10588752" y="6327648"/>
            <a:ext cx="987552" cy="265176"/>
          </a:xfrm>
          <a:prstGeom prst="rect">
            <a:avLst/>
          </a:prstGeom>
          <a:noFill/>
        </p:spPr>
        <p:txBody>
          <a:bodyPr vert="horz" wrap="square" lIns="0" tIns="0" rIns="0" bIns="0" rtlCol="0" anchor="ctr">
            <a:noAutofit/>
          </a:bodyPr>
          <a:lstStyle/>
          <a:p>
            <a:pPr algn="r">
              <a:buNone/>
            </a:pPr>
            <a:r>
              <a:rPr lang="en-SG" sz="1050" b="0" i="0" dirty="0">
                <a:solidFill>
                  <a:srgbClr val="B9C4D5"/>
                </a:solidFill>
                <a:latin typeface="Arial" panose="020B0604020202020204" pitchFamily="34" charset="0"/>
              </a:rPr>
              <a:t>07 / 10</a:t>
            </a:r>
            <a:endParaRPr lang="en-SG" sz="1050" b="0" i="0" dirty="0">
              <a:solidFill>
                <a:srgbClr val="B9C4D5"/>
              </a:solidFill>
              <a:latin typeface="Arial" panose="020B0604020202020204" pitchFamily="34" charset="0"/>
            </a:endParaRPr>
          </a:p>
        </p:txBody>
      </p:sp>
      <p:sp>
        <p:nvSpPr>
          <p:cNvPr id="6" name="Subtitle"/>
          <p:cNvSpPr txBox="1"/>
          <p:nvPr/>
        </p:nvSpPr>
        <p:spPr>
          <a:xfrm>
            <a:off x="612648" y="1792224"/>
            <a:ext cx="10972800" cy="365760"/>
          </a:xfrm>
          <a:prstGeom prst="rect">
            <a:avLst/>
          </a:prstGeom>
          <a:noFill/>
        </p:spPr>
        <p:txBody>
          <a:bodyPr vert="horz" wrap="square" lIns="0" tIns="0" rIns="0" bIns="0" rtlCol="0" anchor="t">
            <a:noAutofit/>
          </a:bodyPr>
          <a:lstStyle/>
          <a:p>
            <a:pPr algn="l">
              <a:buNone/>
            </a:pPr>
            <a:r>
              <a:rPr lang="en-SG" sz="1800" b="0" i="0" dirty="0">
                <a:solidFill>
                  <a:srgbClr val="B9C4D5"/>
                </a:solidFill>
                <a:latin typeface="Arial" panose="020B0604020202020204" pitchFamily="34" charset="0"/>
              </a:rPr>
              <a:t>Sol 5.6 checklist, history 04</a:t>
            </a:r>
            <a:endParaRPr lang="en-SG" sz="1800" b="0" i="0" dirty="0">
              <a:solidFill>
                <a:srgbClr val="B9C4D5"/>
              </a:solidFill>
              <a:latin typeface="Arial" panose="020B0604020202020204" pitchFamily="34" charset="0"/>
            </a:endParaRPr>
          </a:p>
        </p:txBody>
      </p:sp>
      <p:sp>
        <p:nvSpPr>
          <p:cNvPr id="7" name="Card"/>
          <p:cNvSpPr/>
          <p:nvPr/>
        </p:nvSpPr>
        <p:spPr>
          <a:xfrm>
            <a:off x="612648" y="2377440"/>
            <a:ext cx="5303520" cy="2468880"/>
          </a:xfrm>
          <a:prstGeom prst="rect">
            <a:avLst/>
          </a:prstGeom>
          <a:solidFill>
            <a:srgbClr val="1B2940"/>
          </a:solidFill>
          <a:ln>
            <a:noFill/>
          </a:ln>
        </p:spPr>
      </p:sp>
      <p:sp>
        <p:nvSpPr>
          <p:cNvPr id="8" name="Card marker"/>
          <p:cNvSpPr/>
          <p:nvPr/>
        </p:nvSpPr>
        <p:spPr>
          <a:xfrm>
            <a:off x="612648" y="2377440"/>
            <a:ext cx="5303520" cy="36576"/>
          </a:xfrm>
          <a:prstGeom prst="rect">
            <a:avLst/>
          </a:prstGeom>
          <a:solidFill>
            <a:srgbClr val="69DECC"/>
          </a:solidFill>
          <a:ln>
            <a:noFill/>
          </a:ln>
        </p:spPr>
      </p:sp>
      <p:sp>
        <p:nvSpPr>
          <p:cNvPr id="9" name="Card label"/>
          <p:cNvSpPr txBox="1"/>
          <p:nvPr/>
        </p:nvSpPr>
        <p:spPr>
          <a:xfrm>
            <a:off x="841248" y="2578608"/>
            <a:ext cx="4892040" cy="320040"/>
          </a:xfrm>
          <a:prstGeom prst="rect">
            <a:avLst/>
          </a:prstGeom>
          <a:noFill/>
        </p:spPr>
        <p:txBody>
          <a:bodyPr vert="horz" wrap="square" lIns="0" tIns="0" rIns="0" bIns="0" rtlCol="0" anchor="t">
            <a:noAutofit/>
          </a:bodyPr>
          <a:lstStyle/>
          <a:p>
            <a:pPr algn="l">
              <a:buNone/>
            </a:pPr>
            <a:r>
              <a:rPr lang="en-SG" sz="1400" b="1" i="0" dirty="0">
                <a:solidFill>
                  <a:srgbClr val="69DECC"/>
                </a:solidFill>
                <a:latin typeface="Arial" panose="020B0604020202020204" pitchFamily="34" charset="0"/>
              </a:rPr>
              <a:t>HANDOFF EXCERPT</a:t>
            </a:r>
            <a:endParaRPr lang="en-SG" sz="1400" b="1" i="0" dirty="0">
              <a:solidFill>
                <a:srgbClr val="69DECC"/>
              </a:solidFill>
              <a:latin typeface="Arial" panose="020B0604020202020204" pitchFamily="34" charset="0"/>
            </a:endParaRPr>
          </a:p>
        </p:txBody>
      </p:sp>
      <p:sp>
        <p:nvSpPr>
          <p:cNvPr id="10" name="Card text"/>
          <p:cNvSpPr txBox="1"/>
          <p:nvPr/>
        </p:nvSpPr>
        <p:spPr>
          <a:xfrm>
            <a:off x="841248" y="3035808"/>
            <a:ext cx="4892040" cy="1645920"/>
          </a:xfrm>
          <a:prstGeom prst="rect">
            <a:avLst/>
          </a:prstGeom>
          <a:noFill/>
        </p:spPr>
        <p:txBody>
          <a:bodyPr vert="horz" wrap="square" lIns="0" tIns="0" rIns="0" bIns="0" rtlCol="0" anchor="t">
            <a:noAutofit/>
          </a:bodyPr>
          <a:lstStyle/>
          <a:p>
            <a:pPr algn="l">
              <a:buNone/>
            </a:pPr>
            <a:r>
              <a:rPr lang="en-SG" sz="2400" b="0" i="0" dirty="0">
                <a:solidFill>
                  <a:srgbClr val="F5F3EB"/>
                </a:solidFill>
                <a:latin typeface="Arial" panose="020B0604020202020204" pitchFamily="34" charset="0"/>
              </a:rPr>
              <a:t>“Offline standalone suite passed</a:t>
            </a:r>
            <a:br>
              <a:rPr lang="en-SG" sz="2400" b="0" i="0" dirty="0">
                <a:solidFill>
                  <a:srgbClr val="F5F3EB"/>
                </a:solidFill>
                <a:latin typeface="Arial" panose="020B0604020202020204" pitchFamily="34" charset="0"/>
              </a:rPr>
            </a:br>
            <a:r>
              <a:rPr lang="en-SG" sz="2400" b="0" i="0" dirty="0">
                <a:solidFill>
                  <a:srgbClr val="F5F3EB"/>
                </a:solidFill>
                <a:latin typeface="Arial" panose="020B0604020202020204" pitchFamily="34" charset="0"/>
              </a:rPr>
              <a:t>all 30 tests in 0.030s.”</a:t>
            </a:r>
            <a:endParaRPr lang="en-SG" sz="2400" b="0" i="0" dirty="0">
              <a:solidFill>
                <a:srgbClr val="F5F3EB"/>
              </a:solidFill>
              <a:latin typeface="Arial" panose="020B0604020202020204" pitchFamily="34" charset="0"/>
            </a:endParaRPr>
          </a:p>
        </p:txBody>
      </p:sp>
      <p:sp>
        <p:nvSpPr>
          <p:cNvPr id="11" name="Card"/>
          <p:cNvSpPr/>
          <p:nvPr/>
        </p:nvSpPr>
        <p:spPr>
          <a:xfrm>
            <a:off x="6281928" y="2377440"/>
            <a:ext cx="5303520" cy="2468880"/>
          </a:xfrm>
          <a:prstGeom prst="rect">
            <a:avLst/>
          </a:prstGeom>
          <a:solidFill>
            <a:srgbClr val="1B2940"/>
          </a:solidFill>
          <a:ln>
            <a:noFill/>
          </a:ln>
        </p:spPr>
      </p:sp>
      <p:sp>
        <p:nvSpPr>
          <p:cNvPr id="12" name="Card marker"/>
          <p:cNvSpPr/>
          <p:nvPr/>
        </p:nvSpPr>
        <p:spPr>
          <a:xfrm>
            <a:off x="6281928" y="2377440"/>
            <a:ext cx="5303520" cy="36576"/>
          </a:xfrm>
          <a:prstGeom prst="rect">
            <a:avLst/>
          </a:prstGeom>
          <a:solidFill>
            <a:srgbClr val="FFC36A"/>
          </a:solidFill>
          <a:ln>
            <a:noFill/>
          </a:ln>
        </p:spPr>
      </p:sp>
      <p:sp>
        <p:nvSpPr>
          <p:cNvPr id="13" name="Card label"/>
          <p:cNvSpPr txBox="1"/>
          <p:nvPr/>
        </p:nvSpPr>
        <p:spPr>
          <a:xfrm>
            <a:off x="6510528" y="2578608"/>
            <a:ext cx="4892040" cy="320040"/>
          </a:xfrm>
          <a:prstGeom prst="rect">
            <a:avLst/>
          </a:prstGeom>
          <a:noFill/>
        </p:spPr>
        <p:txBody>
          <a:bodyPr vert="horz" wrap="square" lIns="0" tIns="0" rIns="0" bIns="0" rtlCol="0" anchor="t">
            <a:noAutofit/>
          </a:bodyPr>
          <a:lstStyle/>
          <a:p>
            <a:pPr algn="l">
              <a:buNone/>
            </a:pPr>
            <a:r>
              <a:rPr lang="en-SG" sz="1400" b="1" i="0" dirty="0">
                <a:solidFill>
                  <a:srgbClr val="FFC36A"/>
                </a:solidFill>
                <a:latin typeface="Arial" panose="020B0604020202020204" pitchFamily="34" charset="0"/>
              </a:rPr>
              <a:t>RECEIVER’S Q5 ANSWER EXCERPT</a:t>
            </a:r>
            <a:endParaRPr lang="en-SG" sz="1400" b="1" i="0" dirty="0">
              <a:solidFill>
                <a:srgbClr val="FFC36A"/>
              </a:solidFill>
              <a:latin typeface="Arial" panose="020B0604020202020204" pitchFamily="34" charset="0"/>
            </a:endParaRPr>
          </a:p>
        </p:txBody>
      </p:sp>
      <p:sp>
        <p:nvSpPr>
          <p:cNvPr id="14" name="Card text"/>
          <p:cNvSpPr txBox="1"/>
          <p:nvPr/>
        </p:nvSpPr>
        <p:spPr>
          <a:xfrm>
            <a:off x="6510528" y="3035808"/>
            <a:ext cx="4892040" cy="1645920"/>
          </a:xfrm>
          <a:prstGeom prst="rect">
            <a:avLst/>
          </a:prstGeom>
          <a:noFill/>
        </p:spPr>
        <p:txBody>
          <a:bodyPr vert="horz" wrap="square" lIns="0" tIns="0" rIns="0" bIns="0" rtlCol="0" anchor="t">
            <a:noAutofit/>
          </a:bodyPr>
          <a:lstStyle/>
          <a:p>
            <a:pPr algn="l">
              <a:buNone/>
            </a:pPr>
            <a:r>
              <a:rPr lang="en-SG" sz="2200" b="0" i="0" dirty="0">
                <a:solidFill>
                  <a:srgbClr val="F5F3EB"/>
                </a:solidFill>
                <a:latin typeface="Arial" panose="020B0604020202020204" pitchFamily="34" charset="0"/>
              </a:rPr>
              <a:t>“not stated. The handoff mentions</a:t>
            </a:r>
            <a:br>
              <a:rPr lang="en-SG" sz="2200" b="0" i="0" dirty="0">
                <a:solidFill>
                  <a:srgbClr val="F5F3EB"/>
                </a:solidFill>
                <a:latin typeface="Arial" panose="020B0604020202020204" pitchFamily="34" charset="0"/>
              </a:rPr>
            </a:br>
            <a:r>
              <a:rPr lang="en-SG" sz="2200" b="0" i="0" dirty="0">
                <a:solidFill>
                  <a:srgbClr val="F5F3EB"/>
                </a:solidFill>
                <a:latin typeface="Arial" panose="020B0604020202020204" pitchFamily="34" charset="0"/>
              </a:rPr>
              <a:t>only response validation and</a:t>
            </a:r>
            <a:br>
              <a:rPr lang="en-SG" sz="2200" b="0" i="0" dirty="0">
                <a:solidFill>
                  <a:srgbClr val="F5F3EB"/>
                </a:solidFill>
                <a:latin typeface="Arial" panose="020B0604020202020204" pitchFamily="34" charset="0"/>
              </a:rPr>
            </a:br>
            <a:r>
              <a:rPr lang="en-SG" sz="2200" b="0" i="0" dirty="0">
                <a:solidFill>
                  <a:srgbClr val="F5F3EB"/>
                </a:solidFill>
                <a:latin typeface="Arial" panose="020B0604020202020204" pitchFamily="34" charset="0"/>
              </a:rPr>
              <a:t>shape validation”</a:t>
            </a:r>
            <a:endParaRPr lang="en-SG" sz="2200" b="0" i="0" dirty="0">
              <a:solidFill>
                <a:srgbClr val="F5F3EB"/>
              </a:solidFill>
              <a:latin typeface="Arial" panose="020B0604020202020204" pitchFamily="34" charset="0"/>
            </a:endParaRPr>
          </a:p>
        </p:txBody>
      </p:sp>
      <p:sp>
        <p:nvSpPr>
          <p:cNvPr id="15" name="Callout"/>
          <p:cNvSpPr/>
          <p:nvPr/>
        </p:nvSpPr>
        <p:spPr>
          <a:xfrm>
            <a:off x="612648" y="5166360"/>
            <a:ext cx="10972800" cy="685800"/>
          </a:xfrm>
          <a:prstGeom prst="rect">
            <a:avLst/>
          </a:prstGeom>
          <a:solidFill>
            <a:srgbClr val="1B2940"/>
          </a:solidFill>
          <a:ln>
            <a:noFill/>
          </a:ln>
        </p:spPr>
      </p:sp>
      <p:sp>
        <p:nvSpPr>
          <p:cNvPr id="16" name="Callout marker"/>
          <p:cNvSpPr/>
          <p:nvPr/>
        </p:nvSpPr>
        <p:spPr>
          <a:xfrm>
            <a:off x="612648" y="5166360"/>
            <a:ext cx="36576" cy="685800"/>
          </a:xfrm>
          <a:prstGeom prst="rect">
            <a:avLst/>
          </a:prstGeom>
          <a:solidFill>
            <a:srgbClr val="FFC36A"/>
          </a:solidFill>
          <a:ln>
            <a:noFill/>
          </a:ln>
        </p:spPr>
      </p:sp>
      <p:sp>
        <p:nvSpPr>
          <p:cNvPr id="17" name="Callout text"/>
          <p:cNvSpPr txBox="1"/>
          <p:nvPr/>
        </p:nvSpPr>
        <p:spPr>
          <a:xfrm>
            <a:off x="841248" y="5166360"/>
            <a:ext cx="10515600" cy="685800"/>
          </a:xfrm>
          <a:prstGeom prst="rect">
            <a:avLst/>
          </a:prstGeom>
          <a:noFill/>
        </p:spPr>
        <p:txBody>
          <a:bodyPr vert="horz" wrap="square" lIns="0" tIns="0" rIns="0" bIns="0" rtlCol="0" anchor="ctr">
            <a:noAutofit/>
          </a:bodyPr>
          <a:lstStyle/>
          <a:p>
            <a:pPr algn="l">
              <a:buNone/>
            </a:pPr>
            <a:r>
              <a:rPr lang="en-SG" sz="2100" b="1" i="0" dirty="0">
                <a:solidFill>
                  <a:srgbClr val="FFC36A"/>
                </a:solidFill>
                <a:latin typeface="Arial" panose="020B0604020202020204" pitchFamily="34" charset="0"/>
              </a:rPr>
              <a:t>Q5 recovery: 1 of 9 facts, credited from the test-coverage answer</a:t>
            </a:r>
            <a:endParaRPr lang="en-SG" sz="2100" b="1" i="0" dirty="0">
              <a:solidFill>
                <a:srgbClr val="FFC36A"/>
              </a:solidFill>
              <a:latin typeface="Arial" panose="020B0604020202020204" pitchFamily="34" charset="0"/>
            </a:endParaRPr>
          </a:p>
        </p:txBody>
      </p:sp>
    </p:spTree>
    <p:extLst>
      <p:ext uri="{BB962C8B-B14F-4D97-AF65-F5344CB8AC3E}">
        <p14:creationId xmlns:p14="http://schemas.microsoft.com/office/powerpoint/2010/main" val="924042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marker"/>
          <p:cNvSpPr/>
          <p:nvPr/>
        </p:nvSpPr>
        <p:spPr>
          <a:xfrm>
            <a:off x="612648" y="429768"/>
            <a:ext cx="338328" cy="54864"/>
          </a:xfrm>
          <a:prstGeom prst="rect">
            <a:avLst/>
          </a:prstGeom>
          <a:solidFill>
            <a:srgbClr val="69DECC"/>
          </a:solidFill>
          <a:ln>
            <a:noFill/>
          </a:ln>
        </p:spPr>
      </p:sp>
      <p:sp>
        <p:nvSpPr>
          <p:cNvPr id="3" name="Section label"/>
          <p:cNvSpPr txBox="1"/>
          <p:nvPr/>
        </p:nvSpPr>
        <p:spPr>
          <a:xfrm>
            <a:off x="1060704" y="265176"/>
            <a:ext cx="9601200" cy="365760"/>
          </a:xfrm>
          <a:prstGeom prst="rect">
            <a:avLst/>
          </a:prstGeom>
          <a:noFill/>
        </p:spPr>
        <p:txBody>
          <a:bodyPr vert="horz" wrap="square" lIns="0" tIns="0" rIns="0" bIns="0" rtlCol="0" anchor="ctr">
            <a:noAutofit/>
          </a:bodyPr>
          <a:lstStyle/>
          <a:p>
            <a:pPr algn="l">
              <a:buNone/>
            </a:pPr>
            <a:r>
              <a:rPr lang="en-SG" sz="1200" b="1" i="0" dirty="0">
                <a:solidFill>
                  <a:srgbClr val="69DECC"/>
                </a:solidFill>
                <a:latin typeface="Arial" panose="020B0604020202020204" pitchFamily="34" charset="0"/>
              </a:rPr>
              <a:t>07 / BY QUESTION</a:t>
            </a:r>
            <a:endParaRPr lang="en-SG" sz="1200" b="1" i="0" dirty="0">
              <a:solidFill>
                <a:srgbClr val="69DECC"/>
              </a:solidFill>
              <a:latin typeface="Arial" panose="020B0604020202020204" pitchFamily="34" charset="0"/>
            </a:endParaRPr>
          </a:p>
        </p:txBody>
      </p:sp>
      <p:sp>
        <p:nvSpPr>
          <p:cNvPr id="4" name="Slide title"/>
          <p:cNvSpPr txBox="1"/>
          <p:nvPr/>
        </p:nvSpPr>
        <p:spPr>
          <a:xfrm>
            <a:off x="612648" y="813816"/>
            <a:ext cx="10972800" cy="850392"/>
          </a:xfrm>
          <a:prstGeom prst="rect">
            <a:avLst/>
          </a:prstGeom>
          <a:noFill/>
        </p:spPr>
        <p:txBody>
          <a:bodyPr vert="horz" wrap="square" lIns="0" tIns="0" rIns="0" bIns="0" rtlCol="0" anchor="ctr">
            <a:noAutofit/>
          </a:bodyPr>
          <a:lstStyle/>
          <a:p>
            <a:pPr algn="l">
              <a:buNone/>
            </a:pPr>
            <a:r>
              <a:rPr lang="en-SG" sz="3400" b="1" i="0" dirty="0">
                <a:solidFill>
                  <a:srgbClr val="F5F3EB"/>
                </a:solidFill>
                <a:latin typeface="Arial" panose="020B0604020202020204" pitchFamily="34" charset="0"/>
              </a:rPr>
              <a:t>Success criteria were the main omission</a:t>
            </a:r>
            <a:endParaRPr lang="en-SG" sz="3400" b="1" i="0" dirty="0">
              <a:solidFill>
                <a:srgbClr val="F5F3EB"/>
              </a:solidFill>
              <a:latin typeface="Arial" panose="020B0604020202020204" pitchFamily="34" charset="0"/>
            </a:endParaRPr>
          </a:p>
        </p:txBody>
      </p:sp>
      <p:sp>
        <p:nvSpPr>
          <p:cNvPr id="5" name="Slide number"/>
          <p:cNvSpPr txBox="1"/>
          <p:nvPr/>
        </p:nvSpPr>
        <p:spPr>
          <a:xfrm>
            <a:off x="10588752" y="6327648"/>
            <a:ext cx="987552" cy="265176"/>
          </a:xfrm>
          <a:prstGeom prst="rect">
            <a:avLst/>
          </a:prstGeom>
          <a:noFill/>
        </p:spPr>
        <p:txBody>
          <a:bodyPr vert="horz" wrap="square" lIns="0" tIns="0" rIns="0" bIns="0" rtlCol="0" anchor="ctr">
            <a:noAutofit/>
          </a:bodyPr>
          <a:lstStyle/>
          <a:p>
            <a:pPr algn="r">
              <a:buNone/>
            </a:pPr>
            <a:r>
              <a:rPr lang="en-SG" sz="1050" b="0" i="0" dirty="0">
                <a:solidFill>
                  <a:srgbClr val="B9C4D5"/>
                </a:solidFill>
                <a:latin typeface="Arial" panose="020B0604020202020204" pitchFamily="34" charset="0"/>
              </a:rPr>
              <a:t>08 / 10</a:t>
            </a:r>
            <a:endParaRPr lang="en-SG" sz="1050" b="0" i="0" dirty="0">
              <a:solidFill>
                <a:srgbClr val="B9C4D5"/>
              </a:solidFill>
              <a:latin typeface="Arial" panose="020B0604020202020204" pitchFamily="34" charset="0"/>
            </a:endParaRPr>
          </a:p>
        </p:txBody>
      </p:sp>
      <p:graphicFrame>
        <p:nvGraphicFramePr>
          <p:cNvPr id="6" name="Editable data chart"/>
          <p:cNvGraphicFramePr/>
          <p:nvPr/>
        </p:nvGraphicFramePr>
        <p:xfrm>
          <a:off x="612648" y="1783080"/>
          <a:ext cx="10972800" cy="3520440"/>
        </p:xfrm>
        <a:graphic>
          <a:graphicData uri="http://schemas.openxmlformats.org/drawingml/2006/chart">
            <c:chart xmlns:c="http://schemas.openxmlformats.org/drawingml/2006/chart" xmlns:r="http://schemas.openxmlformats.org/officeDocument/2006/relationships" r:id="rId3"/>
          </a:graphicData>
        </a:graphic>
      </p:graphicFrame>
      <p:sp>
        <p:nvSpPr>
          <p:cNvPr id="7" name="Statistic"/>
          <p:cNvSpPr txBox="1"/>
          <p:nvPr/>
        </p:nvSpPr>
        <p:spPr>
          <a:xfrm>
            <a:off x="612648" y="5440680"/>
            <a:ext cx="2651760" cy="777240"/>
          </a:xfrm>
          <a:prstGeom prst="rect">
            <a:avLst/>
          </a:prstGeom>
          <a:noFill/>
        </p:spPr>
        <p:txBody>
          <a:bodyPr vert="horz" wrap="square" lIns="0" tIns="0" rIns="0" bIns="0" rtlCol="0" anchor="ctr">
            <a:noAutofit/>
          </a:bodyPr>
          <a:lstStyle/>
          <a:p>
            <a:pPr algn="l">
              <a:buNone/>
            </a:pPr>
            <a:r>
              <a:rPr lang="en-SG" sz="4000" b="1" i="0" dirty="0">
                <a:solidFill>
                  <a:srgbClr val="FFC36A"/>
                </a:solidFill>
                <a:latin typeface="Arial" panose="020B0604020202020204" pitchFamily="34" charset="0"/>
              </a:rPr>
              <a:t>4 / 360</a:t>
            </a:r>
            <a:endParaRPr lang="en-SG" sz="4000" b="1" i="0" dirty="0">
              <a:solidFill>
                <a:srgbClr val="FFC36A"/>
              </a:solidFill>
              <a:latin typeface="Arial" panose="020B0604020202020204" pitchFamily="34" charset="0"/>
            </a:endParaRPr>
          </a:p>
        </p:txBody>
      </p:sp>
      <p:sp>
        <p:nvSpPr>
          <p:cNvPr id="8" name="Statistic label"/>
          <p:cNvSpPr txBox="1"/>
          <p:nvPr/>
        </p:nvSpPr>
        <p:spPr>
          <a:xfrm>
            <a:off x="3383280" y="5440680"/>
            <a:ext cx="8202168" cy="777240"/>
          </a:xfrm>
          <a:prstGeom prst="rect">
            <a:avLst/>
          </a:prstGeom>
          <a:noFill/>
        </p:spPr>
        <p:txBody>
          <a:bodyPr vert="horz" wrap="square" lIns="0" tIns="0" rIns="0" bIns="0" rtlCol="0" anchor="ctr">
            <a:noAutofit/>
          </a:bodyPr>
          <a:lstStyle/>
          <a:p>
            <a:pPr algn="l">
              <a:buNone/>
            </a:pPr>
            <a:r>
              <a:rPr lang="en-SG" sz="2000" b="0" i="0" dirty="0">
                <a:solidFill>
                  <a:srgbClr val="F5F3EB"/>
                </a:solidFill>
                <a:latin typeface="Arial" panose="020B0604020202020204" pitchFamily="34" charset="0"/>
              </a:rPr>
              <a:t>success-criteria facts recovered</a:t>
            </a:r>
            <a:endParaRPr lang="en-SG" sz="2000" b="0" i="0" dirty="0">
              <a:solidFill>
                <a:srgbClr val="F5F3EB"/>
              </a:solidFill>
              <a:latin typeface="Arial" panose="020B0604020202020204" pitchFamily="34" charset="0"/>
            </a:endParaRPr>
          </a:p>
          <a:p>
            <a:pPr algn="l">
              <a:spcBef>
                <a:spcPts val="200"/>
              </a:spcBef>
              <a:buNone/>
            </a:pPr>
            <a:r>
              <a:rPr lang="en-SG" sz="1700" b="0" i="0" dirty="0">
                <a:solidFill>
                  <a:srgbClr val="B9C4D5"/>
                </a:solidFill>
                <a:latin typeface="Arial" panose="020B0604020202020204" pitchFamily="34" charset="0"/>
              </a:rPr>
              <a:t>Different topics contain different numbers of facts.</a:t>
            </a:r>
            <a:endParaRPr lang="en-SG" sz="1700" b="0" i="0" dirty="0">
              <a:solidFill>
                <a:srgbClr val="B9C4D5"/>
              </a:solidFill>
              <a:latin typeface="Arial" panose="020B0604020202020204" pitchFamily="34" charset="0"/>
            </a:endParaRPr>
          </a:p>
        </p:txBody>
      </p:sp>
    </p:spTree>
    <p:extLst>
      <p:ext uri="{BB962C8B-B14F-4D97-AF65-F5344CB8AC3E}">
        <p14:creationId xmlns:p14="http://schemas.microsoft.com/office/powerpoint/2010/main" val="4633907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marker"/>
          <p:cNvSpPr/>
          <p:nvPr/>
        </p:nvSpPr>
        <p:spPr>
          <a:xfrm>
            <a:off x="612648" y="429768"/>
            <a:ext cx="338328" cy="54864"/>
          </a:xfrm>
          <a:prstGeom prst="rect">
            <a:avLst/>
          </a:prstGeom>
          <a:solidFill>
            <a:srgbClr val="69DECC"/>
          </a:solidFill>
          <a:ln>
            <a:noFill/>
          </a:ln>
        </p:spPr>
      </p:sp>
      <p:sp>
        <p:nvSpPr>
          <p:cNvPr id="3" name="Section label"/>
          <p:cNvSpPr txBox="1"/>
          <p:nvPr/>
        </p:nvSpPr>
        <p:spPr>
          <a:xfrm>
            <a:off x="1060704" y="265176"/>
            <a:ext cx="9601200" cy="365760"/>
          </a:xfrm>
          <a:prstGeom prst="rect">
            <a:avLst/>
          </a:prstGeom>
          <a:noFill/>
        </p:spPr>
        <p:txBody>
          <a:bodyPr vert="horz" wrap="square" lIns="0" tIns="0" rIns="0" bIns="0" rtlCol="0" anchor="ctr">
            <a:noAutofit/>
          </a:bodyPr>
          <a:lstStyle/>
          <a:p>
            <a:pPr algn="l">
              <a:buNone/>
            </a:pPr>
            <a:r>
              <a:rPr lang="en-SG" sz="1200" b="1" i="0" dirty="0">
                <a:solidFill>
                  <a:srgbClr val="69DECC"/>
                </a:solidFill>
                <a:latin typeface="Arial" panose="020B0604020202020204" pitchFamily="34" charset="0"/>
              </a:rPr>
              <a:t>08 / LIMITATIONS</a:t>
            </a:r>
            <a:endParaRPr lang="en-SG" sz="1200" b="1" i="0" dirty="0">
              <a:solidFill>
                <a:srgbClr val="69DECC"/>
              </a:solidFill>
              <a:latin typeface="Arial" panose="020B0604020202020204" pitchFamily="34" charset="0"/>
            </a:endParaRPr>
          </a:p>
        </p:txBody>
      </p:sp>
      <p:sp>
        <p:nvSpPr>
          <p:cNvPr id="4" name="Slide title"/>
          <p:cNvSpPr txBox="1"/>
          <p:nvPr/>
        </p:nvSpPr>
        <p:spPr>
          <a:xfrm>
            <a:off x="612648" y="813816"/>
            <a:ext cx="10972800" cy="850392"/>
          </a:xfrm>
          <a:prstGeom prst="rect">
            <a:avLst/>
          </a:prstGeom>
          <a:noFill/>
        </p:spPr>
        <p:txBody>
          <a:bodyPr vert="horz" wrap="square" lIns="0" tIns="0" rIns="0" bIns="0" rtlCol="0" anchor="ctr">
            <a:noAutofit/>
          </a:bodyPr>
          <a:lstStyle/>
          <a:p>
            <a:pPr algn="l">
              <a:buNone/>
            </a:pPr>
            <a:r>
              <a:rPr lang="en-SG" sz="3400" b="1" i="0" dirty="0">
                <a:solidFill>
                  <a:srgbClr val="F5F3EB"/>
                </a:solidFill>
                <a:latin typeface="Arial" panose="020B0604020202020204" pitchFamily="34" charset="0"/>
              </a:rPr>
              <a:t>The word budget limits the comparison</a:t>
            </a:r>
            <a:endParaRPr lang="en-SG" sz="3400" b="1" i="0" dirty="0">
              <a:solidFill>
                <a:srgbClr val="F5F3EB"/>
              </a:solidFill>
              <a:latin typeface="Arial" panose="020B0604020202020204" pitchFamily="34" charset="0"/>
            </a:endParaRPr>
          </a:p>
        </p:txBody>
      </p:sp>
      <p:sp>
        <p:nvSpPr>
          <p:cNvPr id="5" name="Slide number"/>
          <p:cNvSpPr txBox="1"/>
          <p:nvPr/>
        </p:nvSpPr>
        <p:spPr>
          <a:xfrm>
            <a:off x="10588752" y="6327648"/>
            <a:ext cx="987552" cy="265176"/>
          </a:xfrm>
          <a:prstGeom prst="rect">
            <a:avLst/>
          </a:prstGeom>
          <a:noFill/>
        </p:spPr>
        <p:txBody>
          <a:bodyPr vert="horz" wrap="square" lIns="0" tIns="0" rIns="0" bIns="0" rtlCol="0" anchor="ctr">
            <a:noAutofit/>
          </a:bodyPr>
          <a:lstStyle/>
          <a:p>
            <a:pPr algn="r">
              <a:buNone/>
            </a:pPr>
            <a:r>
              <a:rPr lang="en-SG" sz="1050" b="0" i="0" dirty="0">
                <a:solidFill>
                  <a:srgbClr val="B9C4D5"/>
                </a:solidFill>
                <a:latin typeface="Arial" panose="020B0604020202020204" pitchFamily="34" charset="0"/>
              </a:rPr>
              <a:t>09 / 10</a:t>
            </a:r>
            <a:endParaRPr lang="en-SG" sz="1050" b="0" i="0" dirty="0">
              <a:solidFill>
                <a:srgbClr val="B9C4D5"/>
              </a:solidFill>
              <a:latin typeface="Arial" panose="020B0604020202020204" pitchFamily="34" charset="0"/>
            </a:endParaRPr>
          </a:p>
        </p:txBody>
      </p:sp>
      <p:sp>
        <p:nvSpPr>
          <p:cNvPr id="6" name="Statistic"/>
          <p:cNvSpPr txBox="1"/>
          <p:nvPr/>
        </p:nvSpPr>
        <p:spPr>
          <a:xfrm>
            <a:off x="612648" y="1828800"/>
            <a:ext cx="10972800" cy="502920"/>
          </a:xfrm>
          <a:prstGeom prst="rect">
            <a:avLst/>
          </a:prstGeom>
          <a:noFill/>
        </p:spPr>
        <p:txBody>
          <a:bodyPr vert="horz" wrap="square" lIns="0" tIns="0" rIns="0" bIns="0" rtlCol="0" anchor="t">
            <a:noAutofit/>
          </a:bodyPr>
          <a:lstStyle/>
          <a:p>
            <a:pPr algn="l">
              <a:buNone/>
            </a:pPr>
            <a:r>
              <a:rPr lang="en-SG" sz="2600" b="1" i="0" dirty="0">
                <a:solidFill>
                  <a:srgbClr val="69DECC"/>
                </a:solidFill>
                <a:latin typeface="Arial" panose="020B0604020202020204" pitchFamily="34" charset="0"/>
              </a:rPr>
              <a:t>12 / 40 handoffs exceeded 200 words</a:t>
            </a:r>
            <a:endParaRPr lang="en-SG" sz="2600" b="1" i="0" dirty="0">
              <a:solidFill>
                <a:srgbClr val="69DECC"/>
              </a:solidFill>
              <a:latin typeface="Arial" panose="020B0604020202020204" pitchFamily="34" charset="0"/>
            </a:endParaRPr>
          </a:p>
        </p:txBody>
      </p:sp>
      <p:graphicFrame>
        <p:nvGraphicFramePr>
          <p:cNvPr id="7" name="Editable evidence table"/>
          <p:cNvGraphicFramePr>
            <a:graphicFrameLocks noGrp="1"/>
          </p:cNvGraphicFramePr>
          <p:nvPr/>
        </p:nvGraphicFramePr>
        <p:xfrm>
          <a:off x="612648" y="2560320"/>
          <a:ext cx="10972800" cy="2404872"/>
        </p:xfrm>
        <a:graphic>
          <a:graphicData uri="http://schemas.openxmlformats.org/drawingml/2006/table">
            <a:tbl>
              <a:tblPr firstRow="1">
                <a:tableStyleId>{2D5ABB26-0587-4C30-8999-92F81FD0307C}</a:tableStyleId>
              </a:tblPr>
              <a:tblGrid>
                <a:gridCol w="3657600"/>
                <a:gridCol w="7315200"/>
              </a:tblGrid>
              <a:tr h="502920">
                <a:tc>
                  <a:txBody>
                    <a:bodyPr/>
                    <a:lstStyle/>
                    <a:p>
                      <a:pPr algn="l">
                        <a:buNone/>
                      </a:pPr>
                      <a:r>
                        <a:rPr lang="en-SG" sz="1400" b="1" i="0" dirty="0">
                          <a:solidFill>
                            <a:srgbClr val="69DECC"/>
                          </a:solidFill>
                          <a:latin typeface="Arial" panose="020B0604020202020204" pitchFamily="34" charset="0"/>
                        </a:rPr>
                        <a:t>HANDOFF MODEL</a:t>
                      </a:r>
                      <a:endParaRPr lang="en-SG" sz="1400" b="1" i="0" dirty="0">
                        <a:solidFill>
                          <a:srgbClr val="69DECC"/>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24334B"/>
                    </a:solidFill>
                  </a:tcPr>
                </a:tc>
                <a:tc>
                  <a:txBody>
                    <a:bodyPr/>
                    <a:lstStyle/>
                    <a:p>
                      <a:pPr algn="l">
                        <a:buNone/>
                      </a:pPr>
                      <a:r>
                        <a:rPr lang="en-SG" sz="1400" b="1" i="0" dirty="0">
                          <a:solidFill>
                            <a:srgbClr val="69DECC"/>
                          </a:solidFill>
                          <a:latin typeface="Arial" panose="020B0604020202020204" pitchFamily="34" charset="0"/>
                        </a:rPr>
                        <a:t>PAIRS WITH BOTH FORMATS WITHIN 200 WORDS</a:t>
                      </a:r>
                      <a:endParaRPr lang="en-SG" sz="1400" b="1" i="0" dirty="0">
                        <a:solidFill>
                          <a:srgbClr val="69DECC"/>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24334B"/>
                    </a:solidFill>
                  </a:tcPr>
                </a:tc>
              </a:tr>
              <a:tr h="475488">
                <a:tc>
                  <a:txBody>
                    <a:bodyPr/>
                    <a:lstStyle/>
                    <a:p>
                      <a:pPr algn="l">
                        <a:buNone/>
                      </a:pPr>
                      <a:r>
                        <a:rPr lang="en-SG" sz="2000" b="0" i="0" dirty="0">
                          <a:solidFill>
                            <a:srgbClr val="F5F3EB"/>
                          </a:solidFill>
                          <a:latin typeface="Arial" panose="020B0604020202020204" pitchFamily="34" charset="0"/>
                        </a:rPr>
                        <a:t>Sol 5.6</a:t>
                      </a:r>
                      <a:endParaRPr lang="en-SG" sz="20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2000" b="0" i="0" dirty="0">
                          <a:solidFill>
                            <a:srgbClr val="F5F3EB"/>
                          </a:solidFill>
                          <a:latin typeface="Arial" panose="020B0604020202020204" pitchFamily="34" charset="0"/>
                        </a:rPr>
                        <a:t>5 / 5</a:t>
                      </a:r>
                      <a:endParaRPr lang="en-SG" sz="20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r>
              <a:tr h="475488">
                <a:tc>
                  <a:txBody>
                    <a:bodyPr/>
                    <a:lstStyle/>
                    <a:p>
                      <a:pPr algn="l">
                        <a:buNone/>
                      </a:pPr>
                      <a:r>
                        <a:rPr lang="en-SG" sz="2000" b="0" i="0" dirty="0">
                          <a:solidFill>
                            <a:srgbClr val="F5F3EB"/>
                          </a:solidFill>
                          <a:latin typeface="Arial" panose="020B0604020202020204" pitchFamily="34" charset="0"/>
                        </a:rPr>
                        <a:t>Luna 5.6</a:t>
                      </a:r>
                      <a:endParaRPr lang="en-SG" sz="20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2000" b="0" i="0" dirty="0">
                          <a:solidFill>
                            <a:srgbClr val="F5F3EB"/>
                          </a:solidFill>
                          <a:latin typeface="Arial" panose="020B0604020202020204" pitchFamily="34" charset="0"/>
                        </a:rPr>
                        <a:t>5 / 5</a:t>
                      </a:r>
                      <a:endParaRPr lang="en-SG" sz="20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r>
              <a:tr h="475488">
                <a:tc>
                  <a:txBody>
                    <a:bodyPr/>
                    <a:lstStyle/>
                    <a:p>
                      <a:pPr algn="l">
                        <a:buNone/>
                      </a:pPr>
                      <a:r>
                        <a:rPr lang="en-SG" sz="2000" b="0" i="0" dirty="0">
                          <a:solidFill>
                            <a:srgbClr val="F5F3EB"/>
                          </a:solidFill>
                          <a:latin typeface="Arial" panose="020B0604020202020204" pitchFamily="34" charset="0"/>
                        </a:rPr>
                        <a:t>Opus 5.5</a:t>
                      </a:r>
                      <a:endParaRPr lang="en-SG" sz="20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2000" b="0" i="0" dirty="0">
                          <a:solidFill>
                            <a:srgbClr val="FFC36A"/>
                          </a:solidFill>
                          <a:latin typeface="Arial" panose="020B0604020202020204" pitchFamily="34" charset="0"/>
                        </a:rPr>
                        <a:t>0 / 5</a:t>
                      </a:r>
                      <a:endParaRPr lang="en-SG" sz="2000" b="0" i="0" dirty="0">
                        <a:solidFill>
                          <a:srgbClr val="FFC36A"/>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r>
              <a:tr h="475488">
                <a:tc>
                  <a:txBody>
                    <a:bodyPr/>
                    <a:lstStyle/>
                    <a:p>
                      <a:pPr algn="l">
                        <a:buNone/>
                      </a:pPr>
                      <a:r>
                        <a:rPr lang="en-SG" sz="2000" b="0" i="0" dirty="0">
                          <a:solidFill>
                            <a:srgbClr val="F5F3EB"/>
                          </a:solidFill>
                          <a:latin typeface="Arial" panose="020B0604020202020204" pitchFamily="34" charset="0"/>
                        </a:rPr>
                        <a:t>Sonnet 5.5</a:t>
                      </a:r>
                      <a:endParaRPr lang="en-SG" sz="20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2000" b="0" i="0" dirty="0">
                          <a:solidFill>
                            <a:srgbClr val="FFC36A"/>
                          </a:solidFill>
                          <a:latin typeface="Arial" panose="020B0604020202020204" pitchFamily="34" charset="0"/>
                        </a:rPr>
                        <a:t>1 / 5</a:t>
                      </a:r>
                      <a:endParaRPr lang="en-SG" sz="2000" b="0" i="0" dirty="0">
                        <a:solidFill>
                          <a:srgbClr val="FFC36A"/>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r>
            </a:tbl>
          </a:graphicData>
        </a:graphic>
      </p:graphicFrame>
      <p:sp>
        <p:nvSpPr>
          <p:cNvPr id="8" name="Callout"/>
          <p:cNvSpPr/>
          <p:nvPr/>
        </p:nvSpPr>
        <p:spPr>
          <a:xfrm>
            <a:off x="612648" y="5257800"/>
            <a:ext cx="10972800" cy="685800"/>
          </a:xfrm>
          <a:prstGeom prst="rect">
            <a:avLst/>
          </a:prstGeom>
          <a:solidFill>
            <a:srgbClr val="1B2940"/>
          </a:solidFill>
          <a:ln>
            <a:noFill/>
          </a:ln>
        </p:spPr>
      </p:sp>
      <p:sp>
        <p:nvSpPr>
          <p:cNvPr id="9" name="Callout marker"/>
          <p:cNvSpPr/>
          <p:nvPr/>
        </p:nvSpPr>
        <p:spPr>
          <a:xfrm>
            <a:off x="612648" y="5257800"/>
            <a:ext cx="36576" cy="685800"/>
          </a:xfrm>
          <a:prstGeom prst="rect">
            <a:avLst/>
          </a:prstGeom>
          <a:solidFill>
            <a:srgbClr val="FFC36A"/>
          </a:solidFill>
          <a:ln>
            <a:noFill/>
          </a:ln>
        </p:spPr>
      </p:sp>
      <p:sp>
        <p:nvSpPr>
          <p:cNvPr id="10" name="Callout text"/>
          <p:cNvSpPr txBox="1"/>
          <p:nvPr/>
        </p:nvSpPr>
        <p:spPr>
          <a:xfrm>
            <a:off x="841248" y="5257800"/>
            <a:ext cx="10515600" cy="685800"/>
          </a:xfrm>
          <a:prstGeom prst="rect">
            <a:avLst/>
          </a:prstGeom>
          <a:noFill/>
        </p:spPr>
        <p:txBody>
          <a:bodyPr vert="horz" wrap="square" lIns="0" tIns="0" rIns="0" bIns="0" rtlCol="0" anchor="ctr">
            <a:noAutofit/>
          </a:bodyPr>
          <a:lstStyle/>
          <a:p>
            <a:pPr algn="l">
              <a:buNone/>
            </a:pPr>
            <a:r>
              <a:rPr lang="en-SG" sz="2100" b="1" i="0" dirty="0">
                <a:solidFill>
                  <a:srgbClr val="FFC36A"/>
                </a:solidFill>
                <a:latin typeface="Arial" panose="020B0604020202020204" pitchFamily="34" charset="0"/>
              </a:rPr>
              <a:t>One task. Five shared histories. Unblinded AI grading.</a:t>
            </a:r>
            <a:endParaRPr lang="en-SG" sz="2100" b="1" i="0" dirty="0">
              <a:solidFill>
                <a:srgbClr val="FFC36A"/>
              </a:solidFill>
              <a:latin typeface="Arial" panose="020B0604020202020204" pitchFamily="34" charset="0"/>
            </a:endParaRPr>
          </a:p>
        </p:txBody>
      </p:sp>
    </p:spTree>
    <p:extLst>
      <p:ext uri="{BB962C8B-B14F-4D97-AF65-F5344CB8AC3E}">
        <p14:creationId xmlns:p14="http://schemas.microsoft.com/office/powerpoint/2010/main" val="36012031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marker"/>
          <p:cNvSpPr/>
          <p:nvPr/>
        </p:nvSpPr>
        <p:spPr>
          <a:xfrm>
            <a:off x="612648" y="429768"/>
            <a:ext cx="338328" cy="54864"/>
          </a:xfrm>
          <a:prstGeom prst="rect">
            <a:avLst/>
          </a:prstGeom>
          <a:solidFill>
            <a:srgbClr val="69DECC"/>
          </a:solidFill>
          <a:ln>
            <a:noFill/>
          </a:ln>
        </p:spPr>
      </p:sp>
      <p:sp>
        <p:nvSpPr>
          <p:cNvPr id="3" name="Section label"/>
          <p:cNvSpPr txBox="1"/>
          <p:nvPr/>
        </p:nvSpPr>
        <p:spPr>
          <a:xfrm>
            <a:off x="1060704" y="265176"/>
            <a:ext cx="9601200" cy="365760"/>
          </a:xfrm>
          <a:prstGeom prst="rect">
            <a:avLst/>
          </a:prstGeom>
          <a:noFill/>
        </p:spPr>
        <p:txBody>
          <a:bodyPr vert="horz" wrap="square" lIns="0" tIns="0" rIns="0" bIns="0" rtlCol="0" anchor="ctr">
            <a:noAutofit/>
          </a:bodyPr>
          <a:lstStyle/>
          <a:p>
            <a:pPr algn="l">
              <a:buNone/>
            </a:pPr>
            <a:r>
              <a:rPr lang="en-SG" sz="1200" b="1" i="0" dirty="0">
                <a:solidFill>
                  <a:srgbClr val="69DECC"/>
                </a:solidFill>
                <a:latin typeface="Arial" panose="020B0604020202020204" pitchFamily="34" charset="0"/>
              </a:rPr>
              <a:t>09 / THE TAKEAWAY</a:t>
            </a:r>
            <a:endParaRPr lang="en-SG" sz="1200" b="1" i="0" dirty="0">
              <a:solidFill>
                <a:srgbClr val="69DECC"/>
              </a:solidFill>
              <a:latin typeface="Arial" panose="020B0604020202020204" pitchFamily="34" charset="0"/>
            </a:endParaRPr>
          </a:p>
        </p:txBody>
      </p:sp>
      <p:sp>
        <p:nvSpPr>
          <p:cNvPr id="4" name="Slide title"/>
          <p:cNvSpPr txBox="1"/>
          <p:nvPr/>
        </p:nvSpPr>
        <p:spPr>
          <a:xfrm>
            <a:off x="612648" y="813816"/>
            <a:ext cx="10972800" cy="850392"/>
          </a:xfrm>
          <a:prstGeom prst="rect">
            <a:avLst/>
          </a:prstGeom>
          <a:noFill/>
        </p:spPr>
        <p:txBody>
          <a:bodyPr vert="horz" wrap="square" lIns="0" tIns="0" rIns="0" bIns="0" rtlCol="0" anchor="ctr">
            <a:noAutofit/>
          </a:bodyPr>
          <a:lstStyle/>
          <a:p>
            <a:pPr algn="l">
              <a:buNone/>
            </a:pPr>
            <a:r>
              <a:rPr lang="en-SG" sz="3400" b="1" i="0" dirty="0">
                <a:solidFill>
                  <a:srgbClr val="F5F3EB"/>
                </a:solidFill>
                <a:latin typeface="Arial" panose="020B0604020202020204" pitchFamily="34" charset="0"/>
              </a:rPr>
              <a:t>Recall first in handoff design</a:t>
            </a:r>
            <a:endParaRPr lang="en-SG" sz="3400" b="1" i="0" dirty="0">
              <a:solidFill>
                <a:srgbClr val="F5F3EB"/>
              </a:solidFill>
              <a:latin typeface="Arial" panose="020B0604020202020204" pitchFamily="34" charset="0"/>
            </a:endParaRPr>
          </a:p>
        </p:txBody>
      </p:sp>
      <p:sp>
        <p:nvSpPr>
          <p:cNvPr id="5" name="Slide number"/>
          <p:cNvSpPr txBox="1"/>
          <p:nvPr/>
        </p:nvSpPr>
        <p:spPr>
          <a:xfrm>
            <a:off x="10588752" y="6327648"/>
            <a:ext cx="987552" cy="265176"/>
          </a:xfrm>
          <a:prstGeom prst="rect">
            <a:avLst/>
          </a:prstGeom>
          <a:noFill/>
        </p:spPr>
        <p:txBody>
          <a:bodyPr vert="horz" wrap="square" lIns="0" tIns="0" rIns="0" bIns="0" rtlCol="0" anchor="ctr">
            <a:noAutofit/>
          </a:bodyPr>
          <a:lstStyle/>
          <a:p>
            <a:pPr algn="r">
              <a:buNone/>
            </a:pPr>
            <a:r>
              <a:rPr lang="en-SG" sz="1050" b="0" i="0" dirty="0">
                <a:solidFill>
                  <a:srgbClr val="B9C4D5"/>
                </a:solidFill>
                <a:latin typeface="Arial" panose="020B0604020202020204" pitchFamily="34" charset="0"/>
              </a:rPr>
              <a:t>10 / 10</a:t>
            </a:r>
            <a:endParaRPr lang="en-SG" sz="1050" b="0" i="0" dirty="0">
              <a:solidFill>
                <a:srgbClr val="B9C4D5"/>
              </a:solidFill>
              <a:latin typeface="Arial" panose="020B0604020202020204" pitchFamily="34" charset="0"/>
            </a:endParaRPr>
          </a:p>
        </p:txBody>
      </p:sp>
      <p:sp>
        <p:nvSpPr>
          <p:cNvPr id="6" name="Conclusion"/>
          <p:cNvSpPr txBox="1"/>
          <p:nvPr/>
        </p:nvSpPr>
        <p:spPr>
          <a:xfrm>
            <a:off x="612648" y="1828800"/>
            <a:ext cx="10972800" cy="548640"/>
          </a:xfrm>
          <a:prstGeom prst="rect">
            <a:avLst/>
          </a:prstGeom>
          <a:noFill/>
        </p:spPr>
        <p:txBody>
          <a:bodyPr vert="horz" wrap="square" lIns="0" tIns="0" rIns="0" bIns="0" rtlCol="0" anchor="t">
            <a:noAutofit/>
          </a:bodyPr>
          <a:lstStyle/>
          <a:p>
            <a:pPr algn="l">
              <a:buNone/>
            </a:pPr>
            <a:r>
              <a:rPr lang="en-SG" sz="2600" b="1" i="0" dirty="0">
                <a:solidFill>
                  <a:srgbClr val="69DECC"/>
                </a:solidFill>
                <a:latin typeface="Arial" panose="020B0604020202020204" pitchFamily="34" charset="0"/>
              </a:rPr>
              <a:t>Format alone gave no consistent benefit in this setup.</a:t>
            </a:r>
            <a:endParaRPr lang="en-SG" sz="2600" b="1" i="0" dirty="0">
              <a:solidFill>
                <a:srgbClr val="69DECC"/>
              </a:solidFill>
              <a:latin typeface="Arial" panose="020B0604020202020204" pitchFamily="34" charset="0"/>
            </a:endParaRPr>
          </a:p>
        </p:txBody>
      </p:sp>
      <p:sp>
        <p:nvSpPr>
          <p:cNvPr id="7" name="Card"/>
          <p:cNvSpPr/>
          <p:nvPr/>
        </p:nvSpPr>
        <p:spPr>
          <a:xfrm>
            <a:off x="612648" y="2743200"/>
            <a:ext cx="5303520" cy="1965960"/>
          </a:xfrm>
          <a:prstGeom prst="rect">
            <a:avLst/>
          </a:prstGeom>
          <a:solidFill>
            <a:srgbClr val="1B2940"/>
          </a:solidFill>
          <a:ln>
            <a:noFill/>
          </a:ln>
        </p:spPr>
      </p:sp>
      <p:sp>
        <p:nvSpPr>
          <p:cNvPr id="8" name="Card marker"/>
          <p:cNvSpPr/>
          <p:nvPr/>
        </p:nvSpPr>
        <p:spPr>
          <a:xfrm>
            <a:off x="612648" y="2743200"/>
            <a:ext cx="5303520" cy="36576"/>
          </a:xfrm>
          <a:prstGeom prst="rect">
            <a:avLst/>
          </a:prstGeom>
          <a:solidFill>
            <a:srgbClr val="69DECC"/>
          </a:solidFill>
          <a:ln>
            <a:noFill/>
          </a:ln>
        </p:spPr>
      </p:sp>
      <p:sp>
        <p:nvSpPr>
          <p:cNvPr id="9" name="Card label"/>
          <p:cNvSpPr txBox="1"/>
          <p:nvPr/>
        </p:nvSpPr>
        <p:spPr>
          <a:xfrm>
            <a:off x="841248" y="2944368"/>
            <a:ext cx="4892040" cy="320040"/>
          </a:xfrm>
          <a:prstGeom prst="rect">
            <a:avLst/>
          </a:prstGeom>
          <a:noFill/>
        </p:spPr>
        <p:txBody>
          <a:bodyPr vert="horz" wrap="square" lIns="0" tIns="0" rIns="0" bIns="0" rtlCol="0" anchor="t">
            <a:noAutofit/>
          </a:bodyPr>
          <a:lstStyle/>
          <a:p>
            <a:pPr algn="l">
              <a:buNone/>
            </a:pPr>
            <a:r>
              <a:rPr lang="en-SG" sz="1400" b="1" i="0" dirty="0">
                <a:solidFill>
                  <a:srgbClr val="69DECC"/>
                </a:solidFill>
                <a:latin typeface="Arial" panose="020B0604020202020204" pitchFamily="34" charset="0"/>
              </a:rPr>
              <a:t>STRUCTURED NOTE TAKING</a:t>
            </a:r>
            <a:endParaRPr lang="en-SG" sz="1400" b="1" i="0" dirty="0">
              <a:solidFill>
                <a:srgbClr val="69DECC"/>
              </a:solidFill>
              <a:latin typeface="Arial" panose="020B0604020202020204" pitchFamily="34" charset="0"/>
            </a:endParaRPr>
          </a:p>
        </p:txBody>
      </p:sp>
      <p:sp>
        <p:nvSpPr>
          <p:cNvPr id="10" name="Card text"/>
          <p:cNvSpPr txBox="1"/>
          <p:nvPr/>
        </p:nvSpPr>
        <p:spPr>
          <a:xfrm>
            <a:off x="841248" y="3401568"/>
            <a:ext cx="4892040" cy="1143000"/>
          </a:xfrm>
          <a:prstGeom prst="rect">
            <a:avLst/>
          </a:prstGeom>
          <a:noFill/>
        </p:spPr>
        <p:txBody>
          <a:bodyPr vert="horz" wrap="square" lIns="0" tIns="0" rIns="0" bIns="0" rtlCol="0" anchor="t">
            <a:noAutofit/>
          </a:bodyPr>
          <a:lstStyle/>
          <a:p>
            <a:pPr algn="l">
              <a:buNone/>
            </a:pPr>
            <a:r>
              <a:rPr lang="en-SG" sz="2200" b="0" i="0" dirty="0">
                <a:solidFill>
                  <a:srgbClr val="F5F3EB"/>
                </a:solidFill>
                <a:latin typeface="Arial" panose="020B0604020202020204" pitchFamily="34" charset="0"/>
              </a:rPr>
              <a:t>Possible next test: explicitly</a:t>
            </a:r>
            <a:br>
              <a:rPr lang="en-SG" sz="2200" b="0" i="0" dirty="0">
                <a:solidFill>
                  <a:srgbClr val="F5F3EB"/>
                </a:solidFill>
                <a:latin typeface="Arial" panose="020B0604020202020204" pitchFamily="34" charset="0"/>
              </a:rPr>
            </a:br>
            <a:r>
              <a:rPr lang="en-SG" sz="2200" b="0" i="0" dirty="0">
                <a:solidFill>
                  <a:srgbClr val="F5F3EB"/>
                </a:solidFill>
                <a:latin typeface="Arial" panose="020B0604020202020204" pitchFamily="34" charset="0"/>
              </a:rPr>
              <a:t>preserve task success criteria.</a:t>
            </a:r>
            <a:endParaRPr lang="en-SG" sz="2200" b="0" i="0" dirty="0">
              <a:solidFill>
                <a:srgbClr val="F5F3EB"/>
              </a:solidFill>
              <a:latin typeface="Arial" panose="020B0604020202020204" pitchFamily="34" charset="0"/>
            </a:endParaRPr>
          </a:p>
        </p:txBody>
      </p:sp>
      <p:sp>
        <p:nvSpPr>
          <p:cNvPr id="11" name="Card"/>
          <p:cNvSpPr/>
          <p:nvPr/>
        </p:nvSpPr>
        <p:spPr>
          <a:xfrm>
            <a:off x="6281928" y="2743200"/>
            <a:ext cx="5303520" cy="1965960"/>
          </a:xfrm>
          <a:prstGeom prst="rect">
            <a:avLst/>
          </a:prstGeom>
          <a:solidFill>
            <a:srgbClr val="1B2940"/>
          </a:solidFill>
          <a:ln>
            <a:noFill/>
          </a:ln>
        </p:spPr>
      </p:sp>
      <p:sp>
        <p:nvSpPr>
          <p:cNvPr id="12" name="Card marker"/>
          <p:cNvSpPr/>
          <p:nvPr/>
        </p:nvSpPr>
        <p:spPr>
          <a:xfrm>
            <a:off x="6281928" y="2743200"/>
            <a:ext cx="5303520" cy="36576"/>
          </a:xfrm>
          <a:prstGeom prst="rect">
            <a:avLst/>
          </a:prstGeom>
          <a:solidFill>
            <a:srgbClr val="69DECC"/>
          </a:solidFill>
          <a:ln>
            <a:noFill/>
          </a:ln>
        </p:spPr>
      </p:sp>
      <p:sp>
        <p:nvSpPr>
          <p:cNvPr id="13" name="Card label"/>
          <p:cNvSpPr txBox="1"/>
          <p:nvPr/>
        </p:nvSpPr>
        <p:spPr>
          <a:xfrm>
            <a:off x="6510528" y="2944368"/>
            <a:ext cx="4892040" cy="320040"/>
          </a:xfrm>
          <a:prstGeom prst="rect">
            <a:avLst/>
          </a:prstGeom>
          <a:noFill/>
        </p:spPr>
        <p:txBody>
          <a:bodyPr vert="horz" wrap="square" lIns="0" tIns="0" rIns="0" bIns="0" rtlCol="0" anchor="t">
            <a:noAutofit/>
          </a:bodyPr>
          <a:lstStyle/>
          <a:p>
            <a:pPr algn="l">
              <a:buNone/>
            </a:pPr>
            <a:r>
              <a:rPr lang="en-SG" sz="1400" b="1" i="0" dirty="0">
                <a:solidFill>
                  <a:srgbClr val="69DECC"/>
                </a:solidFill>
                <a:latin typeface="Arial" panose="020B0604020202020204" pitchFamily="34" charset="0"/>
              </a:rPr>
              <a:t>JUST-IN-TIME RETRIEVAL</a:t>
            </a:r>
            <a:endParaRPr lang="en-SG" sz="1400" b="1" i="0" dirty="0">
              <a:solidFill>
                <a:srgbClr val="69DECC"/>
              </a:solidFill>
              <a:latin typeface="Arial" panose="020B0604020202020204" pitchFamily="34" charset="0"/>
            </a:endParaRPr>
          </a:p>
        </p:txBody>
      </p:sp>
      <p:sp>
        <p:nvSpPr>
          <p:cNvPr id="14" name="Card text"/>
          <p:cNvSpPr txBox="1"/>
          <p:nvPr/>
        </p:nvSpPr>
        <p:spPr>
          <a:xfrm>
            <a:off x="6510528" y="3401568"/>
            <a:ext cx="4892040" cy="1143000"/>
          </a:xfrm>
          <a:prstGeom prst="rect">
            <a:avLst/>
          </a:prstGeom>
          <a:noFill/>
        </p:spPr>
        <p:txBody>
          <a:bodyPr vert="horz" wrap="square" lIns="0" tIns="0" rIns="0" bIns="0" rtlCol="0" anchor="t">
            <a:noAutofit/>
          </a:bodyPr>
          <a:lstStyle/>
          <a:p>
            <a:pPr algn="l">
              <a:buNone/>
            </a:pPr>
            <a:r>
              <a:rPr lang="en-SG" sz="2200" b="0" i="0" dirty="0">
                <a:solidFill>
                  <a:srgbClr val="F5F3EB"/>
                </a:solidFill>
                <a:latin typeface="Arial" panose="020B0604020202020204" pitchFamily="34" charset="0"/>
              </a:rPr>
              <a:t>Possible next test: let the receiver</a:t>
            </a:r>
            <a:br>
              <a:rPr lang="en-SG" sz="2200" b="0" i="0" dirty="0">
                <a:solidFill>
                  <a:srgbClr val="F5F3EB"/>
                </a:solidFill>
                <a:latin typeface="Arial" panose="020B0604020202020204" pitchFamily="34" charset="0"/>
              </a:rPr>
            </a:br>
            <a:r>
              <a:rPr lang="en-SG" sz="2200" b="0" i="0" dirty="0">
                <a:solidFill>
                  <a:srgbClr val="F5F3EB"/>
                </a:solidFill>
                <a:latin typeface="Arial" panose="020B0604020202020204" pitchFamily="34" charset="0"/>
              </a:rPr>
              <a:t>retrieve the referenced contract.</a:t>
            </a:r>
            <a:endParaRPr lang="en-SG" sz="2200" b="0" i="0" dirty="0">
              <a:solidFill>
                <a:srgbClr val="F5F3EB"/>
              </a:solidFill>
              <a:latin typeface="Arial" panose="020B0604020202020204" pitchFamily="34" charset="0"/>
            </a:endParaRPr>
          </a:p>
        </p:txBody>
      </p:sp>
      <p:sp>
        <p:nvSpPr>
          <p:cNvPr id="15" name="Divider"/>
          <p:cNvSpPr/>
          <p:nvPr/>
        </p:nvSpPr>
        <p:spPr>
          <a:xfrm>
            <a:off x="612648" y="5138928"/>
            <a:ext cx="10972800" cy="27432"/>
          </a:xfrm>
          <a:prstGeom prst="rect">
            <a:avLst/>
          </a:prstGeom>
          <a:solidFill>
            <a:srgbClr val="24334B"/>
          </a:solidFill>
          <a:ln>
            <a:noFill/>
          </a:ln>
        </p:spPr>
      </p:sp>
      <p:sp>
        <p:nvSpPr>
          <p:cNvPr id="16" name="Caveat"/>
          <p:cNvSpPr txBox="1"/>
          <p:nvPr/>
        </p:nvSpPr>
        <p:spPr>
          <a:xfrm>
            <a:off x="612648" y="5394960"/>
            <a:ext cx="10972800" cy="429768"/>
          </a:xfrm>
          <a:prstGeom prst="rect">
            <a:avLst/>
          </a:prstGeom>
          <a:noFill/>
        </p:spPr>
        <p:txBody>
          <a:bodyPr vert="horz" wrap="square" lIns="0" tIns="0" rIns="0" bIns="0" rtlCol="0" anchor="t">
            <a:noAutofit/>
          </a:bodyPr>
          <a:lstStyle/>
          <a:p>
            <a:pPr algn="l">
              <a:buNone/>
            </a:pPr>
            <a:r>
              <a:rPr lang="en-SG" sz="2200" b="0" i="0" dirty="0">
                <a:solidFill>
                  <a:srgbClr val="B9C4D5"/>
                </a:solidFill>
                <a:latin typeface="Arial" panose="020B0604020202020204" pitchFamily="34" charset="0"/>
              </a:rPr>
              <a:t>These follow-ups remain untested in this experiment.</a:t>
            </a:r>
            <a:endParaRPr lang="en-SG" sz="2200" b="0" i="0" dirty="0">
              <a:solidFill>
                <a:srgbClr val="B9C4D5"/>
              </a:solidFill>
              <a:latin typeface="Arial" panose="020B0604020202020204" pitchFamily="34" charset="0"/>
            </a:endParaRPr>
          </a:p>
        </p:txBody>
      </p:sp>
    </p:spTree>
    <p:extLst>
      <p:ext uri="{BB962C8B-B14F-4D97-AF65-F5344CB8AC3E}">
        <p14:creationId xmlns:p14="http://schemas.microsoft.com/office/powerpoint/2010/main" val="3869197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marker"/>
          <p:cNvSpPr/>
          <p:nvPr/>
        </p:nvSpPr>
        <p:spPr>
          <a:xfrm>
            <a:off x="612648" y="429768"/>
            <a:ext cx="338328" cy="54864"/>
          </a:xfrm>
          <a:prstGeom prst="rect">
            <a:avLst/>
          </a:prstGeom>
          <a:solidFill>
            <a:srgbClr val="69DECC"/>
          </a:solidFill>
          <a:ln>
            <a:noFill/>
          </a:ln>
        </p:spPr>
      </p:sp>
      <p:sp>
        <p:nvSpPr>
          <p:cNvPr id="3" name="Section label"/>
          <p:cNvSpPr txBox="1"/>
          <p:nvPr/>
        </p:nvSpPr>
        <p:spPr>
          <a:xfrm>
            <a:off x="1060704" y="265176"/>
            <a:ext cx="9601200" cy="365760"/>
          </a:xfrm>
          <a:prstGeom prst="rect">
            <a:avLst/>
          </a:prstGeom>
          <a:noFill/>
        </p:spPr>
        <p:txBody>
          <a:bodyPr vert="horz" wrap="square" lIns="0" tIns="0" rIns="0" bIns="0" rtlCol="0" anchor="ctr">
            <a:noAutofit/>
          </a:bodyPr>
          <a:lstStyle/>
          <a:p>
            <a:pPr algn="l">
              <a:buNone/>
            </a:pPr>
            <a:r>
              <a:rPr lang="en-SG" sz="1200" b="1" i="0" dirty="0">
                <a:solidFill>
                  <a:srgbClr val="69DECC"/>
                </a:solidFill>
                <a:latin typeface="Arial" panose="020B0604020202020204" pitchFamily="34" charset="0"/>
              </a:rPr>
              <a:t>BACKUP / COMPLETE RATES</a:t>
            </a:r>
            <a:endParaRPr lang="en-SG" sz="1200" b="1" i="0" dirty="0">
              <a:solidFill>
                <a:srgbClr val="69DECC"/>
              </a:solidFill>
              <a:latin typeface="Arial" panose="020B0604020202020204" pitchFamily="34" charset="0"/>
            </a:endParaRPr>
          </a:p>
        </p:txBody>
      </p:sp>
      <p:sp>
        <p:nvSpPr>
          <p:cNvPr id="4" name="Slide title"/>
          <p:cNvSpPr txBox="1"/>
          <p:nvPr/>
        </p:nvSpPr>
        <p:spPr>
          <a:xfrm>
            <a:off x="612648" y="813816"/>
            <a:ext cx="10972800" cy="850392"/>
          </a:xfrm>
          <a:prstGeom prst="rect">
            <a:avLst/>
          </a:prstGeom>
          <a:noFill/>
        </p:spPr>
        <p:txBody>
          <a:bodyPr vert="horz" wrap="square" lIns="0" tIns="0" rIns="0" bIns="0" rtlCol="0" anchor="ctr">
            <a:noAutofit/>
          </a:bodyPr>
          <a:lstStyle/>
          <a:p>
            <a:pPr algn="l">
              <a:buNone/>
            </a:pPr>
            <a:r>
              <a:rPr lang="en-SG" sz="3400" b="1" i="0" dirty="0">
                <a:solidFill>
                  <a:srgbClr val="F5F3EB"/>
                </a:solidFill>
                <a:latin typeface="Arial" panose="020B0604020202020204" pitchFamily="34" charset="0"/>
              </a:rPr>
              <a:t>Complete before-and-after rates</a:t>
            </a:r>
            <a:endParaRPr lang="en-SG" sz="3400" b="1" i="0" dirty="0">
              <a:solidFill>
                <a:srgbClr val="F5F3EB"/>
              </a:solidFill>
              <a:latin typeface="Arial" panose="020B0604020202020204" pitchFamily="34" charset="0"/>
            </a:endParaRPr>
          </a:p>
        </p:txBody>
      </p:sp>
      <p:sp>
        <p:nvSpPr>
          <p:cNvPr id="5" name="Subtitle"/>
          <p:cNvSpPr txBox="1"/>
          <p:nvPr/>
        </p:nvSpPr>
        <p:spPr>
          <a:xfrm>
            <a:off x="612648" y="1792224"/>
            <a:ext cx="10972800" cy="365760"/>
          </a:xfrm>
          <a:prstGeom prst="rect">
            <a:avLst/>
          </a:prstGeom>
          <a:noFill/>
        </p:spPr>
        <p:txBody>
          <a:bodyPr vert="horz" wrap="square" lIns="0" tIns="0" rIns="0" bIns="0" rtlCol="0" anchor="t">
            <a:noAutofit/>
          </a:bodyPr>
          <a:lstStyle/>
          <a:p>
            <a:pPr algn="l">
              <a:buNone/>
            </a:pPr>
            <a:r>
              <a:rPr lang="en-SG" sz="1800" b="0" i="0" dirty="0">
                <a:solidFill>
                  <a:srgbClr val="B9C4D5"/>
                </a:solidFill>
                <a:latin typeface="Arial" panose="020B0604020202020204" pitchFamily="34" charset="0"/>
              </a:rPr>
              <a:t>Correct facts / source-supported facts, pooled within each condition</a:t>
            </a:r>
            <a:endParaRPr lang="en-SG" sz="1800" b="0" i="0" dirty="0">
              <a:solidFill>
                <a:srgbClr val="B9C4D5"/>
              </a:solidFill>
              <a:latin typeface="Arial" panose="020B0604020202020204" pitchFamily="34" charset="0"/>
            </a:endParaRPr>
          </a:p>
        </p:txBody>
      </p:sp>
      <p:graphicFrame>
        <p:nvGraphicFramePr>
          <p:cNvPr id="6" name="Editable evidence table"/>
          <p:cNvGraphicFramePr>
            <a:graphicFrameLocks noGrp="1"/>
          </p:cNvGraphicFramePr>
          <p:nvPr/>
        </p:nvGraphicFramePr>
        <p:xfrm>
          <a:off x="612648" y="2286000"/>
          <a:ext cx="10972800" cy="3749040"/>
        </p:xfrm>
        <a:graphic>
          <a:graphicData uri="http://schemas.openxmlformats.org/drawingml/2006/table">
            <a:tbl>
              <a:tblPr firstRow="1">
                <a:tableStyleId>{2D5ABB26-0587-4C30-8999-92F81FD0307C}</a:tableStyleId>
              </a:tblPr>
              <a:tblGrid>
                <a:gridCol w="2743200"/>
                <a:gridCol w="2194560"/>
                <a:gridCol w="3017520"/>
                <a:gridCol w="3017520"/>
              </a:tblGrid>
              <a:tr h="457200">
                <a:tc>
                  <a:txBody>
                    <a:bodyPr/>
                    <a:lstStyle/>
                    <a:p>
                      <a:pPr algn="l">
                        <a:buNone/>
                      </a:pPr>
                      <a:r>
                        <a:rPr lang="en-SG" sz="1400" b="1" i="0" dirty="0">
                          <a:solidFill>
                            <a:srgbClr val="69DECC"/>
                          </a:solidFill>
                          <a:latin typeface="Arial" panose="020B0604020202020204" pitchFamily="34" charset="0"/>
                        </a:rPr>
                        <a:t>HANDOFF MODEL</a:t>
                      </a:r>
                      <a:endParaRPr lang="en-SG" sz="1400" b="1" i="0" dirty="0">
                        <a:solidFill>
                          <a:srgbClr val="69DECC"/>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24334B"/>
                    </a:solidFill>
                  </a:tcPr>
                </a:tc>
                <a:tc>
                  <a:txBody>
                    <a:bodyPr/>
                    <a:lstStyle/>
                    <a:p>
                      <a:pPr algn="l">
                        <a:buNone/>
                      </a:pPr>
                      <a:r>
                        <a:rPr lang="en-SG" sz="1400" b="1" i="0" dirty="0">
                          <a:solidFill>
                            <a:srgbClr val="69DECC"/>
                          </a:solidFill>
                          <a:latin typeface="Arial" panose="020B0604020202020204" pitchFamily="34" charset="0"/>
                        </a:rPr>
                        <a:t>FORMAT</a:t>
                      </a:r>
                      <a:endParaRPr lang="en-SG" sz="1400" b="1" i="0" dirty="0">
                        <a:solidFill>
                          <a:srgbClr val="69DECC"/>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24334B"/>
                    </a:solidFill>
                  </a:tcPr>
                </a:tc>
                <a:tc>
                  <a:txBody>
                    <a:bodyPr/>
                    <a:lstStyle/>
                    <a:p>
                      <a:pPr algn="l">
                        <a:buNone/>
                      </a:pPr>
                      <a:r>
                        <a:rPr lang="en-SG" sz="1400" b="1" i="0" dirty="0">
                          <a:solidFill>
                            <a:srgbClr val="69DECC"/>
                          </a:solidFill>
                          <a:latin typeface="Arial" panose="020B0604020202020204" pitchFamily="34" charset="0"/>
                        </a:rPr>
                        <a:t>3 HISTORIES</a:t>
                      </a:r>
                      <a:endParaRPr lang="en-SG" sz="1400" b="1" i="0" dirty="0">
                        <a:solidFill>
                          <a:srgbClr val="69DECC"/>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24334B"/>
                    </a:solidFill>
                  </a:tcPr>
                </a:tc>
                <a:tc>
                  <a:txBody>
                    <a:bodyPr/>
                    <a:lstStyle/>
                    <a:p>
                      <a:pPr algn="l">
                        <a:buNone/>
                      </a:pPr>
                      <a:r>
                        <a:rPr lang="en-SG" sz="1400" b="1" i="0" dirty="0">
                          <a:solidFill>
                            <a:srgbClr val="69DECC"/>
                          </a:solidFill>
                          <a:latin typeface="Arial" panose="020B0604020202020204" pitchFamily="34" charset="0"/>
                        </a:rPr>
                        <a:t>5 HISTORIES</a:t>
                      </a:r>
                      <a:endParaRPr lang="en-SG" sz="1400" b="1" i="0" dirty="0">
                        <a:solidFill>
                          <a:srgbClr val="69DECC"/>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24334B"/>
                    </a:solidFill>
                  </a:tcPr>
                </a:tc>
              </a:tr>
              <a:tr h="411480">
                <a:tc>
                  <a:txBody>
                    <a:bodyPr/>
                    <a:lstStyle/>
                    <a:p>
                      <a:pPr algn="l">
                        <a:buNone/>
                      </a:pPr>
                      <a:r>
                        <a:rPr lang="en-SG" sz="1600" b="0" i="0" dirty="0">
                          <a:solidFill>
                            <a:srgbClr val="F5F3EB"/>
                          </a:solidFill>
                          <a:latin typeface="Arial" panose="020B0604020202020204" pitchFamily="34" charset="0"/>
                        </a:rPr>
                        <a:t>Sol 5.6</a:t>
                      </a:r>
                      <a:endParaRPr lang="en-SG" sz="16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1600" b="0" i="0" dirty="0">
                          <a:solidFill>
                            <a:srgbClr val="F5F3EB"/>
                          </a:solidFill>
                          <a:latin typeface="Arial" panose="020B0604020202020204" pitchFamily="34" charset="0"/>
                        </a:rPr>
                        <a:t>Prose</a:t>
                      </a:r>
                      <a:endParaRPr lang="en-SG" sz="16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1600" b="0" i="0" dirty="0">
                          <a:solidFill>
                            <a:srgbClr val="F5F3EB"/>
                          </a:solidFill>
                          <a:latin typeface="Arial" panose="020B0604020202020204" pitchFamily="34" charset="0"/>
                        </a:rPr>
                        <a:t>47/82  (57.3%)</a:t>
                      </a:r>
                      <a:endParaRPr lang="en-SG" sz="16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1600" b="0" i="0" dirty="0">
                          <a:solidFill>
                            <a:srgbClr val="F5F3EB"/>
                          </a:solidFill>
                          <a:latin typeface="Arial" panose="020B0604020202020204" pitchFamily="34" charset="0"/>
                        </a:rPr>
                        <a:t>78/136  (57.4%)</a:t>
                      </a:r>
                      <a:endParaRPr lang="en-SG" sz="16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r>
              <a:tr h="411480">
                <a:tc>
                  <a:txBody>
                    <a:bodyPr/>
                    <a:lstStyle/>
                    <a:p>
                      <a:pPr algn="l">
                        <a:buNone/>
                      </a:pPr>
                      <a:r>
                        <a:rPr lang="en-SG" sz="1600" b="0" i="0" dirty="0">
                          <a:solidFill>
                            <a:srgbClr val="F5F3EB"/>
                          </a:solidFill>
                          <a:latin typeface="Arial" panose="020B0604020202020204" pitchFamily="34" charset="0"/>
                        </a:rPr>
                        <a:t>Sol 5.6</a:t>
                      </a:r>
                      <a:endParaRPr lang="en-SG" sz="16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1600" b="0" i="0" dirty="0">
                          <a:solidFill>
                            <a:srgbClr val="F5F3EB"/>
                          </a:solidFill>
                          <a:latin typeface="Arial" panose="020B0604020202020204" pitchFamily="34" charset="0"/>
                        </a:rPr>
                        <a:t>Checklist</a:t>
                      </a:r>
                      <a:endParaRPr lang="en-SG" sz="16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1600" b="0" i="0" dirty="0">
                          <a:solidFill>
                            <a:srgbClr val="F5F3EB"/>
                          </a:solidFill>
                          <a:latin typeface="Arial" panose="020B0604020202020204" pitchFamily="34" charset="0"/>
                        </a:rPr>
                        <a:t>42/82  (51.2%)</a:t>
                      </a:r>
                      <a:endParaRPr lang="en-SG" sz="16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1600" b="0" i="0" dirty="0">
                          <a:solidFill>
                            <a:srgbClr val="F5F3EB"/>
                          </a:solidFill>
                          <a:latin typeface="Arial" panose="020B0604020202020204" pitchFamily="34" charset="0"/>
                        </a:rPr>
                        <a:t>73/136  (53.7%)</a:t>
                      </a:r>
                      <a:endParaRPr lang="en-SG" sz="16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r>
              <a:tr h="411480">
                <a:tc>
                  <a:txBody>
                    <a:bodyPr/>
                    <a:lstStyle/>
                    <a:p>
                      <a:pPr algn="l">
                        <a:buNone/>
                      </a:pPr>
                      <a:r>
                        <a:rPr lang="en-SG" sz="1600" b="0" i="0" dirty="0">
                          <a:solidFill>
                            <a:srgbClr val="F5F3EB"/>
                          </a:solidFill>
                          <a:latin typeface="Arial" panose="020B0604020202020204" pitchFamily="34" charset="0"/>
                        </a:rPr>
                        <a:t>Luna 5.6</a:t>
                      </a:r>
                      <a:endParaRPr lang="en-SG" sz="16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1600" b="0" i="0" dirty="0">
                          <a:solidFill>
                            <a:srgbClr val="F5F3EB"/>
                          </a:solidFill>
                          <a:latin typeface="Arial" panose="020B0604020202020204" pitchFamily="34" charset="0"/>
                        </a:rPr>
                        <a:t>Prose</a:t>
                      </a:r>
                      <a:endParaRPr lang="en-SG" sz="16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1600" b="0" i="0" dirty="0">
                          <a:solidFill>
                            <a:srgbClr val="F5F3EB"/>
                          </a:solidFill>
                          <a:latin typeface="Arial" panose="020B0604020202020204" pitchFamily="34" charset="0"/>
                        </a:rPr>
                        <a:t>35/82  (42.7%)</a:t>
                      </a:r>
                      <a:endParaRPr lang="en-SG" sz="16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1600" b="0" i="0" dirty="0">
                          <a:solidFill>
                            <a:srgbClr val="F5F3EB"/>
                          </a:solidFill>
                          <a:latin typeface="Arial" panose="020B0604020202020204" pitchFamily="34" charset="0"/>
                        </a:rPr>
                        <a:t>64/136  (47.1%)</a:t>
                      </a:r>
                      <a:endParaRPr lang="en-SG" sz="16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r>
              <a:tr h="411480">
                <a:tc>
                  <a:txBody>
                    <a:bodyPr/>
                    <a:lstStyle/>
                    <a:p>
                      <a:pPr algn="l">
                        <a:buNone/>
                      </a:pPr>
                      <a:r>
                        <a:rPr lang="en-SG" sz="1600" b="0" i="0" dirty="0">
                          <a:solidFill>
                            <a:srgbClr val="F5F3EB"/>
                          </a:solidFill>
                          <a:latin typeface="Arial" panose="020B0604020202020204" pitchFamily="34" charset="0"/>
                        </a:rPr>
                        <a:t>Luna 5.6</a:t>
                      </a:r>
                      <a:endParaRPr lang="en-SG" sz="16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1600" b="0" i="0" dirty="0">
                          <a:solidFill>
                            <a:srgbClr val="F5F3EB"/>
                          </a:solidFill>
                          <a:latin typeface="Arial" panose="020B0604020202020204" pitchFamily="34" charset="0"/>
                        </a:rPr>
                        <a:t>Checklist</a:t>
                      </a:r>
                      <a:endParaRPr lang="en-SG" sz="16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1600" b="0" i="0" dirty="0">
                          <a:solidFill>
                            <a:srgbClr val="F5F3EB"/>
                          </a:solidFill>
                          <a:latin typeface="Arial" panose="020B0604020202020204" pitchFamily="34" charset="0"/>
                        </a:rPr>
                        <a:t>37/82  (45.1%)</a:t>
                      </a:r>
                      <a:endParaRPr lang="en-SG" sz="16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1600" b="0" i="0" dirty="0">
                          <a:solidFill>
                            <a:srgbClr val="F5F3EB"/>
                          </a:solidFill>
                          <a:latin typeface="Arial" panose="020B0604020202020204" pitchFamily="34" charset="0"/>
                        </a:rPr>
                        <a:t>62/136  (45.6%)</a:t>
                      </a:r>
                      <a:endParaRPr lang="en-SG" sz="16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r>
              <a:tr h="411480">
                <a:tc>
                  <a:txBody>
                    <a:bodyPr/>
                    <a:lstStyle/>
                    <a:p>
                      <a:pPr algn="l">
                        <a:buNone/>
                      </a:pPr>
                      <a:r>
                        <a:rPr lang="en-SG" sz="1600" b="0" i="0" dirty="0">
                          <a:solidFill>
                            <a:srgbClr val="F5F3EB"/>
                          </a:solidFill>
                          <a:latin typeface="Arial" panose="020B0604020202020204" pitchFamily="34" charset="0"/>
                        </a:rPr>
                        <a:t>Opus 5.5</a:t>
                      </a:r>
                      <a:endParaRPr lang="en-SG" sz="16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1600" b="0" i="0" dirty="0">
                          <a:solidFill>
                            <a:srgbClr val="F5F3EB"/>
                          </a:solidFill>
                          <a:latin typeface="Arial" panose="020B0604020202020204" pitchFamily="34" charset="0"/>
                        </a:rPr>
                        <a:t>Prose</a:t>
                      </a:r>
                      <a:endParaRPr lang="en-SG" sz="16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1600" b="0" i="0" dirty="0">
                          <a:solidFill>
                            <a:srgbClr val="F5F3EB"/>
                          </a:solidFill>
                          <a:latin typeface="Arial" panose="020B0604020202020204" pitchFamily="34" charset="0"/>
                        </a:rPr>
                        <a:t>48/82  (58.5%)</a:t>
                      </a:r>
                      <a:endParaRPr lang="en-SG" sz="16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1600" b="0" i="0" dirty="0">
                          <a:solidFill>
                            <a:srgbClr val="F5F3EB"/>
                          </a:solidFill>
                          <a:latin typeface="Arial" panose="020B0604020202020204" pitchFamily="34" charset="0"/>
                        </a:rPr>
                        <a:t>78/136  (57.4%)</a:t>
                      </a:r>
                      <a:endParaRPr lang="en-SG" sz="16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r>
              <a:tr h="411480">
                <a:tc>
                  <a:txBody>
                    <a:bodyPr/>
                    <a:lstStyle/>
                    <a:p>
                      <a:pPr algn="l">
                        <a:buNone/>
                      </a:pPr>
                      <a:r>
                        <a:rPr lang="en-SG" sz="1600" b="0" i="0" dirty="0">
                          <a:solidFill>
                            <a:srgbClr val="F5F3EB"/>
                          </a:solidFill>
                          <a:latin typeface="Arial" panose="020B0604020202020204" pitchFamily="34" charset="0"/>
                        </a:rPr>
                        <a:t>Opus 5.5</a:t>
                      </a:r>
                      <a:endParaRPr lang="en-SG" sz="16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1600" b="0" i="0" dirty="0">
                          <a:solidFill>
                            <a:srgbClr val="F5F3EB"/>
                          </a:solidFill>
                          <a:latin typeface="Arial" panose="020B0604020202020204" pitchFamily="34" charset="0"/>
                        </a:rPr>
                        <a:t>Checklist</a:t>
                      </a:r>
                      <a:endParaRPr lang="en-SG" sz="16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1600" b="0" i="0" dirty="0">
                          <a:solidFill>
                            <a:srgbClr val="F5F3EB"/>
                          </a:solidFill>
                          <a:latin typeface="Arial" panose="020B0604020202020204" pitchFamily="34" charset="0"/>
                        </a:rPr>
                        <a:t>50/82  (61.0%)</a:t>
                      </a:r>
                      <a:endParaRPr lang="en-SG" sz="16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1600" b="0" i="0" dirty="0">
                          <a:solidFill>
                            <a:srgbClr val="F5F3EB"/>
                          </a:solidFill>
                          <a:latin typeface="Arial" panose="020B0604020202020204" pitchFamily="34" charset="0"/>
                        </a:rPr>
                        <a:t>79/136  (58.1%)</a:t>
                      </a:r>
                      <a:endParaRPr lang="en-SG" sz="16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r>
              <a:tr h="411480">
                <a:tc>
                  <a:txBody>
                    <a:bodyPr/>
                    <a:lstStyle/>
                    <a:p>
                      <a:pPr algn="l">
                        <a:buNone/>
                      </a:pPr>
                      <a:r>
                        <a:rPr lang="en-SG" sz="1600" b="0" i="0" dirty="0">
                          <a:solidFill>
                            <a:srgbClr val="F5F3EB"/>
                          </a:solidFill>
                          <a:latin typeface="Arial" panose="020B0604020202020204" pitchFamily="34" charset="0"/>
                        </a:rPr>
                        <a:t>Sonnet 5.5</a:t>
                      </a:r>
                      <a:endParaRPr lang="en-SG" sz="16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1600" b="0" i="0" dirty="0">
                          <a:solidFill>
                            <a:srgbClr val="F5F3EB"/>
                          </a:solidFill>
                          <a:latin typeface="Arial" panose="020B0604020202020204" pitchFamily="34" charset="0"/>
                        </a:rPr>
                        <a:t>Prose</a:t>
                      </a:r>
                      <a:endParaRPr lang="en-SG" sz="16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1600" b="0" i="0" dirty="0">
                          <a:solidFill>
                            <a:srgbClr val="F5F3EB"/>
                          </a:solidFill>
                          <a:latin typeface="Arial" panose="020B0604020202020204" pitchFamily="34" charset="0"/>
                        </a:rPr>
                        <a:t>45/82  (54.9%)</a:t>
                      </a:r>
                      <a:endParaRPr lang="en-SG" sz="16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1600" b="0" i="0" dirty="0">
                          <a:solidFill>
                            <a:srgbClr val="F5F3EB"/>
                          </a:solidFill>
                          <a:latin typeface="Arial" panose="020B0604020202020204" pitchFamily="34" charset="0"/>
                        </a:rPr>
                        <a:t>74/136  (54.4%)</a:t>
                      </a:r>
                      <a:endParaRPr lang="en-SG" sz="16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r>
              <a:tr h="411480">
                <a:tc>
                  <a:txBody>
                    <a:bodyPr/>
                    <a:lstStyle/>
                    <a:p>
                      <a:pPr algn="l">
                        <a:buNone/>
                      </a:pPr>
                      <a:r>
                        <a:rPr lang="en-SG" sz="1600" b="0" i="0" dirty="0">
                          <a:solidFill>
                            <a:srgbClr val="F5F3EB"/>
                          </a:solidFill>
                          <a:latin typeface="Arial" panose="020B0604020202020204" pitchFamily="34" charset="0"/>
                        </a:rPr>
                        <a:t>Sonnet 5.5</a:t>
                      </a:r>
                      <a:endParaRPr lang="en-SG" sz="16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1600" b="0" i="0" dirty="0">
                          <a:solidFill>
                            <a:srgbClr val="F5F3EB"/>
                          </a:solidFill>
                          <a:latin typeface="Arial" panose="020B0604020202020204" pitchFamily="34" charset="0"/>
                        </a:rPr>
                        <a:t>Checklist</a:t>
                      </a:r>
                      <a:endParaRPr lang="en-SG" sz="16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1600" b="0" i="0" dirty="0">
                          <a:solidFill>
                            <a:srgbClr val="F5F3EB"/>
                          </a:solidFill>
                          <a:latin typeface="Arial" panose="020B0604020202020204" pitchFamily="34" charset="0"/>
                        </a:rPr>
                        <a:t>45/82  (54.9%)</a:t>
                      </a:r>
                      <a:endParaRPr lang="en-SG" sz="16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c>
                  <a:txBody>
                    <a:bodyPr/>
                    <a:lstStyle/>
                    <a:p>
                      <a:pPr algn="l">
                        <a:buNone/>
                      </a:pPr>
                      <a:r>
                        <a:rPr lang="en-SG" sz="1600" b="0" i="0" dirty="0">
                          <a:solidFill>
                            <a:srgbClr val="F5F3EB"/>
                          </a:solidFill>
                          <a:latin typeface="Arial" panose="020B0604020202020204" pitchFamily="34" charset="0"/>
                        </a:rPr>
                        <a:t>75/136  (55.1%)</a:t>
                      </a:r>
                      <a:endParaRPr lang="en-SG" sz="1600" b="0" i="0" dirty="0">
                        <a:solidFill>
                          <a:srgbClr val="F5F3EB"/>
                        </a:solidFill>
                        <a:latin typeface="Arial" panose="020B0604020202020204" pitchFamily="34" charset="0"/>
                      </a:endParaRPr>
                    </a:p>
                  </a:txBody>
                  <a:tcPr marL="182880" marR="109728" marT="0" marB="0" anchor="ctr">
                    <a:lnL w="19050">
                      <a:solidFill>
                        <a:srgbClr val="101B2D"/>
                      </a:solidFill>
                    </a:lnL>
                    <a:lnR w="19050">
                      <a:solidFill>
                        <a:srgbClr val="101B2D"/>
                      </a:solidFill>
                    </a:lnR>
                    <a:lnT w="19050">
                      <a:solidFill>
                        <a:srgbClr val="101B2D"/>
                      </a:solidFill>
                    </a:lnT>
                    <a:lnB w="19050">
                      <a:solidFill>
                        <a:srgbClr val="101B2D"/>
                      </a:solidFill>
                    </a:lnB>
                    <a:solidFill>
                      <a:srgbClr val="1B2940"/>
                    </a:solidFill>
                  </a:tcPr>
                </a:tc>
              </a:tr>
            </a:tbl>
          </a:graphicData>
        </a:graphic>
      </p:graphicFrame>
    </p:spTree>
    <p:extLst>
      <p:ext uri="{BB962C8B-B14F-4D97-AF65-F5344CB8AC3E}">
        <p14:creationId xmlns:p14="http://schemas.microsoft.com/office/powerpoint/2010/main" val="24346639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marker"/>
          <p:cNvSpPr/>
          <p:nvPr/>
        </p:nvSpPr>
        <p:spPr>
          <a:xfrm>
            <a:off x="612648" y="429768"/>
            <a:ext cx="338328" cy="54864"/>
          </a:xfrm>
          <a:prstGeom prst="rect">
            <a:avLst/>
          </a:prstGeom>
          <a:solidFill>
            <a:srgbClr val="69DECC"/>
          </a:solidFill>
          <a:ln>
            <a:noFill/>
          </a:ln>
        </p:spPr>
      </p:sp>
      <p:sp>
        <p:nvSpPr>
          <p:cNvPr id="3" name="Section label"/>
          <p:cNvSpPr txBox="1"/>
          <p:nvPr/>
        </p:nvSpPr>
        <p:spPr>
          <a:xfrm>
            <a:off x="1060704" y="265176"/>
            <a:ext cx="9601200" cy="365760"/>
          </a:xfrm>
          <a:prstGeom prst="rect">
            <a:avLst/>
          </a:prstGeom>
          <a:noFill/>
        </p:spPr>
        <p:txBody>
          <a:bodyPr vert="horz" wrap="square" lIns="0" tIns="0" rIns="0" bIns="0" rtlCol="0" anchor="ctr">
            <a:noAutofit/>
          </a:bodyPr>
          <a:lstStyle/>
          <a:p>
            <a:pPr algn="l">
              <a:buNone/>
            </a:pPr>
            <a:r>
              <a:rPr lang="en-SG" sz="1200" b="1" i="0" dirty="0">
                <a:solidFill>
                  <a:srgbClr val="69DECC"/>
                </a:solidFill>
                <a:latin typeface="Arial" panose="020B0604020202020204" pitchFamily="34" charset="0"/>
              </a:rPr>
              <a:t>BACKUP / PROTOCOL</a:t>
            </a:r>
            <a:endParaRPr lang="en-SG" sz="1200" b="1" i="0" dirty="0">
              <a:solidFill>
                <a:srgbClr val="69DECC"/>
              </a:solidFill>
              <a:latin typeface="Arial" panose="020B0604020202020204" pitchFamily="34" charset="0"/>
            </a:endParaRPr>
          </a:p>
        </p:txBody>
      </p:sp>
      <p:sp>
        <p:nvSpPr>
          <p:cNvPr id="4" name="Slide title"/>
          <p:cNvSpPr txBox="1"/>
          <p:nvPr/>
        </p:nvSpPr>
        <p:spPr>
          <a:xfrm>
            <a:off x="612648" y="813816"/>
            <a:ext cx="10972800" cy="850392"/>
          </a:xfrm>
          <a:prstGeom prst="rect">
            <a:avLst/>
          </a:prstGeom>
          <a:noFill/>
        </p:spPr>
        <p:txBody>
          <a:bodyPr vert="horz" wrap="square" lIns="0" tIns="0" rIns="0" bIns="0" rtlCol="0" anchor="ctr">
            <a:noAutofit/>
          </a:bodyPr>
          <a:lstStyle/>
          <a:p>
            <a:pPr algn="l">
              <a:buNone/>
            </a:pPr>
            <a:r>
              <a:rPr lang="en-SG" sz="3400" b="1" i="0" dirty="0">
                <a:solidFill>
                  <a:srgbClr val="F5F3EB"/>
                </a:solidFill>
                <a:latin typeface="Arial" panose="020B0604020202020204" pitchFamily="34" charset="0"/>
              </a:rPr>
              <a:t>Protocol and audit details</a:t>
            </a:r>
            <a:endParaRPr lang="en-SG" sz="3400" b="1" i="0" dirty="0">
              <a:solidFill>
                <a:srgbClr val="F5F3EB"/>
              </a:solidFill>
              <a:latin typeface="Arial" panose="020B0604020202020204" pitchFamily="34" charset="0"/>
            </a:endParaRPr>
          </a:p>
        </p:txBody>
      </p:sp>
      <p:sp>
        <p:nvSpPr>
          <p:cNvPr id="5" name="Footnote"/>
          <p:cNvSpPr txBox="1"/>
          <p:nvPr/>
        </p:nvSpPr>
        <p:spPr>
          <a:xfrm>
            <a:off x="612648" y="6327648"/>
            <a:ext cx="9692640" cy="265176"/>
          </a:xfrm>
          <a:prstGeom prst="rect">
            <a:avLst/>
          </a:prstGeom>
          <a:noFill/>
        </p:spPr>
        <p:txBody>
          <a:bodyPr vert="horz" wrap="square" lIns="0" tIns="0" rIns="0" bIns="0" rtlCol="0" anchor="ctr">
            <a:noAutofit/>
          </a:bodyPr>
          <a:lstStyle/>
          <a:p>
            <a:pPr algn="l">
              <a:buNone/>
            </a:pPr>
            <a:r>
              <a:rPr lang="en-SG" sz="1050" b="0" i="0" dirty="0">
                <a:solidFill>
                  <a:srgbClr val="B9C4D5"/>
                </a:solidFill>
                <a:latin typeface="Arial" panose="020B0604020202020204" pitchFamily="34" charset="0"/>
              </a:rPr>
              <a:t>Full protocol, exclusions and claim observations: expanded-results/report.html</a:t>
            </a:r>
            <a:endParaRPr lang="en-SG" sz="1050" b="0" i="0" dirty="0">
              <a:solidFill>
                <a:srgbClr val="B9C4D5"/>
              </a:solidFill>
              <a:latin typeface="Arial" panose="020B0604020202020204" pitchFamily="34" charset="0"/>
            </a:endParaRPr>
          </a:p>
        </p:txBody>
      </p:sp>
      <p:sp>
        <p:nvSpPr>
          <p:cNvPr id="6" name="Row label"/>
          <p:cNvSpPr txBox="1"/>
          <p:nvPr/>
        </p:nvSpPr>
        <p:spPr>
          <a:xfrm>
            <a:off x="612648" y="1920240"/>
            <a:ext cx="2103120" cy="310896"/>
          </a:xfrm>
          <a:prstGeom prst="rect">
            <a:avLst/>
          </a:prstGeom>
          <a:noFill/>
        </p:spPr>
        <p:txBody>
          <a:bodyPr vert="horz" wrap="square" lIns="0" tIns="0" rIns="0" bIns="0" rtlCol="0" anchor="ctr">
            <a:noAutofit/>
          </a:bodyPr>
          <a:lstStyle/>
          <a:p>
            <a:pPr algn="l">
              <a:buNone/>
            </a:pPr>
            <a:r>
              <a:rPr lang="en-SG" sz="1400" b="1" i="0" dirty="0">
                <a:solidFill>
                  <a:srgbClr val="69DECC"/>
                </a:solidFill>
                <a:latin typeface="Arial" panose="020B0604020202020204" pitchFamily="34" charset="0"/>
              </a:rPr>
              <a:t>MODELS</a:t>
            </a:r>
            <a:endParaRPr lang="en-SG" sz="1400" b="1" i="0" dirty="0">
              <a:solidFill>
                <a:srgbClr val="69DECC"/>
              </a:solidFill>
              <a:latin typeface="Arial" panose="020B0604020202020204" pitchFamily="34" charset="0"/>
            </a:endParaRPr>
          </a:p>
        </p:txBody>
      </p:sp>
      <p:sp>
        <p:nvSpPr>
          <p:cNvPr id="7" name="Row text"/>
          <p:cNvSpPr txBox="1"/>
          <p:nvPr/>
        </p:nvSpPr>
        <p:spPr>
          <a:xfrm>
            <a:off x="2743200" y="1920240"/>
            <a:ext cx="8842248" cy="1005840"/>
          </a:xfrm>
          <a:prstGeom prst="rect">
            <a:avLst/>
          </a:prstGeom>
          <a:noFill/>
        </p:spPr>
        <p:txBody>
          <a:bodyPr vert="horz" wrap="square" lIns="0" tIns="0" rIns="0" bIns="0" rtlCol="0" anchor="t">
            <a:noAutofit/>
          </a:bodyPr>
          <a:lstStyle/>
          <a:p>
            <a:pPr algn="l">
              <a:buNone/>
            </a:pPr>
            <a:r>
              <a:rPr lang="en-SG" sz="2000" b="0" i="0" dirty="0">
                <a:solidFill>
                  <a:srgbClr val="F5F3EB"/>
                </a:solidFill>
                <a:latin typeface="Arial" panose="020B0604020202020204" pitchFamily="34" charset="0"/>
              </a:rPr>
              <a:t>Fixed roles: claude-opus-5-5</a:t>
            </a:r>
            <a:endParaRPr lang="en-SG" sz="2000" b="0" i="0" dirty="0">
              <a:solidFill>
                <a:srgbClr val="F5F3EB"/>
              </a:solidFill>
              <a:latin typeface="Arial" panose="020B0604020202020204" pitchFamily="34" charset="0"/>
            </a:endParaRPr>
          </a:p>
          <a:p>
            <a:pPr algn="l">
              <a:buNone/>
            </a:pPr>
            <a:r>
              <a:rPr lang="en-SG" sz="2000" b="0" i="0" dirty="0">
                <a:solidFill>
                  <a:srgbClr val="F5F3EB"/>
                </a:solidFill>
                <a:latin typeface="Arial" panose="020B0604020202020204" pitchFamily="34" charset="0"/>
              </a:rPr>
              <a:t>Handoffs: gpt-5.6-sol, gpt-5.6-luna,</a:t>
            </a:r>
            <a:br>
              <a:rPr lang="en-SG" sz="2000" b="0" i="0" dirty="0">
                <a:solidFill>
                  <a:srgbClr val="F5F3EB"/>
                </a:solidFill>
                <a:latin typeface="Arial" panose="020B0604020202020204" pitchFamily="34" charset="0"/>
              </a:rPr>
            </a:br>
            <a:r>
              <a:rPr lang="en-SG" sz="2000" b="0" i="0" dirty="0">
                <a:solidFill>
                  <a:srgbClr val="F5F3EB"/>
                </a:solidFill>
                <a:latin typeface="Arial" panose="020B0604020202020204" pitchFamily="34" charset="0"/>
              </a:rPr>
              <a:t>claude-opus-5-5, claude-sonnet-5-5</a:t>
            </a:r>
            <a:endParaRPr lang="en-SG" sz="2000" b="0" i="0" dirty="0">
              <a:solidFill>
                <a:srgbClr val="F5F3EB"/>
              </a:solidFill>
              <a:latin typeface="Arial" panose="020B0604020202020204" pitchFamily="34" charset="0"/>
            </a:endParaRPr>
          </a:p>
        </p:txBody>
      </p:sp>
      <p:sp>
        <p:nvSpPr>
          <p:cNvPr id="8" name="Row label"/>
          <p:cNvSpPr txBox="1"/>
          <p:nvPr/>
        </p:nvSpPr>
        <p:spPr>
          <a:xfrm>
            <a:off x="612648" y="3337560"/>
            <a:ext cx="2103120" cy="310896"/>
          </a:xfrm>
          <a:prstGeom prst="rect">
            <a:avLst/>
          </a:prstGeom>
          <a:noFill/>
        </p:spPr>
        <p:txBody>
          <a:bodyPr vert="horz" wrap="square" lIns="0" tIns="0" rIns="0" bIns="0" rtlCol="0" anchor="ctr">
            <a:noAutofit/>
          </a:bodyPr>
          <a:lstStyle/>
          <a:p>
            <a:pPr algn="l">
              <a:buNone/>
            </a:pPr>
            <a:r>
              <a:rPr lang="en-SG" sz="1400" b="1" i="0" dirty="0">
                <a:solidFill>
                  <a:srgbClr val="69DECC"/>
                </a:solidFill>
                <a:latin typeface="Arial" panose="020B0604020202020204" pitchFamily="34" charset="0"/>
              </a:rPr>
              <a:t>CONTROLS</a:t>
            </a:r>
            <a:endParaRPr lang="en-SG" sz="1400" b="1" i="0" dirty="0">
              <a:solidFill>
                <a:srgbClr val="69DECC"/>
              </a:solidFill>
              <a:latin typeface="Arial" panose="020B0604020202020204" pitchFamily="34" charset="0"/>
            </a:endParaRPr>
          </a:p>
        </p:txBody>
      </p:sp>
      <p:sp>
        <p:nvSpPr>
          <p:cNvPr id="9" name="Row text"/>
          <p:cNvSpPr txBox="1"/>
          <p:nvPr/>
        </p:nvSpPr>
        <p:spPr>
          <a:xfrm>
            <a:off x="2743200" y="3337560"/>
            <a:ext cx="8842248" cy="731520"/>
          </a:xfrm>
          <a:prstGeom prst="rect">
            <a:avLst/>
          </a:prstGeom>
          <a:noFill/>
        </p:spPr>
        <p:txBody>
          <a:bodyPr vert="horz" wrap="square" lIns="0" tIns="0" rIns="0" bIns="0" rtlCol="0" anchor="t">
            <a:noAutofit/>
          </a:bodyPr>
          <a:lstStyle/>
          <a:p>
            <a:pPr algn="l">
              <a:buNone/>
            </a:pPr>
            <a:r>
              <a:rPr lang="en-SG" sz="2000" b="0" i="0" dirty="0">
                <a:solidFill>
                  <a:srgbClr val="F5F3EB"/>
                </a:solidFill>
                <a:latin typeface="Arial" panose="020B0604020202020204" pitchFamily="34" charset="0"/>
              </a:rPr>
              <a:t>Fresh sessions and source-based keys frozen before each batch</a:t>
            </a:r>
            <a:endParaRPr lang="en-SG" sz="2000" b="0" i="0" dirty="0">
              <a:solidFill>
                <a:srgbClr val="F5F3EB"/>
              </a:solidFill>
              <a:latin typeface="Arial" panose="020B0604020202020204" pitchFamily="34" charset="0"/>
            </a:endParaRPr>
          </a:p>
          <a:p>
            <a:pPr algn="l">
              <a:buNone/>
            </a:pPr>
            <a:r>
              <a:rPr lang="en-SG" sz="2000" b="0" i="0" dirty="0">
                <a:solidFill>
                  <a:srgbClr val="F5F3EB"/>
                </a:solidFill>
                <a:latin typeface="Arial" panose="020B0604020202020204" pitchFamily="34" charset="0"/>
              </a:rPr>
              <a:t>Same 30 offline tests passed for all five coding repairs</a:t>
            </a:r>
            <a:endParaRPr lang="en-SG" sz="2000" b="0" i="0" dirty="0">
              <a:solidFill>
                <a:srgbClr val="F5F3EB"/>
              </a:solidFill>
              <a:latin typeface="Arial" panose="020B0604020202020204" pitchFamily="34" charset="0"/>
            </a:endParaRPr>
          </a:p>
        </p:txBody>
      </p:sp>
      <p:sp>
        <p:nvSpPr>
          <p:cNvPr id="10" name="Row label"/>
          <p:cNvSpPr txBox="1"/>
          <p:nvPr/>
        </p:nvSpPr>
        <p:spPr>
          <a:xfrm>
            <a:off x="612648" y="4480560"/>
            <a:ext cx="2103120" cy="310896"/>
          </a:xfrm>
          <a:prstGeom prst="rect">
            <a:avLst/>
          </a:prstGeom>
          <a:noFill/>
        </p:spPr>
        <p:txBody>
          <a:bodyPr vert="horz" wrap="square" lIns="0" tIns="0" rIns="0" bIns="0" rtlCol="0" anchor="ctr">
            <a:noAutofit/>
          </a:bodyPr>
          <a:lstStyle/>
          <a:p>
            <a:pPr algn="l">
              <a:buNone/>
            </a:pPr>
            <a:r>
              <a:rPr lang="en-SG" sz="1400" b="1" i="0" dirty="0">
                <a:solidFill>
                  <a:srgbClr val="69DECC"/>
                </a:solidFill>
                <a:latin typeface="Arial" panose="020B0604020202020204" pitchFamily="34" charset="0"/>
              </a:rPr>
              <a:t>AUDIT</a:t>
            </a:r>
            <a:endParaRPr lang="en-SG" sz="1400" b="1" i="0" dirty="0">
              <a:solidFill>
                <a:srgbClr val="69DECC"/>
              </a:solidFill>
              <a:latin typeface="Arial" panose="020B0604020202020204" pitchFamily="34" charset="0"/>
            </a:endParaRPr>
          </a:p>
        </p:txBody>
      </p:sp>
      <p:sp>
        <p:nvSpPr>
          <p:cNvPr id="11" name="Row text"/>
          <p:cNvSpPr txBox="1"/>
          <p:nvPr/>
        </p:nvSpPr>
        <p:spPr>
          <a:xfrm>
            <a:off x="2743200" y="4480560"/>
            <a:ext cx="8842248" cy="731520"/>
          </a:xfrm>
          <a:prstGeom prst="rect">
            <a:avLst/>
          </a:prstGeom>
          <a:noFill/>
        </p:spPr>
        <p:txBody>
          <a:bodyPr vert="horz" wrap="square" lIns="0" tIns="0" rIns="0" bIns="0" rtlCol="0" anchor="t">
            <a:noAutofit/>
          </a:bodyPr>
          <a:lstStyle/>
          <a:p>
            <a:pPr algn="l">
              <a:buNone/>
            </a:pPr>
            <a:r>
              <a:rPr lang="en-SG" sz="2000" b="0" i="0" dirty="0">
                <a:solidFill>
                  <a:srgbClr val="F5F3EB"/>
                </a:solidFill>
                <a:latin typeface="Arial" panose="020B0604020202020204" pitchFamily="34" charset="0"/>
              </a:rPr>
              <a:t>OpenAI native tools stayed exposed under the agreed exception.</a:t>
            </a:r>
            <a:endParaRPr lang="en-SG" sz="2000" b="0" i="0" dirty="0">
              <a:solidFill>
                <a:srgbClr val="F5F3EB"/>
              </a:solidFill>
              <a:latin typeface="Arial" panose="020B0604020202020204" pitchFamily="34" charset="0"/>
            </a:endParaRPr>
          </a:p>
          <a:p>
            <a:pPr algn="l">
              <a:buNone/>
            </a:pPr>
            <a:r>
              <a:rPr lang="en-SG" sz="2000" b="0" i="0" dirty="0">
                <a:solidFill>
                  <a:srgbClr val="F5F3EB"/>
                </a:solidFill>
                <a:latin typeface="Arial" panose="020B0604020202020204" pitchFamily="34" charset="0"/>
              </a:rPr>
              <a:t>Audits found no native tool calls or incomplete final evidence.</a:t>
            </a:r>
            <a:endParaRPr lang="en-SG" sz="2000" b="0" i="0" dirty="0">
              <a:solidFill>
                <a:srgbClr val="F5F3EB"/>
              </a:solidFill>
              <a:latin typeface="Arial" panose="020B0604020202020204" pitchFamily="34" charset="0"/>
            </a:endParaRPr>
          </a:p>
        </p:txBody>
      </p:sp>
    </p:spTree>
    <p:extLst>
      <p:ext uri="{BB962C8B-B14F-4D97-AF65-F5344CB8AC3E}">
        <p14:creationId xmlns:p14="http://schemas.microsoft.com/office/powerpoint/2010/main" val="43292425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2304</Words>
  <Application>Microsoft Office PowerPoint</Application>
  <PresentationFormat>Widescreen</PresentationFormat>
  <Paragraphs>243</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cp:revision>2</cp:revision>
  <dcterms:created xsi:type="dcterms:W3CDTF">2026-10-19T11:51:30Z</dcterms:created>
  <dcterms:modified xsi:type="dcterms:W3CDTF">2026-10-19T11:53:52Z</dcterms:modified>
</cp:coreProperties>
</file>