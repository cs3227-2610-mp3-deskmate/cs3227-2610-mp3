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bar"/>
        <c:grouping val="clustered"/>
        <c:varyColors val="0"/>
        <c:ser>
          <c:idx val="0"/>
          <c:order val="0"/>
          <c:tx>
            <c:strRef>
              <c:f>Data!$B$1</c:f>
              <c:strCache>
                <c:ptCount val="1"/>
                <c:pt idx="0">
                  <c:v>Free-form summary</c:v>
                </c:pt>
              </c:strCache>
            </c:strRef>
          </c:tx>
          <c:spPr>
            <a:solidFill>
              <a:srgbClr val="B9C4D5"/>
            </a:solidFill>
            <a:ln>
              <a:noFill/>
            </a:ln>
          </c:spPr>
          <c:invertIfNegative val="0"/>
          <c:dLbls>
            <c:numFmt formatCode="0%" sourceLinked="0"/>
            <c:spPr>
              <a:noFill/>
              <a:ln>
                <a:noFill/>
              </a:ln>
              <a:effectLst/>
            </c:spPr>
            <c:txPr>
              <a:bodyPr/>
              <a:lstStyle/>
              <a:p>
                <a:pPr>
                  <a:defRPr sz="1600">
                    <a:solidFill>
                      <a:srgbClr val="F5F3EB"/>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Data!$A$2:$A$5</c:f>
              <c:strCache>
                <c:ptCount val="4"/>
                <c:pt idx="0">
                  <c:v>GPT-5.6 Sol</c:v>
                </c:pt>
                <c:pt idx="1">
                  <c:v>GPT-5.6 Luna</c:v>
                </c:pt>
                <c:pt idx="2">
                  <c:v>Claude Opus 5.5</c:v>
                </c:pt>
                <c:pt idx="3">
                  <c:v>Claude Sonnet 5.5</c:v>
                </c:pt>
              </c:strCache>
            </c:strRef>
          </c:cat>
          <c:val>
            <c:numRef>
              <c:f>Data!$B$2:$B$5</c:f>
              <c:numCache>
                <c:formatCode>0.0%</c:formatCode>
                <c:ptCount val="4"/>
                <c:pt idx="0">
                  <c:v>0.57352941176500005</c:v>
                </c:pt>
                <c:pt idx="1">
                  <c:v>0.47058823529400001</c:v>
                </c:pt>
                <c:pt idx="2">
                  <c:v>0.57352941176500005</c:v>
                </c:pt>
                <c:pt idx="3">
                  <c:v>0.54411764705900001</c:v>
                </c:pt>
              </c:numCache>
            </c:numRef>
          </c:val>
          <c:extLst>
            <c:ext xmlns:c16="http://schemas.microsoft.com/office/drawing/2014/chart" uri="{C3380CC4-5D6E-409C-BE32-E72D297353CC}">
              <c16:uniqueId val="{00000000-8285-4569-B065-21D2BCB8BD01}"/>
            </c:ext>
          </c:extLst>
        </c:ser>
        <c:ser>
          <c:idx val="1"/>
          <c:order val="1"/>
          <c:tx>
            <c:strRef>
              <c:f>Data!$C$1</c:f>
              <c:strCache>
                <c:ptCount val="1"/>
                <c:pt idx="0">
                  <c:v>Checklist</c:v>
                </c:pt>
              </c:strCache>
            </c:strRef>
          </c:tx>
          <c:spPr>
            <a:solidFill>
              <a:srgbClr val="69DECC"/>
            </a:solidFill>
            <a:ln>
              <a:noFill/>
            </a:ln>
          </c:spPr>
          <c:invertIfNegative val="0"/>
          <c:dLbls>
            <c:numFmt formatCode="0%" sourceLinked="0"/>
            <c:spPr>
              <a:noFill/>
              <a:ln>
                <a:noFill/>
              </a:ln>
              <a:effectLst/>
            </c:spPr>
            <c:txPr>
              <a:bodyPr/>
              <a:lstStyle/>
              <a:p>
                <a:pPr>
                  <a:defRPr sz="1600">
                    <a:solidFill>
                      <a:srgbClr val="F5F3EB"/>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Data!$A$2:$A$5</c:f>
              <c:strCache>
                <c:ptCount val="4"/>
                <c:pt idx="0">
                  <c:v>GPT-5.6 Sol</c:v>
                </c:pt>
                <c:pt idx="1">
                  <c:v>GPT-5.6 Luna</c:v>
                </c:pt>
                <c:pt idx="2">
                  <c:v>Claude Opus 5.5</c:v>
                </c:pt>
                <c:pt idx="3">
                  <c:v>Claude Sonnet 5.5</c:v>
                </c:pt>
              </c:strCache>
            </c:strRef>
          </c:cat>
          <c:val>
            <c:numRef>
              <c:f>Data!$C$2:$C$5</c:f>
              <c:numCache>
                <c:formatCode>0.0%</c:formatCode>
                <c:ptCount val="4"/>
                <c:pt idx="0">
                  <c:v>0.53676470588199998</c:v>
                </c:pt>
                <c:pt idx="1">
                  <c:v>0.45588235294099999</c:v>
                </c:pt>
                <c:pt idx="2">
                  <c:v>0.58088235294099999</c:v>
                </c:pt>
                <c:pt idx="3">
                  <c:v>0.55147058823499995</c:v>
                </c:pt>
              </c:numCache>
            </c:numRef>
          </c:val>
          <c:extLst>
            <c:ext xmlns:c16="http://schemas.microsoft.com/office/drawing/2014/chart" uri="{C3380CC4-5D6E-409C-BE32-E72D297353CC}">
              <c16:uniqueId val="{00000001-8285-4569-B065-21D2BCB8BD01}"/>
            </c:ext>
          </c:extLst>
        </c:ser>
        <c:dLbls>
          <c:dLblPos val="outEnd"/>
          <c:showLegendKey val="0"/>
          <c:showVal val="1"/>
          <c:showCatName val="0"/>
          <c:showSerName val="0"/>
          <c:showPercent val="0"/>
          <c:showBubbleSize val="0"/>
        </c:dLbls>
        <c:gapWidth val="80"/>
        <c:axId val="10"/>
        <c:axId val="20"/>
      </c:barChart>
      <c:catAx>
        <c:axId val="10"/>
        <c:scaling>
          <c:orientation val="maxMin"/>
        </c:scaling>
        <c:delete val="0"/>
        <c:axPos val="l"/>
        <c:numFmt formatCode="General" sourceLinked="0"/>
        <c:majorTickMark val="none"/>
        <c:minorTickMark val="none"/>
        <c:tickLblPos val="nextTo"/>
        <c:spPr>
          <a:ln w="9525">
            <a:solidFill>
              <a:srgbClr val="3A4A63"/>
            </a:solidFill>
          </a:ln>
        </c:spPr>
        <c:txPr>
          <a:bodyPr/>
          <a:lstStyle/>
          <a:p>
            <a:pPr>
              <a:defRPr sz="1600">
                <a:solidFill>
                  <a:srgbClr val="F5F3EB"/>
                </a:solidFill>
                <a:latin typeface="Arial"/>
              </a:defRPr>
            </a:pPr>
            <a:endParaRPr lang="en-US"/>
          </a:p>
        </c:txPr>
        <c:crossAx val="20"/>
        <c:crosses val="autoZero"/>
        <c:auto val="1"/>
        <c:lblAlgn val="ctr"/>
        <c:lblOffset val="100"/>
        <c:noMultiLvlLbl val="1"/>
      </c:catAx>
      <c:valAx>
        <c:axId val="20"/>
        <c:scaling>
          <c:orientation val="minMax"/>
          <c:max val="1"/>
          <c:min val="0"/>
        </c:scaling>
        <c:delete val="0"/>
        <c:axPos val="b"/>
        <c:majorGridlines>
          <c:spPr>
            <a:ln w="6350">
              <a:solidFill>
                <a:srgbClr val="24334B"/>
              </a:solidFill>
            </a:ln>
          </c:spPr>
        </c:majorGridlines>
        <c:numFmt formatCode="0%" sourceLinked="0"/>
        <c:majorTickMark val="none"/>
        <c:minorTickMark val="none"/>
        <c:tickLblPos val="nextTo"/>
        <c:spPr>
          <a:ln>
            <a:noFill/>
          </a:ln>
        </c:spPr>
        <c:txPr>
          <a:bodyPr/>
          <a:lstStyle/>
          <a:p>
            <a:pPr>
              <a:defRPr sz="1600">
                <a:solidFill>
                  <a:srgbClr val="B9C4D5"/>
                </a:solidFill>
                <a:latin typeface="Arial"/>
              </a:defRPr>
            </a:pPr>
            <a:endParaRPr lang="en-US"/>
          </a:p>
        </c:txPr>
        <c:crossAx val="10"/>
        <c:crosses val="max"/>
        <c:crossBetween val="between"/>
        <c:majorUnit val="0.2"/>
      </c:valAx>
    </c:plotArea>
    <c:legend>
      <c:legendPos val="b"/>
      <c:overlay val="0"/>
      <c:txPr>
        <a:bodyPr/>
        <a:lstStyle/>
        <a:p>
          <a:pPr>
            <a:defRPr sz="1600">
              <a:solidFill>
                <a:srgbClr val="F5F3EB"/>
              </a:solidFill>
              <a:latin typeface="Arial"/>
            </a:defRPr>
          </a:pPr>
          <a:endParaRPr lang="en-US"/>
        </a:p>
      </c:txPr>
    </c:legend>
    <c:plotVisOnly val="1"/>
    <c:dispBlanksAs val="gap"/>
    <c:showDLblsOverMax val="0"/>
  </c:chart>
  <c:spPr>
    <a:noFill/>
    <a:ln>
      <a:noFill/>
    </a:ln>
  </c:spPr>
  <c:txPr>
    <a:bodyPr/>
    <a:lstStyle/>
    <a:p>
      <a:pPr>
        <a:defRPr sz="1600">
          <a:solidFill>
            <a:srgbClr val="F5F3EB"/>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3"/>
          <c:y val="0.02"/>
          <c:w val="0.61"/>
          <c:h val="0.86"/>
        </c:manualLayout>
      </c:layout>
      <c:barChart>
        <c:barDir val="bar"/>
        <c:grouping val="clustered"/>
        <c:varyColors val="0"/>
        <c:ser>
          <c:idx val="0"/>
          <c:order val="0"/>
          <c:tx>
            <c:strRef>
              <c:f>Data!$B$1</c:f>
              <c:strCache>
                <c:ptCount val="1"/>
                <c:pt idx="0">
                  <c:v>Facts recovered</c:v>
                </c:pt>
              </c:strCache>
            </c:strRef>
          </c:tx>
          <c:spPr>
            <a:solidFill>
              <a:srgbClr val="69DECC"/>
            </a:solidFill>
            <a:ln>
              <a:noFill/>
            </a:ln>
          </c:spPr>
          <c:invertIfNegative val="0"/>
          <c:dPt>
            <c:idx val="4"/>
            <c:invertIfNegative val="0"/>
            <c:bubble3D val="0"/>
            <c:spPr>
              <a:solidFill>
                <a:srgbClr val="FFC36A"/>
              </a:solidFill>
              <a:ln>
                <a:noFill/>
              </a:ln>
            </c:spPr>
            <c:extLst>
              <c:ext xmlns:c16="http://schemas.microsoft.com/office/drawing/2014/chart" uri="{C3380CC4-5D6E-409C-BE32-E72D297353CC}">
                <c16:uniqueId val="{00000001-7B7C-4B93-AC53-B4DD4CFEEB74}"/>
              </c:ext>
            </c:extLst>
          </c:dPt>
          <c:dLbls>
            <c:numFmt formatCode="0%" sourceLinked="0"/>
            <c:spPr>
              <a:noFill/>
              <a:ln>
                <a:noFill/>
              </a:ln>
              <a:effectLst/>
            </c:spPr>
            <c:txPr>
              <a:bodyPr/>
              <a:lstStyle/>
              <a:p>
                <a:pPr>
                  <a:defRPr sz="1600">
                    <a:solidFill>
                      <a:srgbClr val="F5F3EB"/>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Data!$A$2:$A$7</c:f>
              <c:strCache>
                <c:ptCount val="6"/>
                <c:pt idx="0">
                  <c:v>Files changed</c:v>
                </c:pt>
                <c:pt idx="1">
                  <c:v>Checks and results</c:v>
                </c:pt>
                <c:pt idx="2">
                  <c:v>What wasn’t verified</c:v>
                </c:pt>
                <c:pt idx="3">
                  <c:v>Timeout: how and why</c:v>
                </c:pt>
                <c:pt idx="4">
                  <c:v>What counts as success</c:v>
                </c:pt>
                <c:pt idx="5">
                  <c:v>Proxy and headers</c:v>
                </c:pt>
              </c:strCache>
            </c:strRef>
          </c:cat>
          <c:val>
            <c:numRef>
              <c:f>Data!$B$2:$B$7</c:f>
              <c:numCache>
                <c:formatCode>0.0%</c:formatCode>
                <c:ptCount val="6"/>
                <c:pt idx="0">
                  <c:v>1</c:v>
                </c:pt>
                <c:pt idx="1">
                  <c:v>1</c:v>
                </c:pt>
                <c:pt idx="2">
                  <c:v>0.86458333333299997</c:v>
                </c:pt>
                <c:pt idx="3">
                  <c:v>0.45</c:v>
                </c:pt>
                <c:pt idx="4">
                  <c:v>1.1111111111100001E-2</c:v>
                </c:pt>
                <c:pt idx="5">
                  <c:v>1</c:v>
                </c:pt>
              </c:numCache>
            </c:numRef>
          </c:val>
          <c:extLst>
            <c:ext xmlns:c16="http://schemas.microsoft.com/office/drawing/2014/chart" uri="{C3380CC4-5D6E-409C-BE32-E72D297353CC}">
              <c16:uniqueId val="{00000000-2903-45DA-A470-FF4DD54A6783}"/>
            </c:ext>
          </c:extLst>
        </c:ser>
        <c:dLbls>
          <c:dLblPos val="outEnd"/>
          <c:showLegendKey val="0"/>
          <c:showVal val="1"/>
          <c:showCatName val="0"/>
          <c:showSerName val="0"/>
          <c:showPercent val="0"/>
          <c:showBubbleSize val="0"/>
        </c:dLbls>
        <c:gapWidth val="80"/>
        <c:axId val="10"/>
        <c:axId val="20"/>
      </c:barChart>
      <c:catAx>
        <c:axId val="10"/>
        <c:scaling>
          <c:orientation val="maxMin"/>
        </c:scaling>
        <c:delete val="0"/>
        <c:axPos val="l"/>
        <c:numFmt formatCode="General" sourceLinked="0"/>
        <c:majorTickMark val="none"/>
        <c:minorTickMark val="none"/>
        <c:tickLblPos val="nextTo"/>
        <c:spPr>
          <a:ln w="9525">
            <a:solidFill>
              <a:srgbClr val="3A4A63"/>
            </a:solidFill>
          </a:ln>
        </c:spPr>
        <c:txPr>
          <a:bodyPr/>
          <a:lstStyle/>
          <a:p>
            <a:pPr>
              <a:defRPr sz="1600">
                <a:solidFill>
                  <a:srgbClr val="F5F3EB"/>
                </a:solidFill>
                <a:latin typeface="Arial"/>
              </a:defRPr>
            </a:pPr>
            <a:endParaRPr lang="en-US"/>
          </a:p>
        </c:txPr>
        <c:crossAx val="20"/>
        <c:crosses val="autoZero"/>
        <c:auto val="1"/>
        <c:lblAlgn val="ctr"/>
        <c:lblOffset val="100"/>
        <c:noMultiLvlLbl val="1"/>
      </c:catAx>
      <c:valAx>
        <c:axId val="20"/>
        <c:scaling>
          <c:orientation val="minMax"/>
          <c:max val="1"/>
          <c:min val="0"/>
        </c:scaling>
        <c:delete val="0"/>
        <c:axPos val="b"/>
        <c:majorGridlines>
          <c:spPr>
            <a:ln w="6350">
              <a:solidFill>
                <a:srgbClr val="24334B"/>
              </a:solidFill>
            </a:ln>
          </c:spPr>
        </c:majorGridlines>
        <c:numFmt formatCode="0%" sourceLinked="0"/>
        <c:majorTickMark val="none"/>
        <c:minorTickMark val="none"/>
        <c:tickLblPos val="nextTo"/>
        <c:spPr>
          <a:ln>
            <a:noFill/>
          </a:ln>
        </c:spPr>
        <c:txPr>
          <a:bodyPr/>
          <a:lstStyle/>
          <a:p>
            <a:pPr>
              <a:defRPr sz="1600">
                <a:solidFill>
                  <a:srgbClr val="B9C4D5"/>
                </a:solidFill>
                <a:latin typeface="Arial"/>
              </a:defRPr>
            </a:pPr>
            <a:endParaRPr lang="en-US"/>
          </a:p>
        </c:txPr>
        <c:crossAx val="10"/>
        <c:crosses val="max"/>
        <c:crossBetween val="between"/>
        <c:majorUnit val="0.2"/>
      </c:valAx>
    </c:plotArea>
    <c:plotVisOnly val="1"/>
    <c:dispBlanksAs val="gap"/>
    <c:showDLblsOverMax val="0"/>
  </c:chart>
  <c:spPr>
    <a:noFill/>
    <a:ln>
      <a:noFill/>
    </a:ln>
  </c:spPr>
  <c:txPr>
    <a:bodyPr/>
    <a:lstStyle/>
    <a:p>
      <a:pPr>
        <a:defRPr sz="1600">
          <a:solidFill>
            <a:srgbClr val="F5F3EB"/>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AD5A2C-7A87-4C6E-B9D5-E78D2408C15A}" type="datetimeFigureOut">
              <a:rPr lang="en-SG" smtClean="0"/>
              <a:t>20/10/2026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976E82-AB8E-4592-BB13-A06718EC07DB}" type="slidenum">
              <a:rPr lang="en-SG" smtClean="0"/>
              <a:t>‹#›</a:t>
            </a:fld>
            <a:endParaRPr lang="en-SG"/>
          </a:p>
        </p:txBody>
      </p:sp>
    </p:spTree>
    <p:extLst>
      <p:ext uri="{BB962C8B-B14F-4D97-AF65-F5344CB8AC3E}">
        <p14:creationId xmlns:p14="http://schemas.microsoft.com/office/powerpoint/2010/main" val="2827479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Background for questions (not on the slide):</a:t>
            </a:r>
          </a:p>
          <a:p>
            <a:r>
              <a:rPr lang="en-SG" dirty="0"/>
              <a:t>The experiment compares two handoff formats for passing task context between AI agents, using a real MP3 coding task. It draws on Week 8 (multi-agent coordination) and Week 9 (context engineering).</a:t>
            </a:r>
          </a:p>
          <a:p>
            <a:endParaRPr lang="en-SG" dirty="0"/>
          </a:p>
          <a:p>
            <a:r>
              <a:rPr lang="en-SG" dirty="0"/>
              <a:t>Sources: setup-original.md (the experiment proposal) and the results ZIP in this folder (report.html).</a:t>
            </a:r>
          </a:p>
        </p:txBody>
      </p:sp>
      <p:sp>
        <p:nvSpPr>
          <p:cNvPr id="4" name="Slide Number Placeholder 3"/>
          <p:cNvSpPr>
            <a:spLocks noGrp="1"/>
          </p:cNvSpPr>
          <p:nvPr>
            <p:ph type="sldNum" sz="quarter" idx="5"/>
          </p:nvPr>
        </p:nvSpPr>
        <p:spPr/>
        <p:txBody>
          <a:bodyPr/>
          <a:lstStyle/>
          <a:p>
            <a:fld id="{EA976E82-AB8E-4592-BB13-A06718EC07DB}" type="slidenum">
              <a:rPr lang="en-SG"/>
              <a:t>1</a:t>
            </a:fld>
            <a:endParaRPr lang="en-SG"/>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Background for questions (not on the slide):</a:t>
            </a:r>
          </a:p>
          <a:p>
            <a:r>
              <a:rPr lang="en-SG" dirty="0"/>
              <a:t>This is the slice workflow in workflow/skills/slice.md: spec-writer, test-writer, implementer and reviewer, with the orchestrating session passing each agent the earlier handoffs. Every role agent ends its run with the handoff block defined in AGENTS.md (Agent and Status, Inputs, Changed, Checks, Decisions needed, Assumptions, Untrusted content seen). The experiment's checklist uses those same fields.</a:t>
            </a:r>
          </a:p>
          <a:p>
            <a:endParaRPr lang="en-SG" dirty="0"/>
          </a:p>
          <a:p>
            <a:r>
              <a:rPr lang="en-SG" dirty="0"/>
              <a:t>Lecture link: Week 8, Simple (Manual) Workflow, step 4 "Hand off at the end of the task", and Handoff as a Skill.</a:t>
            </a:r>
          </a:p>
          <a:p>
            <a:endParaRPr lang="en-SG" dirty="0"/>
          </a:p>
          <a:p>
            <a:r>
              <a:rPr lang="en-SG" dirty="0"/>
              <a:t>Sources: AGENTS.md (Handoff), workflow/skills/slice.md, setup-original.md (Synopsis).</a:t>
            </a:r>
          </a:p>
        </p:txBody>
      </p:sp>
      <p:sp>
        <p:nvSpPr>
          <p:cNvPr id="4" name="Slide Number Placeholder 3"/>
          <p:cNvSpPr>
            <a:spLocks noGrp="1"/>
          </p:cNvSpPr>
          <p:nvPr>
            <p:ph type="sldNum" sz="quarter" idx="5"/>
          </p:nvPr>
        </p:nvSpPr>
        <p:spPr/>
        <p:txBody>
          <a:bodyPr/>
          <a:lstStyle/>
          <a:p>
            <a:fld id="{EA976E82-AB8E-4592-BB13-A06718EC07DB}" type="slidenum">
              <a:rPr lang="en-SG"/>
              <a:t>2</a:t>
            </a:fld>
            <a:endParaRPr lang="en-SG"/>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Background for questions (not on the slide):</a:t>
            </a:r>
          </a:p>
          <a:p>
            <a:r>
              <a:rPr lang="en-SG" dirty="0"/>
              <a:t>The message-history lengths are measured, not estimated: the five recorded histories were 3,449, 3,466, 3,512, 3,493 and 3,551 words (whitespace-separated, as counted by the experiment's runner). A message history is everything the coding agent saw and did: its messages, tool calls and tool results.</a:t>
            </a:r>
          </a:p>
          <a:p>
            <a:endParaRPr lang="en-SG" dirty="0"/>
          </a:p>
          <a:p>
            <a:r>
              <a:rPr lang="en-SG" dirty="0"/>
              <a:t>Lecture link: Week 8, Handoff as a Skill (context compaction into a structured document so fresh agents can resume); Week 9, compaction is lossy.</a:t>
            </a:r>
          </a:p>
          <a:p>
            <a:endParaRPr lang="en-SG" dirty="0"/>
          </a:p>
          <a:p>
            <a:r>
              <a:rPr lang="en-SG" dirty="0"/>
              <a:t>Sources: results ZIP, source-lengths.json and extension-frozen/handoff-prompts.json.</a:t>
            </a:r>
          </a:p>
        </p:txBody>
      </p:sp>
      <p:sp>
        <p:nvSpPr>
          <p:cNvPr id="4" name="Slide Number Placeholder 3"/>
          <p:cNvSpPr>
            <a:spLocks noGrp="1"/>
          </p:cNvSpPr>
          <p:nvPr>
            <p:ph type="sldNum" sz="quarter" idx="5"/>
          </p:nvPr>
        </p:nvSpPr>
        <p:spPr/>
        <p:txBody>
          <a:bodyPr/>
          <a:lstStyle/>
          <a:p>
            <a:fld id="{EA976E82-AB8E-4592-BB13-A06718EC07DB}" type="slidenum">
              <a:rPr lang="en-SG"/>
              <a:t>3</a:t>
            </a:fld>
            <a:endParaRPr lang="en-SG"/>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Background for questions (not on the slide):</a:t>
            </a:r>
          </a:p>
          <a:p>
            <a:r>
              <a:rPr lang="en-SG" dirty="0"/>
              <a:t>Both handoff agents got the same shared prompt: "Using only this recorded history, summarise the coding agent's work for the next agent in at most 200 words, including labels. Cover agent and status, inputs, changed files, checks and outcomes, decisions needed, assumptions and untrusted content seen. Do not infer missing facts; mark them 'not stated'." The free-form agent also got "Write connected prose without headings or bullet points." The checklist agent also got "Use these checklist fields: Agent and Status, Inputs, Changed, Checks, Decisions needed, Assumptions, Untrusted content seen."</a:t>
            </a:r>
          </a:p>
          <a:p>
            <a:endParaRPr lang="en-SG" dirty="0"/>
          </a:p>
          <a:p>
            <a:r>
              <a:rPr lang="en-SG" dirty="0"/>
              <a:t>Sources: results ZIP, extension-frozen/handoff-prompts.json; AGENTS.md (Handoff) for the MP3 fields.</a:t>
            </a:r>
          </a:p>
        </p:txBody>
      </p:sp>
      <p:sp>
        <p:nvSpPr>
          <p:cNvPr id="4" name="Slide Number Placeholder 3"/>
          <p:cNvSpPr>
            <a:spLocks noGrp="1"/>
          </p:cNvSpPr>
          <p:nvPr>
            <p:ph type="sldNum" sz="quarter" idx="5"/>
          </p:nvPr>
        </p:nvSpPr>
        <p:spPr/>
        <p:txBody>
          <a:bodyPr/>
          <a:lstStyle/>
          <a:p>
            <a:fld id="{EA976E82-AB8E-4592-BB13-A06718EC07DB}" type="slidenum">
              <a:rPr lang="en-SG"/>
              <a:t>4</a:t>
            </a:fld>
            <a:endParaRPr lang="en-SG"/>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Background for questions (not on the slide):</a:t>
            </a:r>
          </a:p>
          <a:p>
            <a:r>
              <a:rPr lang="en-SG" dirty="0"/>
              <a:t>The health check sends one fixed request to the SoC LLM provider and checks only the reply's shape. The access token is SOC_LLM_PROBE_TOKEN, a secret the operator sends in the Authorization header to run the check; it is not an LLM token. Every coding run got the same starting code, contract and 30 offline tests, could edit only llm.py, and had no network. All five repairs passed all 30 tests.</a:t>
            </a:r>
          </a:p>
          <a:p>
            <a:endParaRPr lang="en-SG" dirty="0"/>
          </a:p>
          <a:p>
            <a:r>
              <a:rPr lang="en-SG" dirty="0"/>
              <a:t>Sources: setup-original.md ("The coding task"); workflow/specs/ai/llm-health.md at commit 6b8af72; results ZIP, report.html.</a:t>
            </a:r>
          </a:p>
        </p:txBody>
      </p:sp>
      <p:sp>
        <p:nvSpPr>
          <p:cNvPr id="4" name="Slide Number Placeholder 3"/>
          <p:cNvSpPr>
            <a:spLocks noGrp="1"/>
          </p:cNvSpPr>
          <p:nvPr>
            <p:ph type="sldNum" sz="quarter" idx="5"/>
          </p:nvPr>
        </p:nvSpPr>
        <p:spPr/>
        <p:txBody>
          <a:bodyPr/>
          <a:lstStyle/>
          <a:p>
            <a:fld id="{EA976E82-AB8E-4592-BB13-A06718EC07DB}" type="slidenum">
              <a:rPr lang="en-SG"/>
              <a:t>5</a:t>
            </a:fld>
            <a:endParaRPr lang="en-SG"/>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Background for questions (not on the slide):</a:t>
            </a:r>
          </a:p>
          <a:p>
            <a:r>
              <a:rPr lang="en-SG" dirty="0"/>
              <a:t>Every agent ran in a fresh session. Claude sessions had no tools; the OpenAI handoff sessions still had their built-in tools available under an agreed exception, and the audit found none were used. Neither handoff agent saw the other's handoff, and no agent saw the answer key. The receiving agent had to back each answer with exact quotes from the handoff, or say "not stated".</a:t>
            </a:r>
          </a:p>
          <a:p>
            <a:endParaRPr lang="en-SG" dirty="0"/>
          </a:p>
          <a:p>
            <a:r>
              <a:rPr lang="en-SG" dirty="0"/>
              <a:t>The original plan used GPT-6.1 Sol for the coding and receiving agents and three coding runs. The runs used Claude Opus 5.5 for both, and two more coding runs were added after seeing the first three results.</a:t>
            </a:r>
          </a:p>
          <a:p>
            <a:endParaRPr lang="en-SG" dirty="0"/>
          </a:p>
          <a:p>
            <a:r>
              <a:rPr lang="en-SG" dirty="0"/>
              <a:t>Sources: setup-original.md ("Experiment roles", "Run the paired comparison"); results ZIP, extension-frozen/models.json, extension-frozen/receiver-prompt.json, report.html.</a:t>
            </a:r>
          </a:p>
        </p:txBody>
      </p:sp>
      <p:sp>
        <p:nvSpPr>
          <p:cNvPr id="4" name="Slide Number Placeholder 3"/>
          <p:cNvSpPr>
            <a:spLocks noGrp="1"/>
          </p:cNvSpPr>
          <p:nvPr>
            <p:ph type="sldNum" sz="quarter" idx="5"/>
          </p:nvPr>
        </p:nvSpPr>
        <p:spPr/>
        <p:txBody>
          <a:bodyPr/>
          <a:lstStyle/>
          <a:p>
            <a:fld id="{EA976E82-AB8E-4592-BB13-A06718EC07DB}" type="slidenum">
              <a:rPr lang="en-SG"/>
              <a:t>6</a:t>
            </a:fld>
            <a:endParaRPr lang="en-SG"/>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Background for questions (not on the slide):</a:t>
            </a:r>
          </a:p>
          <a:p>
            <a:r>
              <a:rPr lang="en-SG" dirty="0"/>
              <a:t>Each run had 27 or 28 expected facts, so each model and format was scored on 136 facts across the five runs. Facts are scored one by one, so a partly right answer still gets credit for its right parts. A fact counts if the receiving agent states it anywhere in its six answers or quotes. A question with no supporting evidence in a run's history would have been marked N/A, so missing evidence is not counted as a loss.</a:t>
            </a:r>
          </a:p>
          <a:p>
            <a:endParaRPr lang="en-SG" dirty="0"/>
          </a:p>
          <a:p>
            <a:r>
              <a:rPr lang="en-SG" dirty="0"/>
              <a:t>Sources: setup-original.md ("Score and interpret the results"); results ZIP, extension-frozen/questions.json, extension-frozen/score-rules.json, extension-frozen/coding-04-answer-key.json.</a:t>
            </a:r>
          </a:p>
        </p:txBody>
      </p:sp>
      <p:sp>
        <p:nvSpPr>
          <p:cNvPr id="4" name="Slide Number Placeholder 3"/>
          <p:cNvSpPr>
            <a:spLocks noGrp="1"/>
          </p:cNvSpPr>
          <p:nvPr>
            <p:ph type="sldNum" sz="quarter" idx="5"/>
          </p:nvPr>
        </p:nvSpPr>
        <p:spPr/>
        <p:txBody>
          <a:bodyPr/>
          <a:lstStyle/>
          <a:p>
            <a:fld id="{EA976E82-AB8E-4592-BB13-A06718EC07DB}" type="slidenum">
              <a:rPr lang="en-SG"/>
              <a:t>7</a:t>
            </a:fld>
            <a:endParaRPr lang="en-SG"/>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Background for questions (not on the slide):</a:t>
            </a:r>
          </a:p>
          <a:p>
            <a:r>
              <a:rPr lang="en-SG" dirty="0"/>
              <a:t>Correct facts out of 136: GPT-5.6 Sol 78 summary vs 73 checklist; GPT-5.6 Luna 64 vs 62; Claude Opus 5.5 78 vs 79; Claude Sonnet 5.5 74 vs 75. No expected fact was scored wrong; the rest were not stated. These are totals over five runs, not averages, and no significance test was run.</a:t>
            </a:r>
          </a:p>
          <a:p>
            <a:endParaRPr lang="en-SG" dirty="0"/>
          </a:p>
          <a:p>
            <a:r>
              <a:rPr lang="en-SG" dirty="0"/>
              <a:t>Word limit: Claude Opus 5.5 checklists were over 200 words in 5 of 5 runs and Claude Sonnet 5.5 checklists in 4 of 5. No GPT handoff went over. Counting only runs where both formats stayed within 200 words, Sol and Luna keep all five and still favour the summary; Opus keeps none and Sonnet keeps one.</a:t>
            </a:r>
          </a:p>
          <a:p>
            <a:endParaRPr lang="en-SG" dirty="0"/>
          </a:p>
          <a:p>
            <a:r>
              <a:rPr lang="en-SG" dirty="0"/>
              <a:t>Luna after runs 1 to 3: checklist 37, summary 35 of 82. After all five: summary 64, checklist 62 of 136.</a:t>
            </a:r>
          </a:p>
          <a:p>
            <a:endParaRPr lang="en-SG" dirty="0"/>
          </a:p>
          <a:p>
            <a:r>
              <a:rPr lang="en-SG" dirty="0"/>
              <a:t>Within each family the more capable model scored higher in both formats: Sol 78 and 73 vs Luna 64 and 62 (14 and 11 facts more); Opus 78 and 79 vs Sonnet 74 and 75 (4 more each). The model gap is larger than any format gap.</a:t>
            </a:r>
          </a:p>
          <a:p>
            <a:endParaRPr lang="en-SG" dirty="0"/>
          </a:p>
          <a:p>
            <a:r>
              <a:rPr lang="en-SG" dirty="0"/>
              <a:t>Sources: results ZIP, model-format-results.json, before-after.json, word-counts.json, compliant-pair-sensitivity.json.</a:t>
            </a:r>
          </a:p>
        </p:txBody>
      </p:sp>
      <p:sp>
        <p:nvSpPr>
          <p:cNvPr id="4" name="Slide Number Placeholder 3"/>
          <p:cNvSpPr>
            <a:spLocks noGrp="1"/>
          </p:cNvSpPr>
          <p:nvPr>
            <p:ph type="sldNum" sz="quarter" idx="5"/>
          </p:nvPr>
        </p:nvSpPr>
        <p:spPr/>
        <p:txBody>
          <a:bodyPr/>
          <a:lstStyle/>
          <a:p>
            <a:fld id="{EA976E82-AB8E-4592-BB13-A06718EC07DB}" type="slidenum">
              <a:rPr lang="en-SG"/>
              <a:t>8</a:t>
            </a:fld>
            <a:endParaRPr lang="en-SG"/>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Background for questions (not on the slide):</a:t>
            </a:r>
          </a:p>
          <a:p>
            <a:r>
              <a:rPr lang="en-SG" dirty="0"/>
              <a:t>The rules for which replies count as a success come from the probe's contract: status 200, valid UTF-8 JSON, a non-empty choices list, a non-blank message, and a body of at most 65,536 bytes. The bars cover all 40 handoffs. Almost none of the handoffs mention these rules. Both handoff prompts asked for changed files and checks. Neither asked the writer to explain which replies count as a success, but question 5 of the quiz did. We therefore cannot use this result to say that agents usually leave out unchanged requirements. These rules were also outside the five bugs being repaired. We did not try another prompt that asked for the rules, or ask the next agent to do more coding. The 12 handoffs over 200 words kept 2 of their 108 facts about these rules (2%), against 2 of 252 (1%) for the rest. Going over the limit did not ensure the rules were included, but we did not test the effect of a different word limit. For the timeout question, 45% of the expected facts survived: 35 of 40 handoffs kept the 10-second limit, but none kept the recorded reason for using one total deadline rather than a timeout for each socket operation.</a:t>
            </a:r>
          </a:p>
          <a:p>
            <a:endParaRPr lang="en-SG" dirty="0"/>
          </a:p>
          <a:p>
            <a:r>
              <a:rPr lang="en-SG" dirty="0"/>
              <a:t>Sources: results ZIP, question-results.json, fact-scores.json, evidence/*/handoff.txt, original-three-histories/frozen/handoff-prompts.json and original-three-histories/frozen/questions.json.</a:t>
            </a:r>
          </a:p>
        </p:txBody>
      </p:sp>
      <p:sp>
        <p:nvSpPr>
          <p:cNvPr id="4" name="Slide Number Placeholder 3"/>
          <p:cNvSpPr>
            <a:spLocks noGrp="1"/>
          </p:cNvSpPr>
          <p:nvPr>
            <p:ph type="sldNum" sz="quarter" idx="5"/>
          </p:nvPr>
        </p:nvSpPr>
        <p:spPr/>
        <p:txBody>
          <a:bodyPr/>
          <a:lstStyle/>
          <a:p>
            <a:fld id="{EA976E82-AB8E-4592-BB13-A06718EC07DB}" type="slidenum">
              <a:rPr lang="en-SG"/>
              <a:t>9</a:t>
            </a:fld>
            <a:endParaRPr lang="en-SG"/>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Background for questions (not on the slide):</a:t>
            </a:r>
          </a:p>
          <a:p>
            <a:r>
              <a:rPr lang="en-SG" dirty="0"/>
              <a:t>The quotes are shortened but otherwise exact. The one credited fact came from the receiving agent's answer to the checks question, which the full-quiz scoring rule allows.</a:t>
            </a:r>
          </a:p>
          <a:p>
            <a:endParaRPr lang="en-SG" dirty="0"/>
          </a:p>
          <a:p>
            <a:r>
              <a:rPr lang="en-SG" dirty="0"/>
              <a:t>Sources: results ZIP, evidence/coding-04/gpt-5.6-sol/checklist/handoff.txt and answers.json; extension-frozen/coding-04-answer-key.json; fact-scores.json.</a:t>
            </a:r>
          </a:p>
        </p:txBody>
      </p:sp>
      <p:sp>
        <p:nvSpPr>
          <p:cNvPr id="4" name="Slide Number Placeholder 3"/>
          <p:cNvSpPr>
            <a:spLocks noGrp="1"/>
          </p:cNvSpPr>
          <p:nvPr>
            <p:ph type="sldNum" sz="quarter" idx="5"/>
          </p:nvPr>
        </p:nvSpPr>
        <p:spPr/>
        <p:txBody>
          <a:bodyPr/>
          <a:lstStyle/>
          <a:p>
            <a:fld id="{EA976E82-AB8E-4592-BB13-A06718EC07DB}" type="slidenum">
              <a:rPr lang="en-SG"/>
              <a:t>10</a:t>
            </a:fld>
            <a:endParaRPr lang="en-SG"/>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Background for questions (not on the slide):</a:t>
            </a:r>
          </a:p>
          <a:p>
            <a:r>
              <a:rPr lang="en-SG" dirty="0"/>
              <a:t>Coding runs 4 and 5 were added after seeing the results of runs 1 to 3, so the five-run comparison is exploratory. Every handoff was read by the same Claude Opus 5.5 receiving agent, and Opus also did the coding. Over-length handoffs: Claude Opus 5.5 checklists 5 of 5, Claude Sonnet 5.5 checklists 4 of 5, Claude Opus 5.5 summaries 3 of 5; no GPT handoff went over. "The formats ended up alike" comes from reading the 20 free-form summaries: nearly all still name each requested part inline ("Agent/status: ... Inputs: ...").</a:t>
            </a:r>
          </a:p>
          <a:p>
            <a:endParaRPr lang="en-SG" dirty="0"/>
          </a:p>
          <a:p>
            <a:r>
              <a:rPr lang="en-SG" dirty="0"/>
              <a:t>Separate from the scores, a few false or vague statements in handoffs and answers were recorded, for example a handoff calling all three input files read-only. None changed an expected fact's score.</a:t>
            </a:r>
          </a:p>
          <a:p>
            <a:endParaRPr lang="en-SG" dirty="0"/>
          </a:p>
          <a:p>
            <a:r>
              <a:rPr lang="en-SG" dirty="0"/>
              <a:t>Sources: results ZIP, report.html ("Method, extension and limitations"), word-counts.json, observations.json, evidence/*/prose/handoff.txt.</a:t>
            </a:r>
          </a:p>
        </p:txBody>
      </p:sp>
      <p:sp>
        <p:nvSpPr>
          <p:cNvPr id="4" name="Slide Number Placeholder 3"/>
          <p:cNvSpPr>
            <a:spLocks noGrp="1"/>
          </p:cNvSpPr>
          <p:nvPr>
            <p:ph type="sldNum" sz="quarter" idx="5"/>
          </p:nvPr>
        </p:nvSpPr>
        <p:spPr/>
        <p:txBody>
          <a:bodyPr/>
          <a:lstStyle/>
          <a:p>
            <a:fld id="{EA976E82-AB8E-4592-BB13-A06718EC07DB}" type="slidenum">
              <a:rPr lang="en-SG"/>
              <a:t>11</a:t>
            </a:fld>
            <a:endParaRPr lang="en-SG"/>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Background for questions (not on the slide):</a:t>
            </a:r>
          </a:p>
          <a:p>
            <a:r>
              <a:rPr lang="en-SG" dirty="0"/>
              <a:t>The Week 9 Agent Workflow Notes template lists Goal, Current State, Decisions, Findings, Open Questions, Next Actions and Change Log. Our MP3 handoff block (AGENTS.md) has no goal or success-criteria field. Week 8's handoff skill also points towards idea 2: it links to existing work by path or URL instead of repeating it. Both handoff formats almost always left out rules that the quiz asked about but the handoff prompt did not ask writers to include. This does not show that agents usually leave out unchanged requirements, or that changing the instructions would help more than changing the format. We also did not test whether the missing rules caused problems with later coding. Asking for the information the next agent needs is an idea to test. We did not test adding a field or letting the next agent look up the contract. A fair next test would ask for both changes and relevant requirements, enforce the word limit, use more than one task, and grade answers without knowing which format produced them.</a:t>
            </a:r>
          </a:p>
          <a:p>
            <a:endParaRPr lang="en-SG" dirty="0"/>
          </a:p>
          <a:p>
            <a:r>
              <a:rPr lang="en-SG" dirty="0"/>
              <a:t>Sources: Week 9 lecture (Optimization for Long Tasks: Recall First, Structured Note Taking; Context Retrieval: Just-in-Time Retrieval); Week 8 lecture (Handoff as a Skill); AGENTS.md (Handoff); results ZIP, original-three-histories/frozen/handoff-prompts.json and original-three-histories/frozen/questions.json.</a:t>
            </a:r>
          </a:p>
        </p:txBody>
      </p:sp>
      <p:sp>
        <p:nvSpPr>
          <p:cNvPr id="4" name="Slide Number Placeholder 3"/>
          <p:cNvSpPr>
            <a:spLocks noGrp="1"/>
          </p:cNvSpPr>
          <p:nvPr>
            <p:ph type="sldNum" sz="quarter" idx="5"/>
          </p:nvPr>
        </p:nvSpPr>
        <p:spPr/>
        <p:txBody>
          <a:bodyPr/>
          <a:lstStyle/>
          <a:p>
            <a:fld id="{EA976E82-AB8E-4592-BB13-A06718EC07DB}" type="slidenum">
              <a:rPr lang="en-SG"/>
              <a:t>12</a:t>
            </a:fld>
            <a:endParaRPr lang="en-SG"/>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Backup slide for questions after the talk.</a:t>
            </a:r>
          </a:p>
          <a:p>
            <a:endParaRPr lang="en-SG" dirty="0"/>
          </a:p>
          <a:p>
            <a:r>
              <a:rPr lang="en-SG" dirty="0"/>
              <a:t>Each row pools the five coding runs: 27 + 27 + 28 + 27 + 27 = 136 expected facts. These are totals, not averages. No expected fact was scored wrong, so every other fact was not stated. "Over 200 words" counts that model and format's handoffs, one per run.</a:t>
            </a:r>
          </a:p>
          <a:p>
            <a:endParaRPr lang="en-SG" dirty="0"/>
          </a:p>
          <a:p>
            <a:r>
              <a:rPr lang="en-SG" dirty="0"/>
              <a:t>Sources: results ZIP, model-format-results.json, word-counts.json.</a:t>
            </a:r>
          </a:p>
        </p:txBody>
      </p:sp>
      <p:sp>
        <p:nvSpPr>
          <p:cNvPr id="4" name="Slide Number Placeholder 3"/>
          <p:cNvSpPr>
            <a:spLocks noGrp="1"/>
          </p:cNvSpPr>
          <p:nvPr>
            <p:ph type="sldNum" sz="quarter" idx="5"/>
          </p:nvPr>
        </p:nvSpPr>
        <p:spPr/>
        <p:txBody>
          <a:bodyPr/>
          <a:lstStyle/>
          <a:p>
            <a:fld id="{EA976E82-AB8E-4592-BB13-A06718EC07DB}" type="slidenum">
              <a:rPr lang="en-SG"/>
              <a:t>13</a:t>
            </a:fld>
            <a:endParaRPr lang="en-SG"/>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Backup slide for questions after the talk.</a:t>
            </a:r>
          </a:p>
          <a:p>
            <a:endParaRPr lang="en-SG" dirty="0"/>
          </a:p>
          <a:p>
            <a:r>
              <a:rPr lang="en-SG" dirty="0"/>
              <a:t>The coding agent worked in an offline, read-only container with an unprivileged user; only llm.py was writable. The starting code failed 5 of the 30 tests and errored on 4; a private reference repair passed all 30 and was kept out of the coding agent's inputs. Claude sessions exposed no tools. OpenAI sessions kept their built-in tool definitions under an agreed, audited exception; audits of what the client recorded found no tool calls and no incomplete audits. All agents used medium effort, which is not equal compute across providers. Eight preliminary handoffs were excluded after a transcript-rendering fix, and one incomplete setup attempt for the extra runs was excluded before any scored handoffs; their raw evidence is preserved. The audit covers only events the clients recorded.</a:t>
            </a:r>
          </a:p>
          <a:p>
            <a:endParaRPr lang="en-SG" dirty="0"/>
          </a:p>
          <a:p>
            <a:r>
              <a:rPr lang="en-SG" dirty="0"/>
              <a:t>Changes from the original plan: it named GPT-6.1 Sol for the coding and receiving agents, but the runs used Claude Opus 5.5; and it planned 3 coding runs, but 2 more were added after the first results.</a:t>
            </a:r>
          </a:p>
          <a:p>
            <a:endParaRPr lang="en-SG" dirty="0"/>
          </a:p>
          <a:p>
            <a:r>
              <a:rPr lang="en-SG" dirty="0"/>
              <a:t>Sources: results ZIP, report.html, cli-audit.json, extension-cli-audit.json, extension-plan.json; setup-original.md for the original plan.</a:t>
            </a:r>
          </a:p>
        </p:txBody>
      </p:sp>
      <p:sp>
        <p:nvSpPr>
          <p:cNvPr id="4" name="Slide Number Placeholder 3"/>
          <p:cNvSpPr>
            <a:spLocks noGrp="1"/>
          </p:cNvSpPr>
          <p:nvPr>
            <p:ph type="sldNum" sz="quarter" idx="5"/>
          </p:nvPr>
        </p:nvSpPr>
        <p:spPr/>
        <p:txBody>
          <a:bodyPr/>
          <a:lstStyle/>
          <a:p>
            <a:fld id="{EA976E82-AB8E-4592-BB13-A06718EC07DB}" type="slidenum">
              <a:rPr lang="en-SG"/>
              <a:t>14</a:t>
            </a:fld>
            <a:endParaRPr lang="en-SG"/>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24528-5EA7-4362-5A23-EA2A666363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969AF17C-B608-8D30-C1D6-18BC2233DA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3BFD0502-52DA-4EB5-A359-D8BC8521EE3E}"/>
              </a:ext>
            </a:extLst>
          </p:cNvPr>
          <p:cNvSpPr>
            <a:spLocks noGrp="1"/>
          </p:cNvSpPr>
          <p:nvPr>
            <p:ph type="dt" sz="half" idx="10"/>
          </p:nvPr>
        </p:nvSpPr>
        <p:spPr/>
        <p:txBody>
          <a:bodyPr/>
          <a:lstStyle/>
          <a:p>
            <a:fld id="{61668A28-7029-416B-BE36-2AAE1D402D3B}" type="datetimeFigureOut">
              <a:rPr lang="en-SG" smtClean="0"/>
              <a:t>20/10/2026</a:t>
            </a:fld>
            <a:endParaRPr lang="en-SG"/>
          </a:p>
        </p:txBody>
      </p:sp>
      <p:sp>
        <p:nvSpPr>
          <p:cNvPr id="5" name="Footer Placeholder 4">
            <a:extLst>
              <a:ext uri="{FF2B5EF4-FFF2-40B4-BE49-F238E27FC236}">
                <a16:creationId xmlns:a16="http://schemas.microsoft.com/office/drawing/2014/main" id="{3EBD9625-46CE-5F26-5ADF-3A2E6CD003F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EF78864-E1F7-7CF9-2814-40ABA8AC8784}"/>
              </a:ext>
            </a:extLst>
          </p:cNvPr>
          <p:cNvSpPr>
            <a:spLocks noGrp="1"/>
          </p:cNvSpPr>
          <p:nvPr>
            <p:ph type="sldNum" sz="quarter" idx="12"/>
          </p:nvPr>
        </p:nvSpPr>
        <p:spPr/>
        <p:txBody>
          <a:bodyPr/>
          <a:lstStyle/>
          <a:p>
            <a:fld id="{D7A3C78D-58AF-492D-B201-01CD580DDA00}" type="slidenum">
              <a:rPr lang="en-SG" smtClean="0"/>
              <a:t>‹#›</a:t>
            </a:fld>
            <a:endParaRPr lang="en-SG"/>
          </a:p>
        </p:txBody>
      </p:sp>
    </p:spTree>
    <p:extLst>
      <p:ext uri="{BB962C8B-B14F-4D97-AF65-F5344CB8AC3E}">
        <p14:creationId xmlns:p14="http://schemas.microsoft.com/office/powerpoint/2010/main" val="2445104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93B83-4DE2-0521-40D5-5CB13CF25342}"/>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8ED1245E-23D2-5A8D-1C88-0F35A7CF1C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E6984054-3CA9-56EB-F428-5DE9D8D1D1DD}"/>
              </a:ext>
            </a:extLst>
          </p:cNvPr>
          <p:cNvSpPr>
            <a:spLocks noGrp="1"/>
          </p:cNvSpPr>
          <p:nvPr>
            <p:ph type="dt" sz="half" idx="10"/>
          </p:nvPr>
        </p:nvSpPr>
        <p:spPr/>
        <p:txBody>
          <a:bodyPr/>
          <a:lstStyle/>
          <a:p>
            <a:fld id="{61668A28-7029-416B-BE36-2AAE1D402D3B}" type="datetimeFigureOut">
              <a:rPr lang="en-SG" smtClean="0"/>
              <a:t>20/10/2026</a:t>
            </a:fld>
            <a:endParaRPr lang="en-SG"/>
          </a:p>
        </p:txBody>
      </p:sp>
      <p:sp>
        <p:nvSpPr>
          <p:cNvPr id="5" name="Footer Placeholder 4">
            <a:extLst>
              <a:ext uri="{FF2B5EF4-FFF2-40B4-BE49-F238E27FC236}">
                <a16:creationId xmlns:a16="http://schemas.microsoft.com/office/drawing/2014/main" id="{6FDDE685-866C-5E4D-181C-7412BB54A92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C1BB3E6B-ED1A-7344-7534-10B8BF4FB98B}"/>
              </a:ext>
            </a:extLst>
          </p:cNvPr>
          <p:cNvSpPr>
            <a:spLocks noGrp="1"/>
          </p:cNvSpPr>
          <p:nvPr>
            <p:ph type="sldNum" sz="quarter" idx="12"/>
          </p:nvPr>
        </p:nvSpPr>
        <p:spPr/>
        <p:txBody>
          <a:bodyPr/>
          <a:lstStyle/>
          <a:p>
            <a:fld id="{D7A3C78D-58AF-492D-B201-01CD580DDA00}" type="slidenum">
              <a:rPr lang="en-SG" smtClean="0"/>
              <a:t>‹#›</a:t>
            </a:fld>
            <a:endParaRPr lang="en-SG"/>
          </a:p>
        </p:txBody>
      </p:sp>
    </p:spTree>
    <p:extLst>
      <p:ext uri="{BB962C8B-B14F-4D97-AF65-F5344CB8AC3E}">
        <p14:creationId xmlns:p14="http://schemas.microsoft.com/office/powerpoint/2010/main" val="3029523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7039E-0B8E-0459-0429-B85AB1EDA7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08D52ECC-5D1B-B729-09DA-0B4ACA284F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2BB8BE-54A3-97DE-9274-32896E5FC39A}"/>
              </a:ext>
            </a:extLst>
          </p:cNvPr>
          <p:cNvSpPr>
            <a:spLocks noGrp="1"/>
          </p:cNvSpPr>
          <p:nvPr>
            <p:ph type="dt" sz="half" idx="10"/>
          </p:nvPr>
        </p:nvSpPr>
        <p:spPr/>
        <p:txBody>
          <a:bodyPr/>
          <a:lstStyle/>
          <a:p>
            <a:fld id="{61668A28-7029-416B-BE36-2AAE1D402D3B}" type="datetimeFigureOut">
              <a:rPr lang="en-SG" smtClean="0"/>
              <a:t>20/10/2026</a:t>
            </a:fld>
            <a:endParaRPr lang="en-SG"/>
          </a:p>
        </p:txBody>
      </p:sp>
      <p:sp>
        <p:nvSpPr>
          <p:cNvPr id="5" name="Footer Placeholder 4">
            <a:extLst>
              <a:ext uri="{FF2B5EF4-FFF2-40B4-BE49-F238E27FC236}">
                <a16:creationId xmlns:a16="http://schemas.microsoft.com/office/drawing/2014/main" id="{F0F25C86-18FD-5051-D134-C133558512A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8867A485-219F-4DC2-6D03-3A509D9B2E78}"/>
              </a:ext>
            </a:extLst>
          </p:cNvPr>
          <p:cNvSpPr>
            <a:spLocks noGrp="1"/>
          </p:cNvSpPr>
          <p:nvPr>
            <p:ph type="sldNum" sz="quarter" idx="12"/>
          </p:nvPr>
        </p:nvSpPr>
        <p:spPr/>
        <p:txBody>
          <a:bodyPr/>
          <a:lstStyle/>
          <a:p>
            <a:fld id="{D7A3C78D-58AF-492D-B201-01CD580DDA00}" type="slidenum">
              <a:rPr lang="en-SG" smtClean="0"/>
              <a:t>‹#›</a:t>
            </a:fld>
            <a:endParaRPr lang="en-SG"/>
          </a:p>
        </p:txBody>
      </p:sp>
    </p:spTree>
    <p:extLst>
      <p:ext uri="{BB962C8B-B14F-4D97-AF65-F5344CB8AC3E}">
        <p14:creationId xmlns:p14="http://schemas.microsoft.com/office/powerpoint/2010/main" val="3892180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6F17E-8E42-2FA3-F221-58871A5632B0}"/>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DC7A5251-A9B7-9E0D-32EC-B20ACDC325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2D303A18-026E-522F-06B2-E3A4B2A2D8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E9866F60-FC05-8BAC-D9F2-4484849B7AE2}"/>
              </a:ext>
            </a:extLst>
          </p:cNvPr>
          <p:cNvSpPr>
            <a:spLocks noGrp="1"/>
          </p:cNvSpPr>
          <p:nvPr>
            <p:ph type="dt" sz="half" idx="10"/>
          </p:nvPr>
        </p:nvSpPr>
        <p:spPr/>
        <p:txBody>
          <a:bodyPr/>
          <a:lstStyle/>
          <a:p>
            <a:fld id="{61668A28-7029-416B-BE36-2AAE1D402D3B}" type="datetimeFigureOut">
              <a:rPr lang="en-SG" smtClean="0"/>
              <a:t>20/10/2026</a:t>
            </a:fld>
            <a:endParaRPr lang="en-SG"/>
          </a:p>
        </p:txBody>
      </p:sp>
      <p:sp>
        <p:nvSpPr>
          <p:cNvPr id="6" name="Footer Placeholder 5">
            <a:extLst>
              <a:ext uri="{FF2B5EF4-FFF2-40B4-BE49-F238E27FC236}">
                <a16:creationId xmlns:a16="http://schemas.microsoft.com/office/drawing/2014/main" id="{D80B910C-0D6E-8E60-B423-100DB559B29C}"/>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F297A1F-871F-1A42-989A-F60FF2B8F0B7}"/>
              </a:ext>
            </a:extLst>
          </p:cNvPr>
          <p:cNvSpPr>
            <a:spLocks noGrp="1"/>
          </p:cNvSpPr>
          <p:nvPr>
            <p:ph type="sldNum" sz="quarter" idx="12"/>
          </p:nvPr>
        </p:nvSpPr>
        <p:spPr/>
        <p:txBody>
          <a:bodyPr/>
          <a:lstStyle/>
          <a:p>
            <a:fld id="{D7A3C78D-58AF-492D-B201-01CD580DDA00}" type="slidenum">
              <a:rPr lang="en-SG" smtClean="0"/>
              <a:t>‹#›</a:t>
            </a:fld>
            <a:endParaRPr lang="en-SG"/>
          </a:p>
        </p:txBody>
      </p:sp>
    </p:spTree>
    <p:extLst>
      <p:ext uri="{BB962C8B-B14F-4D97-AF65-F5344CB8AC3E}">
        <p14:creationId xmlns:p14="http://schemas.microsoft.com/office/powerpoint/2010/main" val="2842284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FEB98-1C3C-8B25-E832-34E424F95624}"/>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27F6D02A-6771-8EF7-0D42-891F34568E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DABD78-E2C8-6860-AF6E-65790420A6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A548B9E9-F772-4D4D-C3E2-BA6B858C6E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D3904C-D675-D6DC-7F5E-A70508CE53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5FFCE63F-62B1-E31D-DF17-D88FF4C54D04}"/>
              </a:ext>
            </a:extLst>
          </p:cNvPr>
          <p:cNvSpPr>
            <a:spLocks noGrp="1"/>
          </p:cNvSpPr>
          <p:nvPr>
            <p:ph type="dt" sz="half" idx="10"/>
          </p:nvPr>
        </p:nvSpPr>
        <p:spPr/>
        <p:txBody>
          <a:bodyPr/>
          <a:lstStyle/>
          <a:p>
            <a:fld id="{61668A28-7029-416B-BE36-2AAE1D402D3B}" type="datetimeFigureOut">
              <a:rPr lang="en-SG" smtClean="0"/>
              <a:t>20/10/2026</a:t>
            </a:fld>
            <a:endParaRPr lang="en-SG"/>
          </a:p>
        </p:txBody>
      </p:sp>
      <p:sp>
        <p:nvSpPr>
          <p:cNvPr id="8" name="Footer Placeholder 7">
            <a:extLst>
              <a:ext uri="{FF2B5EF4-FFF2-40B4-BE49-F238E27FC236}">
                <a16:creationId xmlns:a16="http://schemas.microsoft.com/office/drawing/2014/main" id="{398B139E-A810-3CB2-D58E-35AC1EC88C59}"/>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A49B1CF1-69CD-2379-3F17-23DEFBF8A71F}"/>
              </a:ext>
            </a:extLst>
          </p:cNvPr>
          <p:cNvSpPr>
            <a:spLocks noGrp="1"/>
          </p:cNvSpPr>
          <p:nvPr>
            <p:ph type="sldNum" sz="quarter" idx="12"/>
          </p:nvPr>
        </p:nvSpPr>
        <p:spPr/>
        <p:txBody>
          <a:bodyPr/>
          <a:lstStyle/>
          <a:p>
            <a:fld id="{D7A3C78D-58AF-492D-B201-01CD580DDA00}" type="slidenum">
              <a:rPr lang="en-SG" smtClean="0"/>
              <a:t>‹#›</a:t>
            </a:fld>
            <a:endParaRPr lang="en-SG"/>
          </a:p>
        </p:txBody>
      </p:sp>
    </p:spTree>
    <p:extLst>
      <p:ext uri="{BB962C8B-B14F-4D97-AF65-F5344CB8AC3E}">
        <p14:creationId xmlns:p14="http://schemas.microsoft.com/office/powerpoint/2010/main" val="3936402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9E4BB-508E-5194-93D7-E19C6088DE26}"/>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67C3352A-4B56-6C9C-9D95-FC4B90420A66}"/>
              </a:ext>
            </a:extLst>
          </p:cNvPr>
          <p:cNvSpPr>
            <a:spLocks noGrp="1"/>
          </p:cNvSpPr>
          <p:nvPr>
            <p:ph type="dt" sz="half" idx="10"/>
          </p:nvPr>
        </p:nvSpPr>
        <p:spPr/>
        <p:txBody>
          <a:bodyPr/>
          <a:lstStyle/>
          <a:p>
            <a:fld id="{61668A28-7029-416B-BE36-2AAE1D402D3B}" type="datetimeFigureOut">
              <a:rPr lang="en-SG" smtClean="0"/>
              <a:t>20/10/2026</a:t>
            </a:fld>
            <a:endParaRPr lang="en-SG"/>
          </a:p>
        </p:txBody>
      </p:sp>
      <p:sp>
        <p:nvSpPr>
          <p:cNvPr id="4" name="Footer Placeholder 3">
            <a:extLst>
              <a:ext uri="{FF2B5EF4-FFF2-40B4-BE49-F238E27FC236}">
                <a16:creationId xmlns:a16="http://schemas.microsoft.com/office/drawing/2014/main" id="{65949754-841E-84DD-2B9C-FAAFF1CBF2E5}"/>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FF6EF6A8-AF5D-C38D-0F4C-A1000A89456B}"/>
              </a:ext>
            </a:extLst>
          </p:cNvPr>
          <p:cNvSpPr>
            <a:spLocks noGrp="1"/>
          </p:cNvSpPr>
          <p:nvPr>
            <p:ph type="sldNum" sz="quarter" idx="12"/>
          </p:nvPr>
        </p:nvSpPr>
        <p:spPr/>
        <p:txBody>
          <a:bodyPr/>
          <a:lstStyle/>
          <a:p>
            <a:fld id="{D7A3C78D-58AF-492D-B201-01CD580DDA00}" type="slidenum">
              <a:rPr lang="en-SG" smtClean="0"/>
              <a:t>‹#›</a:t>
            </a:fld>
            <a:endParaRPr lang="en-SG"/>
          </a:p>
        </p:txBody>
      </p:sp>
    </p:spTree>
    <p:extLst>
      <p:ext uri="{BB962C8B-B14F-4D97-AF65-F5344CB8AC3E}">
        <p14:creationId xmlns:p14="http://schemas.microsoft.com/office/powerpoint/2010/main" val="553824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B6BC86-28ED-85B6-D46A-A1B8981B4610}"/>
              </a:ext>
            </a:extLst>
          </p:cNvPr>
          <p:cNvSpPr>
            <a:spLocks noGrp="1"/>
          </p:cNvSpPr>
          <p:nvPr>
            <p:ph type="dt" sz="half" idx="10"/>
          </p:nvPr>
        </p:nvSpPr>
        <p:spPr/>
        <p:txBody>
          <a:bodyPr/>
          <a:lstStyle/>
          <a:p>
            <a:fld id="{61668A28-7029-416B-BE36-2AAE1D402D3B}" type="datetimeFigureOut">
              <a:rPr lang="en-SG" smtClean="0"/>
              <a:t>20/10/2026</a:t>
            </a:fld>
            <a:endParaRPr lang="en-SG"/>
          </a:p>
        </p:txBody>
      </p:sp>
      <p:sp>
        <p:nvSpPr>
          <p:cNvPr id="3" name="Footer Placeholder 2">
            <a:extLst>
              <a:ext uri="{FF2B5EF4-FFF2-40B4-BE49-F238E27FC236}">
                <a16:creationId xmlns:a16="http://schemas.microsoft.com/office/drawing/2014/main" id="{BFF2DE35-72EF-06A4-6E65-FD74D0D4DD61}"/>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982C6243-CC8A-9891-DB66-8680C93A97B7}"/>
              </a:ext>
            </a:extLst>
          </p:cNvPr>
          <p:cNvSpPr>
            <a:spLocks noGrp="1"/>
          </p:cNvSpPr>
          <p:nvPr>
            <p:ph type="sldNum" sz="quarter" idx="12"/>
          </p:nvPr>
        </p:nvSpPr>
        <p:spPr/>
        <p:txBody>
          <a:bodyPr/>
          <a:lstStyle/>
          <a:p>
            <a:fld id="{D7A3C78D-58AF-492D-B201-01CD580DDA00}" type="slidenum">
              <a:rPr lang="en-SG" smtClean="0"/>
              <a:t>‹#›</a:t>
            </a:fld>
            <a:endParaRPr lang="en-SG"/>
          </a:p>
        </p:txBody>
      </p:sp>
    </p:spTree>
    <p:extLst>
      <p:ext uri="{BB962C8B-B14F-4D97-AF65-F5344CB8AC3E}">
        <p14:creationId xmlns:p14="http://schemas.microsoft.com/office/powerpoint/2010/main" val="2540856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B9036-83C1-1221-EE06-BA4CE828E8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4B19DF58-383C-1B7E-C056-947D608A4A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108FF99B-37FE-A3D1-F056-585F71C531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0ADEB0-250A-6FD9-BA46-0AE111CDB429}"/>
              </a:ext>
            </a:extLst>
          </p:cNvPr>
          <p:cNvSpPr>
            <a:spLocks noGrp="1"/>
          </p:cNvSpPr>
          <p:nvPr>
            <p:ph type="dt" sz="half" idx="10"/>
          </p:nvPr>
        </p:nvSpPr>
        <p:spPr/>
        <p:txBody>
          <a:bodyPr/>
          <a:lstStyle/>
          <a:p>
            <a:fld id="{61668A28-7029-416B-BE36-2AAE1D402D3B}" type="datetimeFigureOut">
              <a:rPr lang="en-SG" smtClean="0"/>
              <a:t>20/10/2026</a:t>
            </a:fld>
            <a:endParaRPr lang="en-SG"/>
          </a:p>
        </p:txBody>
      </p:sp>
      <p:sp>
        <p:nvSpPr>
          <p:cNvPr id="6" name="Footer Placeholder 5">
            <a:extLst>
              <a:ext uri="{FF2B5EF4-FFF2-40B4-BE49-F238E27FC236}">
                <a16:creationId xmlns:a16="http://schemas.microsoft.com/office/drawing/2014/main" id="{2379F193-67A6-5977-8D3F-D4C307BFDCC3}"/>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B066DCA5-5A3F-9C7B-6547-2129C45F75F7}"/>
              </a:ext>
            </a:extLst>
          </p:cNvPr>
          <p:cNvSpPr>
            <a:spLocks noGrp="1"/>
          </p:cNvSpPr>
          <p:nvPr>
            <p:ph type="sldNum" sz="quarter" idx="12"/>
          </p:nvPr>
        </p:nvSpPr>
        <p:spPr/>
        <p:txBody>
          <a:bodyPr/>
          <a:lstStyle/>
          <a:p>
            <a:fld id="{D7A3C78D-58AF-492D-B201-01CD580DDA00}" type="slidenum">
              <a:rPr lang="en-SG" smtClean="0"/>
              <a:t>‹#›</a:t>
            </a:fld>
            <a:endParaRPr lang="en-SG"/>
          </a:p>
        </p:txBody>
      </p:sp>
    </p:spTree>
    <p:extLst>
      <p:ext uri="{BB962C8B-B14F-4D97-AF65-F5344CB8AC3E}">
        <p14:creationId xmlns:p14="http://schemas.microsoft.com/office/powerpoint/2010/main" val="3026922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EBAED-2732-2192-8F77-5EAD50B6A1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2984FA65-788A-4DCD-D87E-BF5E0CDFA07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DD375CAF-79B0-958D-B791-DB84CDAF47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449241-AFB1-CBB3-4EFD-420D1508AE68}"/>
              </a:ext>
            </a:extLst>
          </p:cNvPr>
          <p:cNvSpPr>
            <a:spLocks noGrp="1"/>
          </p:cNvSpPr>
          <p:nvPr>
            <p:ph type="dt" sz="half" idx="10"/>
          </p:nvPr>
        </p:nvSpPr>
        <p:spPr/>
        <p:txBody>
          <a:bodyPr/>
          <a:lstStyle/>
          <a:p>
            <a:fld id="{61668A28-7029-416B-BE36-2AAE1D402D3B}" type="datetimeFigureOut">
              <a:rPr lang="en-SG" smtClean="0"/>
              <a:t>20/10/2026</a:t>
            </a:fld>
            <a:endParaRPr lang="en-SG"/>
          </a:p>
        </p:txBody>
      </p:sp>
      <p:sp>
        <p:nvSpPr>
          <p:cNvPr id="6" name="Footer Placeholder 5">
            <a:extLst>
              <a:ext uri="{FF2B5EF4-FFF2-40B4-BE49-F238E27FC236}">
                <a16:creationId xmlns:a16="http://schemas.microsoft.com/office/drawing/2014/main" id="{83CDB681-23D0-99AF-184C-30ACD87196A3}"/>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A161625D-015C-2F52-2F28-63C17D6DD046}"/>
              </a:ext>
            </a:extLst>
          </p:cNvPr>
          <p:cNvSpPr>
            <a:spLocks noGrp="1"/>
          </p:cNvSpPr>
          <p:nvPr>
            <p:ph type="sldNum" sz="quarter" idx="12"/>
          </p:nvPr>
        </p:nvSpPr>
        <p:spPr/>
        <p:txBody>
          <a:bodyPr/>
          <a:lstStyle/>
          <a:p>
            <a:fld id="{D7A3C78D-58AF-492D-B201-01CD580DDA00}" type="slidenum">
              <a:rPr lang="en-SG" smtClean="0"/>
              <a:t>‹#›</a:t>
            </a:fld>
            <a:endParaRPr lang="en-SG"/>
          </a:p>
        </p:txBody>
      </p:sp>
    </p:spTree>
    <p:extLst>
      <p:ext uri="{BB962C8B-B14F-4D97-AF65-F5344CB8AC3E}">
        <p14:creationId xmlns:p14="http://schemas.microsoft.com/office/powerpoint/2010/main" val="1156929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D33BD-1BA1-1CEB-0E9B-7F5DC8E3FB1A}"/>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BEAF1B6C-3157-E140-A361-AFB1980056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2C1E98C-E5FC-6FAB-A501-33CE76740F2E}"/>
              </a:ext>
            </a:extLst>
          </p:cNvPr>
          <p:cNvSpPr>
            <a:spLocks noGrp="1"/>
          </p:cNvSpPr>
          <p:nvPr>
            <p:ph type="dt" sz="half" idx="10"/>
          </p:nvPr>
        </p:nvSpPr>
        <p:spPr/>
        <p:txBody>
          <a:bodyPr/>
          <a:lstStyle/>
          <a:p>
            <a:fld id="{61668A28-7029-416B-BE36-2AAE1D402D3B}" type="datetimeFigureOut">
              <a:rPr lang="en-SG" smtClean="0"/>
              <a:t>20/10/2026</a:t>
            </a:fld>
            <a:endParaRPr lang="en-SG"/>
          </a:p>
        </p:txBody>
      </p:sp>
      <p:sp>
        <p:nvSpPr>
          <p:cNvPr id="5" name="Footer Placeholder 4">
            <a:extLst>
              <a:ext uri="{FF2B5EF4-FFF2-40B4-BE49-F238E27FC236}">
                <a16:creationId xmlns:a16="http://schemas.microsoft.com/office/drawing/2014/main" id="{0AE8B5FC-E218-E4E3-3670-69EF73327263}"/>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79B99AA-6970-0EF7-467F-EE5075E9205A}"/>
              </a:ext>
            </a:extLst>
          </p:cNvPr>
          <p:cNvSpPr>
            <a:spLocks noGrp="1"/>
          </p:cNvSpPr>
          <p:nvPr>
            <p:ph type="sldNum" sz="quarter" idx="12"/>
          </p:nvPr>
        </p:nvSpPr>
        <p:spPr/>
        <p:txBody>
          <a:bodyPr/>
          <a:lstStyle/>
          <a:p>
            <a:fld id="{D7A3C78D-58AF-492D-B201-01CD580DDA00}" type="slidenum">
              <a:rPr lang="en-SG" smtClean="0"/>
              <a:t>‹#›</a:t>
            </a:fld>
            <a:endParaRPr lang="en-SG"/>
          </a:p>
        </p:txBody>
      </p:sp>
    </p:spTree>
    <p:extLst>
      <p:ext uri="{BB962C8B-B14F-4D97-AF65-F5344CB8AC3E}">
        <p14:creationId xmlns:p14="http://schemas.microsoft.com/office/powerpoint/2010/main" val="1223764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BD24F5-A00F-5EBC-2744-A678D790A0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8F526418-D519-0DD9-DE44-6715D91BA8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1A27358C-3BDB-0794-CCE2-9FD61C68981D}"/>
              </a:ext>
            </a:extLst>
          </p:cNvPr>
          <p:cNvSpPr>
            <a:spLocks noGrp="1"/>
          </p:cNvSpPr>
          <p:nvPr>
            <p:ph type="dt" sz="half" idx="10"/>
          </p:nvPr>
        </p:nvSpPr>
        <p:spPr/>
        <p:txBody>
          <a:bodyPr/>
          <a:lstStyle/>
          <a:p>
            <a:fld id="{61668A28-7029-416B-BE36-2AAE1D402D3B}" type="datetimeFigureOut">
              <a:rPr lang="en-SG" smtClean="0"/>
              <a:t>20/10/2026</a:t>
            </a:fld>
            <a:endParaRPr lang="en-SG"/>
          </a:p>
        </p:txBody>
      </p:sp>
      <p:sp>
        <p:nvSpPr>
          <p:cNvPr id="5" name="Footer Placeholder 4">
            <a:extLst>
              <a:ext uri="{FF2B5EF4-FFF2-40B4-BE49-F238E27FC236}">
                <a16:creationId xmlns:a16="http://schemas.microsoft.com/office/drawing/2014/main" id="{1A97BCDF-1F91-3DF1-1954-49C0D19DDC7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C69265D8-599D-50E1-7D89-3F83A982C7CB}"/>
              </a:ext>
            </a:extLst>
          </p:cNvPr>
          <p:cNvSpPr>
            <a:spLocks noGrp="1"/>
          </p:cNvSpPr>
          <p:nvPr>
            <p:ph type="sldNum" sz="quarter" idx="12"/>
          </p:nvPr>
        </p:nvSpPr>
        <p:spPr/>
        <p:txBody>
          <a:bodyPr/>
          <a:lstStyle/>
          <a:p>
            <a:fld id="{D7A3C78D-58AF-492D-B201-01CD580DDA00}" type="slidenum">
              <a:rPr lang="en-SG" smtClean="0"/>
              <a:t>‹#›</a:t>
            </a:fld>
            <a:endParaRPr lang="en-SG"/>
          </a:p>
        </p:txBody>
      </p:sp>
    </p:spTree>
    <p:extLst>
      <p:ext uri="{BB962C8B-B14F-4D97-AF65-F5344CB8AC3E}">
        <p14:creationId xmlns:p14="http://schemas.microsoft.com/office/powerpoint/2010/main" val="3916081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27354C-3C19-564E-EC2D-2FE9CDAE0B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4871E529-3686-6C8A-8B3B-D3F1E1CF98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8ECBDB6-897A-E3FE-B625-2C48B9AFDE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668A28-7029-416B-BE36-2AAE1D402D3B}" type="datetimeFigureOut">
              <a:rPr lang="en-SG" smtClean="0"/>
              <a:t>20/10/2026</a:t>
            </a:fld>
            <a:endParaRPr lang="en-SG"/>
          </a:p>
        </p:txBody>
      </p:sp>
      <p:sp>
        <p:nvSpPr>
          <p:cNvPr id="5" name="Footer Placeholder 4">
            <a:extLst>
              <a:ext uri="{FF2B5EF4-FFF2-40B4-BE49-F238E27FC236}">
                <a16:creationId xmlns:a16="http://schemas.microsoft.com/office/drawing/2014/main" id="{4C2FA6F5-2023-105E-C6D5-6B1B89A3D0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4149F1BC-64D6-8834-2A3F-CA3A658D86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A3C78D-58AF-492D-B201-01CD580DDA00}" type="slidenum">
              <a:rPr lang="en-SG" smtClean="0"/>
              <a:t>‹#›</a:t>
            </a:fld>
            <a:endParaRPr lang="en-SG"/>
          </a:p>
        </p:txBody>
      </p:sp>
    </p:spTree>
    <p:extLst>
      <p:ext uri="{BB962C8B-B14F-4D97-AF65-F5344CB8AC3E}">
        <p14:creationId xmlns:p14="http://schemas.microsoft.com/office/powerpoint/2010/main" val="33079780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B2D"/>
        </a:solidFill>
        <a:effectLst/>
      </p:bgPr>
    </p:bg>
    <p:spTree>
      <p:nvGrpSpPr>
        <p:cNvPr id="1" name=""/>
        <p:cNvGrpSpPr/>
        <p:nvPr/>
      </p:nvGrpSpPr>
      <p:grpSpPr>
        <a:xfrm>
          <a:off x="0" y="0"/>
          <a:ext cx="0" cy="0"/>
          <a:chOff x="0" y="0"/>
          <a:chExt cx="0" cy="0"/>
        </a:xfrm>
      </p:grpSpPr>
      <p:sp>
        <p:nvSpPr>
          <p:cNvPr id="2" name="Course"/>
          <p:cNvSpPr txBox="1"/>
          <p:nvPr/>
        </p:nvSpPr>
        <p:spPr>
          <a:xfrm>
            <a:off x="731520" y="1325880"/>
            <a:ext cx="6949440" cy="32004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200" b="1" i="0" spc="100" dirty="0">
                <a:solidFill>
                  <a:srgbClr val="69DECC"/>
                </a:solidFill>
                <a:latin typeface="Arial"/>
                <a:cs typeface="Arial"/>
              </a:rPr>
              <a:t>CS3227 AGENTIC SOFTWARE ENGINEERING · WEEKS 8 AND 9</a:t>
            </a:r>
          </a:p>
        </p:txBody>
      </p:sp>
      <p:sp>
        <p:nvSpPr>
          <p:cNvPr id="3" name="Title"/>
          <p:cNvSpPr>
            <a:spLocks noGrp="1"/>
          </p:cNvSpPr>
          <p:nvPr>
            <p:ph type="title"/>
          </p:nvPr>
        </p:nvSpPr>
        <p:spPr>
          <a:xfrm>
            <a:off x="731520" y="1828800"/>
            <a:ext cx="6949440" cy="1600200"/>
          </a:xfrm>
        </p:spPr>
        <p:txBody>
          <a:bodyPr vert="horz" wrap="square" lIns="0" tIns="0" rIns="0" bIns="0" rtlCol="0" anchor="t">
            <a:noAutofit/>
          </a:bodyPr>
          <a:lstStyle/>
          <a:p>
            <a:pPr marL="0" indent="0" algn="l">
              <a:lnSpc>
                <a:spcPct val="95000"/>
              </a:lnSpc>
              <a:spcBef>
                <a:spcPts val="0"/>
              </a:spcBef>
              <a:spcAft>
                <a:spcPts val="0"/>
              </a:spcAft>
              <a:buNone/>
            </a:pPr>
            <a:r>
              <a:rPr lang="en-SG" sz="4600" b="1" i="0" dirty="0">
                <a:solidFill>
                  <a:srgbClr val="F5F3EB"/>
                </a:solidFill>
                <a:latin typeface="Arial"/>
                <a:cs typeface="Arial"/>
              </a:rPr>
              <a:t>Free-form summaries vs structured checklists</a:t>
            </a:r>
          </a:p>
        </p:txBody>
      </p:sp>
      <p:sp>
        <p:nvSpPr>
          <p:cNvPr id="4" name="Subtitle"/>
          <p:cNvSpPr txBox="1"/>
          <p:nvPr/>
        </p:nvSpPr>
        <p:spPr>
          <a:xfrm>
            <a:off x="731520" y="3611880"/>
            <a:ext cx="6675120" cy="914400"/>
          </a:xfrm>
          <a:prstGeom prst="rect">
            <a:avLst/>
          </a:prstGeom>
          <a:noFill/>
          <a:ln>
            <a:noFill/>
          </a:ln>
        </p:spPr>
        <p:txBody>
          <a:bodyPr vert="horz" wrap="square" lIns="0" tIns="0" rIns="0" bIns="0" rtlCol="0" anchor="t">
            <a:noAutofit/>
          </a:bodyPr>
          <a:lstStyle/>
          <a:p>
            <a:pPr marL="0" indent="0" algn="l">
              <a:lnSpc>
                <a:spcPct val="110000"/>
              </a:lnSpc>
              <a:spcBef>
                <a:spcPts val="0"/>
              </a:spcBef>
              <a:spcAft>
                <a:spcPts val="0"/>
              </a:spcAft>
              <a:buNone/>
            </a:pPr>
            <a:r>
              <a:rPr lang="en-SG" sz="2200" b="0" i="0" dirty="0">
                <a:solidFill>
                  <a:srgbClr val="B9C4D5"/>
                </a:solidFill>
                <a:latin typeface="Arial"/>
                <a:cs typeface="Arial"/>
              </a:rPr>
              <a:t>Which handoff format loses less information between AI agents?</a:t>
            </a:r>
          </a:p>
        </p:txBody>
      </p:sp>
      <p:sp>
        <p:nvSpPr>
          <p:cNvPr id="5" name="Context line"/>
          <p:cNvSpPr txBox="1"/>
          <p:nvPr/>
        </p:nvSpPr>
        <p:spPr>
          <a:xfrm>
            <a:off x="731520" y="4892040"/>
            <a:ext cx="6583680" cy="457200"/>
          </a:xfrm>
          <a:prstGeom prst="rect">
            <a:avLst/>
          </a:prstGeom>
          <a:noFill/>
          <a:ln>
            <a:noFill/>
          </a:ln>
        </p:spPr>
        <p:txBody>
          <a:bodyPr vert="horz" wrap="square" lIns="0" tIns="0" rIns="0" bIns="0" rtlCol="0" anchor="t">
            <a:noAutofit/>
          </a:bodyPr>
          <a:lstStyle/>
          <a:p>
            <a:pPr marL="0" indent="0" algn="l">
              <a:lnSpc>
                <a:spcPct val="100000"/>
              </a:lnSpc>
              <a:spcBef>
                <a:spcPts val="0"/>
              </a:spcBef>
              <a:spcAft>
                <a:spcPts val="0"/>
              </a:spcAft>
              <a:buNone/>
            </a:pPr>
            <a:r>
              <a:rPr lang="en-SG" sz="1600" b="0" i="1" dirty="0">
                <a:solidFill>
                  <a:srgbClr val="D6DDE8"/>
                </a:solidFill>
                <a:latin typeface="Arial"/>
                <a:cs typeface="Arial"/>
              </a:rPr>
              <a:t>An experiment on a real MP3 task</a:t>
            </a:r>
          </a:p>
        </p:txBody>
      </p:sp>
      <p:sp>
        <p:nvSpPr>
          <p:cNvPr id="6" name="Agent 1"/>
          <p:cNvSpPr/>
          <p:nvPr/>
        </p:nvSpPr>
        <p:spPr>
          <a:xfrm>
            <a:off x="9121140" y="1211580"/>
            <a:ext cx="1143000" cy="1143000"/>
          </a:xfrm>
          <a:prstGeom prst="ellipse">
            <a:avLst/>
          </a:prstGeom>
          <a:solidFill>
            <a:srgbClr val="1B2940"/>
          </a:solidFill>
          <a:ln w="31750">
            <a:solidFill>
              <a:srgbClr val="69DECC"/>
            </a:solidFill>
          </a:ln>
        </p:spPr>
        <p:txBody>
          <a:bodyPr vert="horz" wrap="square" lIns="0" tIns="0" rIns="0" bIns="0" rtlCol="0" anchor="ctr">
            <a:noAutofit/>
          </a:bodyPr>
          <a:lstStyle/>
          <a:p>
            <a:pPr marL="0" indent="0" algn="ctr">
              <a:lnSpc>
                <a:spcPct val="100000"/>
              </a:lnSpc>
              <a:spcBef>
                <a:spcPts val="0"/>
              </a:spcBef>
              <a:spcAft>
                <a:spcPts val="0"/>
              </a:spcAft>
              <a:buNone/>
            </a:pPr>
            <a:r>
              <a:rPr lang="en-SG" sz="1500" b="1" i="0" dirty="0">
                <a:solidFill>
                  <a:srgbClr val="F5F3EB"/>
                </a:solidFill>
                <a:latin typeface="Arial"/>
                <a:cs typeface="Arial"/>
              </a:rPr>
              <a:t>Agent 1</a:t>
            </a:r>
          </a:p>
        </p:txBody>
      </p:sp>
      <p:cxnSp>
        <p:nvCxnSpPr>
          <p:cNvPr id="7" name="Arrow"/>
          <p:cNvCxnSpPr/>
          <p:nvPr/>
        </p:nvCxnSpPr>
        <p:spPr>
          <a:xfrm>
            <a:off x="9692640" y="2423160"/>
            <a:ext cx="0" cy="320040"/>
          </a:xfrm>
          <a:prstGeom prst="straightConnector1">
            <a:avLst/>
          </a:prstGeom>
          <a:ln w="28575">
            <a:solidFill>
              <a:srgbClr val="7F8EA6"/>
            </a:solidFill>
            <a:tailEnd type="triangle" w="med" len="med"/>
          </a:ln>
        </p:spPr>
      </p:cxnSp>
      <p:sp>
        <p:nvSpPr>
          <p:cNvPr id="8" name="Handoff document" descr="A handoff document passes from Agent 1 to Agent 2"/>
          <p:cNvSpPr/>
          <p:nvPr/>
        </p:nvSpPr>
        <p:spPr>
          <a:xfrm>
            <a:off x="9006840" y="2788920"/>
            <a:ext cx="1371600" cy="1325880"/>
          </a:xfrm>
          <a:prstGeom prst="roundRect">
            <a:avLst>
              <a:gd name="adj" fmla="val 5517"/>
            </a:avLst>
          </a:prstGeom>
          <a:solidFill>
            <a:srgbClr val="24334B"/>
          </a:solidFill>
          <a:ln>
            <a:noFill/>
          </a:ln>
        </p:spPr>
      </p:sp>
      <p:sp>
        <p:nvSpPr>
          <p:cNvPr id="9" name="Text line"/>
          <p:cNvSpPr/>
          <p:nvPr/>
        </p:nvSpPr>
        <p:spPr>
          <a:xfrm>
            <a:off x="9208008" y="3017520"/>
            <a:ext cx="969264" cy="54864"/>
          </a:xfrm>
          <a:prstGeom prst="roundRect">
            <a:avLst>
              <a:gd name="adj" fmla="val 50000"/>
            </a:avLst>
          </a:prstGeom>
          <a:solidFill>
            <a:srgbClr val="5A6B86"/>
          </a:solidFill>
          <a:ln>
            <a:noFill/>
          </a:ln>
        </p:spPr>
      </p:sp>
      <p:sp>
        <p:nvSpPr>
          <p:cNvPr id="10" name="Text line"/>
          <p:cNvSpPr/>
          <p:nvPr/>
        </p:nvSpPr>
        <p:spPr>
          <a:xfrm>
            <a:off x="9208008" y="3200400"/>
            <a:ext cx="891723" cy="54864"/>
          </a:xfrm>
          <a:prstGeom prst="roundRect">
            <a:avLst>
              <a:gd name="adj" fmla="val 50000"/>
            </a:avLst>
          </a:prstGeom>
          <a:solidFill>
            <a:srgbClr val="5A6B86"/>
          </a:solidFill>
          <a:ln>
            <a:noFill/>
          </a:ln>
        </p:spPr>
      </p:sp>
      <p:sp>
        <p:nvSpPr>
          <p:cNvPr id="11" name="Text line"/>
          <p:cNvSpPr/>
          <p:nvPr/>
        </p:nvSpPr>
        <p:spPr>
          <a:xfrm>
            <a:off x="9208008" y="3383280"/>
            <a:ext cx="940186" cy="54864"/>
          </a:xfrm>
          <a:prstGeom prst="roundRect">
            <a:avLst>
              <a:gd name="adj" fmla="val 50000"/>
            </a:avLst>
          </a:prstGeom>
          <a:solidFill>
            <a:srgbClr val="5A6B86"/>
          </a:solidFill>
          <a:ln>
            <a:noFill/>
          </a:ln>
        </p:spPr>
      </p:sp>
      <p:sp>
        <p:nvSpPr>
          <p:cNvPr id="12" name="Text line"/>
          <p:cNvSpPr/>
          <p:nvPr/>
        </p:nvSpPr>
        <p:spPr>
          <a:xfrm>
            <a:off x="9208008" y="3566160"/>
            <a:ext cx="823874" cy="54864"/>
          </a:xfrm>
          <a:prstGeom prst="roundRect">
            <a:avLst>
              <a:gd name="adj" fmla="val 50000"/>
            </a:avLst>
          </a:prstGeom>
          <a:solidFill>
            <a:srgbClr val="5A6B86"/>
          </a:solidFill>
          <a:ln>
            <a:noFill/>
          </a:ln>
        </p:spPr>
      </p:sp>
      <p:sp>
        <p:nvSpPr>
          <p:cNvPr id="13" name="Text line"/>
          <p:cNvSpPr/>
          <p:nvPr/>
        </p:nvSpPr>
        <p:spPr>
          <a:xfrm>
            <a:off x="9208008" y="3749040"/>
            <a:ext cx="969264" cy="54864"/>
          </a:xfrm>
          <a:prstGeom prst="roundRect">
            <a:avLst>
              <a:gd name="adj" fmla="val 50000"/>
            </a:avLst>
          </a:prstGeom>
          <a:solidFill>
            <a:srgbClr val="5A6B86"/>
          </a:solidFill>
          <a:ln>
            <a:noFill/>
          </a:ln>
        </p:spPr>
      </p:sp>
      <p:sp>
        <p:nvSpPr>
          <p:cNvPr id="14" name="Handoff label"/>
          <p:cNvSpPr txBox="1"/>
          <p:nvPr/>
        </p:nvSpPr>
        <p:spPr>
          <a:xfrm>
            <a:off x="10515600" y="3246120"/>
            <a:ext cx="1280160" cy="36576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500" b="1" i="0" dirty="0">
                <a:solidFill>
                  <a:srgbClr val="FFC36A"/>
                </a:solidFill>
                <a:latin typeface="Arial"/>
                <a:cs typeface="Arial"/>
              </a:rPr>
              <a:t>Handoff</a:t>
            </a:r>
          </a:p>
        </p:txBody>
      </p:sp>
      <p:cxnSp>
        <p:nvCxnSpPr>
          <p:cNvPr id="15" name="Arrow"/>
          <p:cNvCxnSpPr/>
          <p:nvPr/>
        </p:nvCxnSpPr>
        <p:spPr>
          <a:xfrm>
            <a:off x="9692640" y="4160520"/>
            <a:ext cx="0" cy="320040"/>
          </a:xfrm>
          <a:prstGeom prst="straightConnector1">
            <a:avLst/>
          </a:prstGeom>
          <a:ln w="28575">
            <a:solidFill>
              <a:srgbClr val="7F8EA6"/>
            </a:solidFill>
            <a:tailEnd type="triangle" w="med" len="med"/>
          </a:ln>
        </p:spPr>
      </p:cxnSp>
      <p:sp>
        <p:nvSpPr>
          <p:cNvPr id="16" name="Agent 2"/>
          <p:cNvSpPr/>
          <p:nvPr/>
        </p:nvSpPr>
        <p:spPr>
          <a:xfrm>
            <a:off x="9121140" y="4549140"/>
            <a:ext cx="1143000" cy="1143000"/>
          </a:xfrm>
          <a:prstGeom prst="ellipse">
            <a:avLst/>
          </a:prstGeom>
          <a:solidFill>
            <a:srgbClr val="1B2940"/>
          </a:solidFill>
          <a:ln w="31750">
            <a:solidFill>
              <a:srgbClr val="69DECC"/>
            </a:solidFill>
          </a:ln>
        </p:spPr>
        <p:txBody>
          <a:bodyPr vert="horz" wrap="square" lIns="0" tIns="0" rIns="0" bIns="0" rtlCol="0" anchor="ctr">
            <a:noAutofit/>
          </a:bodyPr>
          <a:lstStyle/>
          <a:p>
            <a:pPr marL="0" indent="0" algn="ctr">
              <a:lnSpc>
                <a:spcPct val="100000"/>
              </a:lnSpc>
              <a:spcBef>
                <a:spcPts val="0"/>
              </a:spcBef>
              <a:spcAft>
                <a:spcPts val="0"/>
              </a:spcAft>
              <a:buNone/>
            </a:pPr>
            <a:r>
              <a:rPr lang="en-SG" sz="1500" b="1" i="0" dirty="0">
                <a:solidFill>
                  <a:srgbClr val="F5F3EB"/>
                </a:solidFill>
                <a:latin typeface="Arial"/>
                <a:cs typeface="Arial"/>
              </a:rPr>
              <a:t>Agent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1B2D"/>
        </a:solidFill>
        <a:effectLst/>
      </p:bgPr>
    </p:bg>
    <p:spTree>
      <p:nvGrpSpPr>
        <p:cNvPr id="1" name=""/>
        <p:cNvGrpSpPr/>
        <p:nvPr/>
      </p:nvGrpSpPr>
      <p:grpSpPr>
        <a:xfrm>
          <a:off x="0" y="0"/>
          <a:ext cx="0" cy="0"/>
          <a:chOff x="0" y="0"/>
          <a:chExt cx="0" cy="0"/>
        </a:xfrm>
      </p:grpSpPr>
      <p:sp>
        <p:nvSpPr>
          <p:cNvPr id="2" name="Section label"/>
          <p:cNvSpPr txBox="1"/>
          <p:nvPr/>
        </p:nvSpPr>
        <p:spPr>
          <a:xfrm>
            <a:off x="548640" y="329184"/>
            <a:ext cx="9144000" cy="27432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200" b="1" i="0" spc="100" dirty="0">
                <a:solidFill>
                  <a:srgbClr val="69DECC"/>
                </a:solidFill>
                <a:latin typeface="Arial"/>
                <a:cs typeface="Arial"/>
              </a:rPr>
              <a:t>WHY THIS EXPERIMENT</a:t>
            </a:r>
          </a:p>
        </p:txBody>
      </p:sp>
      <p:sp>
        <p:nvSpPr>
          <p:cNvPr id="3" name="Title"/>
          <p:cNvSpPr>
            <a:spLocks noGrp="1"/>
          </p:cNvSpPr>
          <p:nvPr>
            <p:ph type="title"/>
          </p:nvPr>
        </p:nvSpPr>
        <p:spPr>
          <a:xfrm>
            <a:off x="548640" y="658368"/>
            <a:ext cx="11091672" cy="658368"/>
          </a:xfrm>
        </p:spPr>
        <p:txBody>
          <a:bodyPr vert="horz" wrap="square" lIns="0" tIns="0" rIns="0" bIns="0" rtlCol="0" anchor="t">
            <a:noAutofit/>
          </a:bodyPr>
          <a:lstStyle/>
          <a:p>
            <a:pPr marL="0" indent="0" algn="l">
              <a:lnSpc>
                <a:spcPct val="95000"/>
              </a:lnSpc>
              <a:spcBef>
                <a:spcPts val="0"/>
              </a:spcBef>
              <a:spcAft>
                <a:spcPts val="0"/>
              </a:spcAft>
              <a:buNone/>
            </a:pPr>
            <a:r>
              <a:rPr lang="en-SG" sz="3000" b="1" i="0" dirty="0">
                <a:solidFill>
                  <a:srgbClr val="F5F3EB"/>
                </a:solidFill>
                <a:latin typeface="Arial"/>
                <a:cs typeface="Arial"/>
              </a:rPr>
              <a:t>Our MP3 agents pass work along in handoffs</a:t>
            </a:r>
          </a:p>
        </p:txBody>
      </p:sp>
      <p:sp>
        <p:nvSpPr>
          <p:cNvPr id="4" name="Lead"/>
          <p:cNvSpPr txBox="1"/>
          <p:nvPr/>
        </p:nvSpPr>
        <p:spPr>
          <a:xfrm>
            <a:off x="548640" y="1353312"/>
            <a:ext cx="11091672" cy="731520"/>
          </a:xfrm>
          <a:prstGeom prst="rect">
            <a:avLst/>
          </a:prstGeom>
          <a:noFill/>
          <a:ln>
            <a:noFill/>
          </a:ln>
        </p:spPr>
        <p:txBody>
          <a:bodyPr vert="horz" wrap="square" lIns="0" tIns="0" rIns="0" bIns="0" rtlCol="0" anchor="t">
            <a:noAutofit/>
          </a:bodyPr>
          <a:lstStyle/>
          <a:p>
            <a:pPr marL="0" indent="0" algn="l">
              <a:lnSpc>
                <a:spcPct val="110000"/>
              </a:lnSpc>
              <a:spcBef>
                <a:spcPts val="0"/>
              </a:spcBef>
              <a:spcAft>
                <a:spcPts val="0"/>
              </a:spcAft>
              <a:buNone/>
            </a:pPr>
            <a:r>
              <a:rPr lang="en-SG" sz="1800" b="0" i="0" dirty="0">
                <a:solidFill>
                  <a:srgbClr val="D6DDE8"/>
                </a:solidFill>
                <a:latin typeface="Arial"/>
                <a:cs typeface="Arial"/>
              </a:rPr>
              <a:t>In a multi-agent workflow (Week 8), each agent ends its task by handing off to the next agent. The next agent starts fresh, so the handoff is all it knows.</a:t>
            </a:r>
          </a:p>
        </p:txBody>
      </p:sp>
      <p:sp>
        <p:nvSpPr>
          <p:cNvPr id="5" name="Slide number"/>
          <p:cNvSpPr txBox="1"/>
          <p:nvPr/>
        </p:nvSpPr>
        <p:spPr>
          <a:xfrm>
            <a:off x="10424160" y="6382512"/>
            <a:ext cx="1216152" cy="256032"/>
          </a:xfrm>
          <a:prstGeom prst="rect">
            <a:avLst/>
          </a:prstGeom>
          <a:noFill/>
          <a:ln>
            <a:noFill/>
          </a:ln>
        </p:spPr>
        <p:txBody>
          <a:bodyPr vert="horz" wrap="square" lIns="0" tIns="0" rIns="0" bIns="0" rtlCol="0" anchor="ctr">
            <a:noAutofit/>
          </a:bodyPr>
          <a:lstStyle/>
          <a:p>
            <a:pPr marL="0" indent="0" algn="r">
              <a:lnSpc>
                <a:spcPct val="100000"/>
              </a:lnSpc>
              <a:spcBef>
                <a:spcPts val="0"/>
              </a:spcBef>
              <a:spcAft>
                <a:spcPts val="0"/>
              </a:spcAft>
              <a:buNone/>
            </a:pPr>
            <a:r>
              <a:rPr lang="en-SG" sz="1050" b="0" i="0" dirty="0">
                <a:solidFill>
                  <a:srgbClr val="B9C4D5"/>
                </a:solidFill>
                <a:latin typeface="Arial"/>
                <a:cs typeface="Arial"/>
              </a:rPr>
              <a:t>2 / 12</a:t>
            </a:r>
          </a:p>
        </p:txBody>
      </p:sp>
      <p:sp>
        <p:nvSpPr>
          <p:cNvPr id="6" name="Label"/>
          <p:cNvSpPr txBox="1"/>
          <p:nvPr/>
        </p:nvSpPr>
        <p:spPr>
          <a:xfrm>
            <a:off x="548640" y="2240280"/>
            <a:ext cx="7315200" cy="27432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200" b="1" i="0" spc="100" dirty="0">
                <a:solidFill>
                  <a:srgbClr val="69DECC"/>
                </a:solidFill>
                <a:latin typeface="Arial"/>
                <a:cs typeface="Arial"/>
              </a:rPr>
              <a:t>OUR MP3 WORKFLOW, FOR EACH FEATURE</a:t>
            </a:r>
          </a:p>
        </p:txBody>
      </p:sp>
      <p:sp>
        <p:nvSpPr>
          <p:cNvPr id="7" name="Spec writer" descr="Our MP3 agent chain: spec writer, test writer, implementer, reviewer, each passing a handoff on"/>
          <p:cNvSpPr/>
          <p:nvPr/>
        </p:nvSpPr>
        <p:spPr>
          <a:xfrm>
            <a:off x="548640" y="2606040"/>
            <a:ext cx="2148840" cy="1097280"/>
          </a:xfrm>
          <a:prstGeom prst="roundRect">
            <a:avLst>
              <a:gd name="adj" fmla="val 6666"/>
            </a:avLst>
          </a:prstGeom>
          <a:solidFill>
            <a:srgbClr val="1B2940"/>
          </a:solidFill>
          <a:ln>
            <a:noFill/>
          </a:ln>
        </p:spPr>
        <p:txBody>
          <a:bodyPr vert="horz" wrap="square" lIns="182880" tIns="73152" rIns="137160" bIns="73152" rtlCol="0" anchor="ctr">
            <a:noAutofit/>
          </a:bodyPr>
          <a:lstStyle/>
          <a:p>
            <a:pPr marL="0" indent="0" algn="l">
              <a:lnSpc>
                <a:spcPct val="100000"/>
              </a:lnSpc>
              <a:spcBef>
                <a:spcPts val="0"/>
              </a:spcBef>
              <a:spcAft>
                <a:spcPts val="200"/>
              </a:spcAft>
              <a:buNone/>
            </a:pPr>
            <a:r>
              <a:rPr lang="en-SG" sz="1600" b="1" i="0" dirty="0">
                <a:solidFill>
                  <a:srgbClr val="F5F3EB"/>
                </a:solidFill>
                <a:latin typeface="Arial"/>
                <a:cs typeface="Arial"/>
              </a:rPr>
              <a:t>Spec writer</a:t>
            </a:r>
          </a:p>
          <a:p>
            <a:pPr marL="0" indent="0" algn="l">
              <a:lnSpc>
                <a:spcPct val="100000"/>
              </a:lnSpc>
              <a:spcBef>
                <a:spcPts val="0"/>
              </a:spcBef>
              <a:spcAft>
                <a:spcPts val="0"/>
              </a:spcAft>
              <a:buNone/>
            </a:pPr>
            <a:r>
              <a:rPr lang="en-SG" sz="1300" b="0" i="0" dirty="0">
                <a:solidFill>
                  <a:srgbClr val="B9C4D5"/>
                </a:solidFill>
                <a:latin typeface="Arial"/>
                <a:cs typeface="Arial"/>
              </a:rPr>
              <a:t>writes the requirements</a:t>
            </a:r>
          </a:p>
        </p:txBody>
      </p:sp>
      <p:cxnSp>
        <p:nvCxnSpPr>
          <p:cNvPr id="8" name="Arrow"/>
          <p:cNvCxnSpPr/>
          <p:nvPr/>
        </p:nvCxnSpPr>
        <p:spPr>
          <a:xfrm>
            <a:off x="2743200" y="3154680"/>
            <a:ext cx="740664" cy="0"/>
          </a:xfrm>
          <a:prstGeom prst="straightConnector1">
            <a:avLst/>
          </a:prstGeom>
          <a:ln w="25400">
            <a:solidFill>
              <a:srgbClr val="7F8EA6"/>
            </a:solidFill>
            <a:tailEnd type="triangle" w="med" len="med"/>
          </a:ln>
        </p:spPr>
      </p:cxnSp>
      <p:sp>
        <p:nvSpPr>
          <p:cNvPr id="9" name="Handoff icon"/>
          <p:cNvSpPr/>
          <p:nvPr/>
        </p:nvSpPr>
        <p:spPr>
          <a:xfrm>
            <a:off x="2921508" y="2916936"/>
            <a:ext cx="384048" cy="475488"/>
          </a:xfrm>
          <a:prstGeom prst="roundRect">
            <a:avLst>
              <a:gd name="adj" fmla="val 11904"/>
            </a:avLst>
          </a:prstGeom>
          <a:solidFill>
            <a:srgbClr val="24334B"/>
          </a:solidFill>
          <a:ln w="15875">
            <a:solidFill>
              <a:srgbClr val="FFC36A"/>
            </a:solidFill>
          </a:ln>
        </p:spPr>
      </p:sp>
      <p:sp>
        <p:nvSpPr>
          <p:cNvPr id="10" name="Text line"/>
          <p:cNvSpPr/>
          <p:nvPr/>
        </p:nvSpPr>
        <p:spPr>
          <a:xfrm>
            <a:off x="3003804" y="3026664"/>
            <a:ext cx="219456" cy="54864"/>
          </a:xfrm>
          <a:prstGeom prst="roundRect">
            <a:avLst>
              <a:gd name="adj" fmla="val 50000"/>
            </a:avLst>
          </a:prstGeom>
          <a:solidFill>
            <a:srgbClr val="FFC36A"/>
          </a:solidFill>
          <a:ln>
            <a:noFill/>
          </a:ln>
        </p:spPr>
      </p:sp>
      <p:sp>
        <p:nvSpPr>
          <p:cNvPr id="11" name="Text line"/>
          <p:cNvSpPr/>
          <p:nvPr/>
        </p:nvSpPr>
        <p:spPr>
          <a:xfrm>
            <a:off x="3003804" y="3118104"/>
            <a:ext cx="175565" cy="54864"/>
          </a:xfrm>
          <a:prstGeom prst="roundRect">
            <a:avLst>
              <a:gd name="adj" fmla="val 50000"/>
            </a:avLst>
          </a:prstGeom>
          <a:solidFill>
            <a:srgbClr val="FFC36A"/>
          </a:solidFill>
          <a:ln>
            <a:noFill/>
          </a:ln>
        </p:spPr>
      </p:sp>
      <p:sp>
        <p:nvSpPr>
          <p:cNvPr id="12" name="Text line"/>
          <p:cNvSpPr/>
          <p:nvPr/>
        </p:nvSpPr>
        <p:spPr>
          <a:xfrm>
            <a:off x="3003804" y="3209544"/>
            <a:ext cx="208483" cy="54864"/>
          </a:xfrm>
          <a:prstGeom prst="roundRect">
            <a:avLst>
              <a:gd name="adj" fmla="val 50000"/>
            </a:avLst>
          </a:prstGeom>
          <a:solidFill>
            <a:srgbClr val="FFC36A"/>
          </a:solidFill>
          <a:ln>
            <a:noFill/>
          </a:ln>
        </p:spPr>
      </p:sp>
      <p:sp>
        <p:nvSpPr>
          <p:cNvPr id="13" name="Handoff label"/>
          <p:cNvSpPr txBox="1"/>
          <p:nvPr/>
        </p:nvSpPr>
        <p:spPr>
          <a:xfrm>
            <a:off x="2702052" y="3456432"/>
            <a:ext cx="822960" cy="256032"/>
          </a:xfrm>
          <a:prstGeom prst="rect">
            <a:avLst/>
          </a:prstGeom>
          <a:noFill/>
          <a:ln>
            <a:noFill/>
          </a:ln>
        </p:spPr>
        <p:txBody>
          <a:bodyPr vert="horz" wrap="square" lIns="0" tIns="0" rIns="0" bIns="0" rtlCol="0" anchor="ctr">
            <a:noAutofit/>
          </a:bodyPr>
          <a:lstStyle/>
          <a:p>
            <a:pPr marL="0" indent="0" algn="ctr">
              <a:lnSpc>
                <a:spcPct val="100000"/>
              </a:lnSpc>
              <a:spcBef>
                <a:spcPts val="0"/>
              </a:spcBef>
              <a:spcAft>
                <a:spcPts val="0"/>
              </a:spcAft>
              <a:buNone/>
            </a:pPr>
            <a:r>
              <a:rPr lang="en-SG" sz="1100" b="1" i="0" dirty="0">
                <a:solidFill>
                  <a:srgbClr val="FFC36A"/>
                </a:solidFill>
                <a:latin typeface="Arial"/>
                <a:cs typeface="Arial"/>
              </a:rPr>
              <a:t>handoff</a:t>
            </a:r>
          </a:p>
        </p:txBody>
      </p:sp>
      <p:sp>
        <p:nvSpPr>
          <p:cNvPr id="14" name="Test writer"/>
          <p:cNvSpPr/>
          <p:nvPr/>
        </p:nvSpPr>
        <p:spPr>
          <a:xfrm>
            <a:off x="3529584" y="2606040"/>
            <a:ext cx="2148840" cy="1097280"/>
          </a:xfrm>
          <a:prstGeom prst="roundRect">
            <a:avLst>
              <a:gd name="adj" fmla="val 6666"/>
            </a:avLst>
          </a:prstGeom>
          <a:solidFill>
            <a:srgbClr val="1B2940"/>
          </a:solidFill>
          <a:ln>
            <a:noFill/>
          </a:ln>
        </p:spPr>
        <p:txBody>
          <a:bodyPr vert="horz" wrap="square" lIns="182880" tIns="73152" rIns="137160" bIns="73152" rtlCol="0" anchor="ctr">
            <a:noAutofit/>
          </a:bodyPr>
          <a:lstStyle/>
          <a:p>
            <a:pPr marL="0" indent="0" algn="l">
              <a:lnSpc>
                <a:spcPct val="100000"/>
              </a:lnSpc>
              <a:spcBef>
                <a:spcPts val="0"/>
              </a:spcBef>
              <a:spcAft>
                <a:spcPts val="200"/>
              </a:spcAft>
              <a:buNone/>
            </a:pPr>
            <a:r>
              <a:rPr lang="en-SG" sz="1600" b="1" i="0" dirty="0">
                <a:solidFill>
                  <a:srgbClr val="F5F3EB"/>
                </a:solidFill>
                <a:latin typeface="Arial"/>
                <a:cs typeface="Arial"/>
              </a:rPr>
              <a:t>Test writer</a:t>
            </a:r>
          </a:p>
          <a:p>
            <a:pPr marL="0" indent="0" algn="l">
              <a:lnSpc>
                <a:spcPct val="100000"/>
              </a:lnSpc>
              <a:spcBef>
                <a:spcPts val="0"/>
              </a:spcBef>
              <a:spcAft>
                <a:spcPts val="0"/>
              </a:spcAft>
              <a:buNone/>
            </a:pPr>
            <a:r>
              <a:rPr lang="en-SG" sz="1300" b="0" i="0" dirty="0">
                <a:solidFill>
                  <a:srgbClr val="B9C4D5"/>
                </a:solidFill>
                <a:latin typeface="Arial"/>
                <a:cs typeface="Arial"/>
              </a:rPr>
              <a:t>writes tests for them</a:t>
            </a:r>
          </a:p>
        </p:txBody>
      </p:sp>
      <p:cxnSp>
        <p:nvCxnSpPr>
          <p:cNvPr id="15" name="Arrow"/>
          <p:cNvCxnSpPr/>
          <p:nvPr/>
        </p:nvCxnSpPr>
        <p:spPr>
          <a:xfrm>
            <a:off x="5724144" y="3154680"/>
            <a:ext cx="740664" cy="0"/>
          </a:xfrm>
          <a:prstGeom prst="straightConnector1">
            <a:avLst/>
          </a:prstGeom>
          <a:ln w="25400">
            <a:solidFill>
              <a:srgbClr val="7F8EA6"/>
            </a:solidFill>
            <a:tailEnd type="triangle" w="med" len="med"/>
          </a:ln>
        </p:spPr>
      </p:cxnSp>
      <p:sp>
        <p:nvSpPr>
          <p:cNvPr id="16" name="Handoff icon"/>
          <p:cNvSpPr/>
          <p:nvPr/>
        </p:nvSpPr>
        <p:spPr>
          <a:xfrm>
            <a:off x="5902452" y="2916936"/>
            <a:ext cx="384048" cy="475488"/>
          </a:xfrm>
          <a:prstGeom prst="roundRect">
            <a:avLst>
              <a:gd name="adj" fmla="val 11904"/>
            </a:avLst>
          </a:prstGeom>
          <a:solidFill>
            <a:srgbClr val="24334B"/>
          </a:solidFill>
          <a:ln w="15875">
            <a:solidFill>
              <a:srgbClr val="FFC36A"/>
            </a:solidFill>
          </a:ln>
        </p:spPr>
      </p:sp>
      <p:sp>
        <p:nvSpPr>
          <p:cNvPr id="17" name="Text line"/>
          <p:cNvSpPr/>
          <p:nvPr/>
        </p:nvSpPr>
        <p:spPr>
          <a:xfrm>
            <a:off x="5984748" y="3026664"/>
            <a:ext cx="219456" cy="54864"/>
          </a:xfrm>
          <a:prstGeom prst="roundRect">
            <a:avLst>
              <a:gd name="adj" fmla="val 50000"/>
            </a:avLst>
          </a:prstGeom>
          <a:solidFill>
            <a:srgbClr val="FFC36A"/>
          </a:solidFill>
          <a:ln>
            <a:noFill/>
          </a:ln>
        </p:spPr>
      </p:sp>
      <p:sp>
        <p:nvSpPr>
          <p:cNvPr id="18" name="Text line"/>
          <p:cNvSpPr/>
          <p:nvPr/>
        </p:nvSpPr>
        <p:spPr>
          <a:xfrm>
            <a:off x="5984748" y="3118104"/>
            <a:ext cx="175565" cy="54864"/>
          </a:xfrm>
          <a:prstGeom prst="roundRect">
            <a:avLst>
              <a:gd name="adj" fmla="val 50000"/>
            </a:avLst>
          </a:prstGeom>
          <a:solidFill>
            <a:srgbClr val="FFC36A"/>
          </a:solidFill>
          <a:ln>
            <a:noFill/>
          </a:ln>
        </p:spPr>
      </p:sp>
      <p:sp>
        <p:nvSpPr>
          <p:cNvPr id="19" name="Text line"/>
          <p:cNvSpPr/>
          <p:nvPr/>
        </p:nvSpPr>
        <p:spPr>
          <a:xfrm>
            <a:off x="5984748" y="3209544"/>
            <a:ext cx="208483" cy="54864"/>
          </a:xfrm>
          <a:prstGeom prst="roundRect">
            <a:avLst>
              <a:gd name="adj" fmla="val 50000"/>
            </a:avLst>
          </a:prstGeom>
          <a:solidFill>
            <a:srgbClr val="FFC36A"/>
          </a:solidFill>
          <a:ln>
            <a:noFill/>
          </a:ln>
        </p:spPr>
      </p:sp>
      <p:sp>
        <p:nvSpPr>
          <p:cNvPr id="20" name="Handoff label"/>
          <p:cNvSpPr txBox="1"/>
          <p:nvPr/>
        </p:nvSpPr>
        <p:spPr>
          <a:xfrm>
            <a:off x="5682996" y="3456432"/>
            <a:ext cx="822960" cy="256032"/>
          </a:xfrm>
          <a:prstGeom prst="rect">
            <a:avLst/>
          </a:prstGeom>
          <a:noFill/>
          <a:ln>
            <a:noFill/>
          </a:ln>
        </p:spPr>
        <p:txBody>
          <a:bodyPr vert="horz" wrap="square" lIns="0" tIns="0" rIns="0" bIns="0" rtlCol="0" anchor="ctr">
            <a:noAutofit/>
          </a:bodyPr>
          <a:lstStyle/>
          <a:p>
            <a:pPr marL="0" indent="0" algn="ctr">
              <a:lnSpc>
                <a:spcPct val="100000"/>
              </a:lnSpc>
              <a:spcBef>
                <a:spcPts val="0"/>
              </a:spcBef>
              <a:spcAft>
                <a:spcPts val="0"/>
              </a:spcAft>
              <a:buNone/>
            </a:pPr>
            <a:r>
              <a:rPr lang="en-SG" sz="1100" b="1" i="0" dirty="0">
                <a:solidFill>
                  <a:srgbClr val="FFC36A"/>
                </a:solidFill>
                <a:latin typeface="Arial"/>
                <a:cs typeface="Arial"/>
              </a:rPr>
              <a:t>handoff</a:t>
            </a:r>
          </a:p>
        </p:txBody>
      </p:sp>
      <p:sp>
        <p:nvSpPr>
          <p:cNvPr id="21" name="Implementer"/>
          <p:cNvSpPr/>
          <p:nvPr/>
        </p:nvSpPr>
        <p:spPr>
          <a:xfrm>
            <a:off x="6510528" y="2606040"/>
            <a:ext cx="2148840" cy="1097280"/>
          </a:xfrm>
          <a:prstGeom prst="roundRect">
            <a:avLst>
              <a:gd name="adj" fmla="val 6666"/>
            </a:avLst>
          </a:prstGeom>
          <a:solidFill>
            <a:srgbClr val="1B2940"/>
          </a:solidFill>
          <a:ln>
            <a:noFill/>
          </a:ln>
        </p:spPr>
        <p:txBody>
          <a:bodyPr vert="horz" wrap="square" lIns="182880" tIns="73152" rIns="137160" bIns="73152" rtlCol="0" anchor="ctr">
            <a:noAutofit/>
          </a:bodyPr>
          <a:lstStyle/>
          <a:p>
            <a:pPr marL="0" indent="0" algn="l">
              <a:lnSpc>
                <a:spcPct val="100000"/>
              </a:lnSpc>
              <a:spcBef>
                <a:spcPts val="0"/>
              </a:spcBef>
              <a:spcAft>
                <a:spcPts val="200"/>
              </a:spcAft>
              <a:buNone/>
            </a:pPr>
            <a:r>
              <a:rPr lang="en-SG" sz="1600" b="1" i="0" dirty="0">
                <a:solidFill>
                  <a:srgbClr val="F5F3EB"/>
                </a:solidFill>
                <a:latin typeface="Arial"/>
                <a:cs typeface="Arial"/>
              </a:rPr>
              <a:t>Implementer</a:t>
            </a:r>
          </a:p>
          <a:p>
            <a:pPr marL="0" indent="0" algn="l">
              <a:lnSpc>
                <a:spcPct val="100000"/>
              </a:lnSpc>
              <a:spcBef>
                <a:spcPts val="0"/>
              </a:spcBef>
              <a:spcAft>
                <a:spcPts val="0"/>
              </a:spcAft>
              <a:buNone/>
            </a:pPr>
            <a:r>
              <a:rPr lang="en-SG" sz="1300" b="0" i="0" dirty="0">
                <a:solidFill>
                  <a:srgbClr val="B9C4D5"/>
                </a:solidFill>
                <a:latin typeface="Arial"/>
                <a:cs typeface="Arial"/>
              </a:rPr>
              <a:t>writes the code</a:t>
            </a:r>
          </a:p>
        </p:txBody>
      </p:sp>
      <p:cxnSp>
        <p:nvCxnSpPr>
          <p:cNvPr id="22" name="Arrow"/>
          <p:cNvCxnSpPr/>
          <p:nvPr/>
        </p:nvCxnSpPr>
        <p:spPr>
          <a:xfrm>
            <a:off x="8705088" y="3154680"/>
            <a:ext cx="740664" cy="0"/>
          </a:xfrm>
          <a:prstGeom prst="straightConnector1">
            <a:avLst/>
          </a:prstGeom>
          <a:ln w="25400">
            <a:solidFill>
              <a:srgbClr val="7F8EA6"/>
            </a:solidFill>
            <a:tailEnd type="triangle" w="med" len="med"/>
          </a:ln>
        </p:spPr>
      </p:cxnSp>
      <p:sp>
        <p:nvSpPr>
          <p:cNvPr id="23" name="Handoff icon"/>
          <p:cNvSpPr/>
          <p:nvPr/>
        </p:nvSpPr>
        <p:spPr>
          <a:xfrm>
            <a:off x="8883396" y="2916936"/>
            <a:ext cx="384048" cy="475488"/>
          </a:xfrm>
          <a:prstGeom prst="roundRect">
            <a:avLst>
              <a:gd name="adj" fmla="val 11904"/>
            </a:avLst>
          </a:prstGeom>
          <a:solidFill>
            <a:srgbClr val="24334B"/>
          </a:solidFill>
          <a:ln w="15875">
            <a:solidFill>
              <a:srgbClr val="FFC36A"/>
            </a:solidFill>
          </a:ln>
        </p:spPr>
      </p:sp>
      <p:sp>
        <p:nvSpPr>
          <p:cNvPr id="24" name="Text line"/>
          <p:cNvSpPr/>
          <p:nvPr/>
        </p:nvSpPr>
        <p:spPr>
          <a:xfrm>
            <a:off x="8965692" y="3026664"/>
            <a:ext cx="219456" cy="54864"/>
          </a:xfrm>
          <a:prstGeom prst="roundRect">
            <a:avLst>
              <a:gd name="adj" fmla="val 50000"/>
            </a:avLst>
          </a:prstGeom>
          <a:solidFill>
            <a:srgbClr val="FFC36A"/>
          </a:solidFill>
          <a:ln>
            <a:noFill/>
          </a:ln>
        </p:spPr>
      </p:sp>
      <p:sp>
        <p:nvSpPr>
          <p:cNvPr id="25" name="Text line"/>
          <p:cNvSpPr/>
          <p:nvPr/>
        </p:nvSpPr>
        <p:spPr>
          <a:xfrm>
            <a:off x="8965692" y="3118104"/>
            <a:ext cx="175565" cy="54864"/>
          </a:xfrm>
          <a:prstGeom prst="roundRect">
            <a:avLst>
              <a:gd name="adj" fmla="val 50000"/>
            </a:avLst>
          </a:prstGeom>
          <a:solidFill>
            <a:srgbClr val="FFC36A"/>
          </a:solidFill>
          <a:ln>
            <a:noFill/>
          </a:ln>
        </p:spPr>
      </p:sp>
      <p:sp>
        <p:nvSpPr>
          <p:cNvPr id="26" name="Text line"/>
          <p:cNvSpPr/>
          <p:nvPr/>
        </p:nvSpPr>
        <p:spPr>
          <a:xfrm>
            <a:off x="8965692" y="3209544"/>
            <a:ext cx="208483" cy="54864"/>
          </a:xfrm>
          <a:prstGeom prst="roundRect">
            <a:avLst>
              <a:gd name="adj" fmla="val 50000"/>
            </a:avLst>
          </a:prstGeom>
          <a:solidFill>
            <a:srgbClr val="FFC36A"/>
          </a:solidFill>
          <a:ln>
            <a:noFill/>
          </a:ln>
        </p:spPr>
      </p:sp>
      <p:sp>
        <p:nvSpPr>
          <p:cNvPr id="27" name="Handoff label"/>
          <p:cNvSpPr txBox="1"/>
          <p:nvPr/>
        </p:nvSpPr>
        <p:spPr>
          <a:xfrm>
            <a:off x="8663940" y="3456432"/>
            <a:ext cx="822960" cy="256032"/>
          </a:xfrm>
          <a:prstGeom prst="rect">
            <a:avLst/>
          </a:prstGeom>
          <a:noFill/>
          <a:ln>
            <a:noFill/>
          </a:ln>
        </p:spPr>
        <p:txBody>
          <a:bodyPr vert="horz" wrap="square" lIns="0" tIns="0" rIns="0" bIns="0" rtlCol="0" anchor="ctr">
            <a:noAutofit/>
          </a:bodyPr>
          <a:lstStyle/>
          <a:p>
            <a:pPr marL="0" indent="0" algn="ctr">
              <a:lnSpc>
                <a:spcPct val="100000"/>
              </a:lnSpc>
              <a:spcBef>
                <a:spcPts val="0"/>
              </a:spcBef>
              <a:spcAft>
                <a:spcPts val="0"/>
              </a:spcAft>
              <a:buNone/>
            </a:pPr>
            <a:r>
              <a:rPr lang="en-SG" sz="1100" b="1" i="0" dirty="0">
                <a:solidFill>
                  <a:srgbClr val="FFC36A"/>
                </a:solidFill>
                <a:latin typeface="Arial"/>
                <a:cs typeface="Arial"/>
              </a:rPr>
              <a:t>handoff</a:t>
            </a:r>
          </a:p>
        </p:txBody>
      </p:sp>
      <p:sp>
        <p:nvSpPr>
          <p:cNvPr id="28" name="Reviewer"/>
          <p:cNvSpPr/>
          <p:nvPr/>
        </p:nvSpPr>
        <p:spPr>
          <a:xfrm>
            <a:off x="9491472" y="2606040"/>
            <a:ext cx="2148840" cy="1097280"/>
          </a:xfrm>
          <a:prstGeom prst="roundRect">
            <a:avLst>
              <a:gd name="adj" fmla="val 6666"/>
            </a:avLst>
          </a:prstGeom>
          <a:solidFill>
            <a:srgbClr val="1B2940"/>
          </a:solidFill>
          <a:ln>
            <a:noFill/>
          </a:ln>
        </p:spPr>
        <p:txBody>
          <a:bodyPr vert="horz" wrap="square" lIns="182880" tIns="73152" rIns="137160" bIns="73152" rtlCol="0" anchor="ctr">
            <a:noAutofit/>
          </a:bodyPr>
          <a:lstStyle/>
          <a:p>
            <a:pPr marL="0" indent="0" algn="l">
              <a:lnSpc>
                <a:spcPct val="100000"/>
              </a:lnSpc>
              <a:spcBef>
                <a:spcPts val="0"/>
              </a:spcBef>
              <a:spcAft>
                <a:spcPts val="200"/>
              </a:spcAft>
              <a:buNone/>
            </a:pPr>
            <a:r>
              <a:rPr lang="en-SG" sz="1600" b="1" i="0" dirty="0">
                <a:solidFill>
                  <a:srgbClr val="F5F3EB"/>
                </a:solidFill>
                <a:latin typeface="Arial"/>
                <a:cs typeface="Arial"/>
              </a:rPr>
              <a:t>Reviewer</a:t>
            </a:r>
          </a:p>
          <a:p>
            <a:pPr marL="0" indent="0" algn="l">
              <a:lnSpc>
                <a:spcPct val="100000"/>
              </a:lnSpc>
              <a:spcBef>
                <a:spcPts val="0"/>
              </a:spcBef>
              <a:spcAft>
                <a:spcPts val="0"/>
              </a:spcAft>
              <a:buNone/>
            </a:pPr>
            <a:r>
              <a:rPr lang="en-SG" sz="1300" b="0" i="0" dirty="0">
                <a:solidFill>
                  <a:srgbClr val="B9C4D5"/>
                </a:solidFill>
                <a:latin typeface="Arial"/>
                <a:cs typeface="Arial"/>
              </a:rPr>
              <a:t>checks the change</a:t>
            </a:r>
          </a:p>
        </p:txBody>
      </p:sp>
      <p:sp>
        <p:nvSpPr>
          <p:cNvPr id="29" name="Risk"/>
          <p:cNvSpPr txBox="1"/>
          <p:nvPr/>
        </p:nvSpPr>
        <p:spPr>
          <a:xfrm>
            <a:off x="548640" y="3931920"/>
            <a:ext cx="11091672" cy="685800"/>
          </a:xfrm>
          <a:prstGeom prst="rect">
            <a:avLst/>
          </a:prstGeom>
          <a:noFill/>
          <a:ln>
            <a:noFill/>
          </a:ln>
        </p:spPr>
        <p:txBody>
          <a:bodyPr vert="horz" wrap="square" lIns="0" tIns="0" rIns="0" bIns="0" rtlCol="0" anchor="t">
            <a:noAutofit/>
          </a:bodyPr>
          <a:lstStyle/>
          <a:p>
            <a:pPr marL="0" indent="0" algn="l">
              <a:lnSpc>
                <a:spcPct val="110000"/>
              </a:lnSpc>
              <a:spcBef>
                <a:spcPts val="0"/>
              </a:spcBef>
              <a:spcAft>
                <a:spcPts val="0"/>
              </a:spcAft>
              <a:buNone/>
            </a:pPr>
            <a:r>
              <a:rPr lang="en-SG" sz="1700" b="0" i="0" dirty="0">
                <a:solidFill>
                  <a:srgbClr val="D6DDE8"/>
                </a:solidFill>
                <a:latin typeface="Arial"/>
                <a:cs typeface="Arial"/>
              </a:rPr>
              <a:t>Each handoff uses a fixed checklist. If it drops something important, all subsequent agents work without it.</a:t>
            </a:r>
          </a:p>
        </p:txBody>
      </p:sp>
      <p:sp>
        <p:nvSpPr>
          <p:cNvPr id="30" name="Goal"/>
          <p:cNvSpPr/>
          <p:nvPr/>
        </p:nvSpPr>
        <p:spPr>
          <a:xfrm>
            <a:off x="548640" y="4572000"/>
            <a:ext cx="11091672" cy="1280160"/>
          </a:xfrm>
          <a:prstGeom prst="roundRect">
            <a:avLst>
              <a:gd name="adj" fmla="val 5714"/>
            </a:avLst>
          </a:prstGeom>
          <a:solidFill>
            <a:srgbClr val="1B2940"/>
          </a:solidFill>
          <a:ln>
            <a:noFill/>
          </a:ln>
        </p:spPr>
        <p:txBody>
          <a:bodyPr vert="horz" wrap="square" lIns="274320" tIns="109728" rIns="274320" bIns="109728" rtlCol="0" anchor="ctr">
            <a:noAutofit/>
          </a:bodyPr>
          <a:lstStyle/>
          <a:p>
            <a:pPr marL="0" indent="0" algn="l">
              <a:lnSpc>
                <a:spcPct val="100000"/>
              </a:lnSpc>
              <a:spcBef>
                <a:spcPts val="0"/>
              </a:spcBef>
              <a:spcAft>
                <a:spcPts val="400"/>
              </a:spcAft>
              <a:buNone/>
            </a:pPr>
            <a:r>
              <a:rPr lang="en-SG" sz="1200" b="1" i="0" spc="100" dirty="0">
                <a:solidFill>
                  <a:srgbClr val="FFC36A"/>
                </a:solidFill>
                <a:latin typeface="Arial"/>
                <a:cs typeface="Arial"/>
              </a:rPr>
              <a:t>GOAL</a:t>
            </a:r>
          </a:p>
          <a:p>
            <a:pPr marL="0" indent="0" algn="l">
              <a:lnSpc>
                <a:spcPct val="100000"/>
              </a:lnSpc>
              <a:spcBef>
                <a:spcPts val="0"/>
              </a:spcBef>
              <a:spcAft>
                <a:spcPts val="400"/>
              </a:spcAft>
              <a:buNone/>
            </a:pPr>
            <a:r>
              <a:rPr lang="en-SG" sz="2200" b="1" i="0" dirty="0">
                <a:solidFill>
                  <a:srgbClr val="F5F3EB"/>
                </a:solidFill>
                <a:latin typeface="Arial"/>
                <a:cs typeface="Arial"/>
              </a:rPr>
              <a:t>Find practical ways to retain context when agents hand off work.</a:t>
            </a:r>
          </a:p>
          <a:p>
            <a:pPr marL="0" indent="0" algn="l">
              <a:lnSpc>
                <a:spcPct val="100000"/>
              </a:lnSpc>
              <a:spcBef>
                <a:spcPts val="0"/>
              </a:spcBef>
              <a:spcAft>
                <a:spcPts val="0"/>
              </a:spcAft>
              <a:buNone/>
            </a:pPr>
            <a:r>
              <a:rPr lang="en-SG" sz="1500" b="0" i="0" dirty="0">
                <a:solidFill>
                  <a:srgbClr val="B9C4D5"/>
                </a:solidFill>
                <a:latin typeface="Arial"/>
                <a:cs typeface="Arial"/>
              </a:rPr>
              <a:t>This experiment tests one choice: how the handoff is written.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1B2D"/>
        </a:solidFill>
        <a:effectLst/>
      </p:bgPr>
    </p:bg>
    <p:spTree>
      <p:nvGrpSpPr>
        <p:cNvPr id="1" name=""/>
        <p:cNvGrpSpPr/>
        <p:nvPr/>
      </p:nvGrpSpPr>
      <p:grpSpPr>
        <a:xfrm>
          <a:off x="0" y="0"/>
          <a:ext cx="0" cy="0"/>
          <a:chOff x="0" y="0"/>
          <a:chExt cx="0" cy="0"/>
        </a:xfrm>
      </p:grpSpPr>
      <p:sp>
        <p:nvSpPr>
          <p:cNvPr id="2" name="Section label"/>
          <p:cNvSpPr txBox="1"/>
          <p:nvPr/>
        </p:nvSpPr>
        <p:spPr>
          <a:xfrm>
            <a:off x="548640" y="329184"/>
            <a:ext cx="9144000" cy="27432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200" b="1" i="0" spc="100" dirty="0">
                <a:solidFill>
                  <a:srgbClr val="69DECC"/>
                </a:solidFill>
                <a:latin typeface="Arial"/>
                <a:cs typeface="Arial"/>
              </a:rPr>
              <a:t>WHY IT IS HARD</a:t>
            </a:r>
          </a:p>
        </p:txBody>
      </p:sp>
      <p:sp>
        <p:nvSpPr>
          <p:cNvPr id="3" name="Title"/>
          <p:cNvSpPr>
            <a:spLocks noGrp="1"/>
          </p:cNvSpPr>
          <p:nvPr>
            <p:ph type="title"/>
          </p:nvPr>
        </p:nvSpPr>
        <p:spPr>
          <a:xfrm>
            <a:off x="548640" y="658368"/>
            <a:ext cx="11091672" cy="658368"/>
          </a:xfrm>
        </p:spPr>
        <p:txBody>
          <a:bodyPr vert="horz" wrap="square" lIns="0" tIns="0" rIns="0" bIns="0" rtlCol="0" anchor="t">
            <a:noAutofit/>
          </a:bodyPr>
          <a:lstStyle/>
          <a:p>
            <a:pPr marL="0" indent="0" algn="l">
              <a:lnSpc>
                <a:spcPct val="95000"/>
              </a:lnSpc>
              <a:spcBef>
                <a:spcPts val="0"/>
              </a:spcBef>
              <a:spcAft>
                <a:spcPts val="0"/>
              </a:spcAft>
              <a:buNone/>
            </a:pPr>
            <a:r>
              <a:rPr lang="en-SG" sz="3000" b="1" i="0" dirty="0">
                <a:solidFill>
                  <a:srgbClr val="F5F3EB"/>
                </a:solidFill>
                <a:latin typeface="Arial"/>
                <a:cs typeface="Arial"/>
              </a:rPr>
              <a:t>A handoff squeezes a long history into a short note</a:t>
            </a:r>
          </a:p>
        </p:txBody>
      </p:sp>
      <p:sp>
        <p:nvSpPr>
          <p:cNvPr id="4" name="Lead"/>
          <p:cNvSpPr txBox="1"/>
          <p:nvPr/>
        </p:nvSpPr>
        <p:spPr>
          <a:xfrm>
            <a:off x="548640" y="1353312"/>
            <a:ext cx="11091672" cy="731520"/>
          </a:xfrm>
          <a:prstGeom prst="rect">
            <a:avLst/>
          </a:prstGeom>
          <a:noFill/>
          <a:ln>
            <a:noFill/>
          </a:ln>
        </p:spPr>
        <p:txBody>
          <a:bodyPr vert="horz" wrap="square" lIns="0" tIns="0" rIns="0" bIns="0" rtlCol="0" anchor="t">
            <a:noAutofit/>
          </a:bodyPr>
          <a:lstStyle/>
          <a:p>
            <a:pPr marL="0" indent="0" algn="l">
              <a:lnSpc>
                <a:spcPct val="110000"/>
              </a:lnSpc>
              <a:spcBef>
                <a:spcPts val="0"/>
              </a:spcBef>
              <a:spcAft>
                <a:spcPts val="0"/>
              </a:spcAft>
              <a:buNone/>
            </a:pPr>
            <a:r>
              <a:rPr lang="en-SG" sz="1800" b="0" i="0" dirty="0">
                <a:solidFill>
                  <a:srgbClr val="D6DDE8"/>
                </a:solidFill>
                <a:latin typeface="Arial"/>
                <a:cs typeface="Arial"/>
              </a:rPr>
              <a:t>Week 9 calls this context compaction, and warns that compaction is lossy: whatever the handoff leaves out, the next agent never sees.</a:t>
            </a:r>
          </a:p>
        </p:txBody>
      </p:sp>
      <p:sp>
        <p:nvSpPr>
          <p:cNvPr id="5" name="Slide number"/>
          <p:cNvSpPr txBox="1"/>
          <p:nvPr/>
        </p:nvSpPr>
        <p:spPr>
          <a:xfrm>
            <a:off x="10424160" y="6382512"/>
            <a:ext cx="1216152" cy="256032"/>
          </a:xfrm>
          <a:prstGeom prst="rect">
            <a:avLst/>
          </a:prstGeom>
          <a:noFill/>
          <a:ln>
            <a:noFill/>
          </a:ln>
        </p:spPr>
        <p:txBody>
          <a:bodyPr vert="horz" wrap="square" lIns="0" tIns="0" rIns="0" bIns="0" rtlCol="0" anchor="ctr">
            <a:noAutofit/>
          </a:bodyPr>
          <a:lstStyle/>
          <a:p>
            <a:pPr marL="0" indent="0" algn="r">
              <a:lnSpc>
                <a:spcPct val="100000"/>
              </a:lnSpc>
              <a:spcBef>
                <a:spcPts val="0"/>
              </a:spcBef>
              <a:spcAft>
                <a:spcPts val="0"/>
              </a:spcAft>
              <a:buNone/>
            </a:pPr>
            <a:r>
              <a:rPr lang="en-SG" sz="1050" b="0" i="0" dirty="0">
                <a:solidFill>
                  <a:srgbClr val="B9C4D5"/>
                </a:solidFill>
                <a:latin typeface="Arial"/>
                <a:cs typeface="Arial"/>
              </a:rPr>
              <a:t>3 / 12</a:t>
            </a:r>
          </a:p>
        </p:txBody>
      </p:sp>
      <p:sp>
        <p:nvSpPr>
          <p:cNvPr id="6" name="Message history" descr="A message history of about 3,500 words is compacted into a 200-word handoff for a fresh agent"/>
          <p:cNvSpPr/>
          <p:nvPr/>
        </p:nvSpPr>
        <p:spPr>
          <a:xfrm>
            <a:off x="822960" y="2331720"/>
            <a:ext cx="3017520" cy="2514600"/>
          </a:xfrm>
          <a:prstGeom prst="roundRect">
            <a:avLst>
              <a:gd name="adj" fmla="val 2909"/>
            </a:avLst>
          </a:prstGeom>
          <a:solidFill>
            <a:srgbClr val="1B2940"/>
          </a:solidFill>
          <a:ln>
            <a:noFill/>
          </a:ln>
        </p:spPr>
      </p:sp>
      <p:sp>
        <p:nvSpPr>
          <p:cNvPr id="7" name="Text line"/>
          <p:cNvSpPr/>
          <p:nvPr/>
        </p:nvSpPr>
        <p:spPr>
          <a:xfrm>
            <a:off x="1051560" y="2542032"/>
            <a:ext cx="2560320" cy="54864"/>
          </a:xfrm>
          <a:prstGeom prst="roundRect">
            <a:avLst>
              <a:gd name="adj" fmla="val 50000"/>
            </a:avLst>
          </a:prstGeom>
          <a:solidFill>
            <a:srgbClr val="3A4A63"/>
          </a:solidFill>
          <a:ln>
            <a:noFill/>
          </a:ln>
        </p:spPr>
      </p:sp>
      <p:sp>
        <p:nvSpPr>
          <p:cNvPr id="8" name="Text line"/>
          <p:cNvSpPr/>
          <p:nvPr/>
        </p:nvSpPr>
        <p:spPr>
          <a:xfrm>
            <a:off x="1051560" y="2702052"/>
            <a:ext cx="2355494" cy="54864"/>
          </a:xfrm>
          <a:prstGeom prst="roundRect">
            <a:avLst>
              <a:gd name="adj" fmla="val 50000"/>
            </a:avLst>
          </a:prstGeom>
          <a:solidFill>
            <a:srgbClr val="3A4A63"/>
          </a:solidFill>
          <a:ln>
            <a:noFill/>
          </a:ln>
        </p:spPr>
      </p:sp>
      <p:sp>
        <p:nvSpPr>
          <p:cNvPr id="9" name="Text line"/>
          <p:cNvSpPr/>
          <p:nvPr/>
        </p:nvSpPr>
        <p:spPr>
          <a:xfrm>
            <a:off x="1051560" y="2862072"/>
            <a:ext cx="2483510" cy="54864"/>
          </a:xfrm>
          <a:prstGeom prst="roundRect">
            <a:avLst>
              <a:gd name="adj" fmla="val 50000"/>
            </a:avLst>
          </a:prstGeom>
          <a:solidFill>
            <a:srgbClr val="3A4A63"/>
          </a:solidFill>
          <a:ln>
            <a:noFill/>
          </a:ln>
        </p:spPr>
      </p:sp>
      <p:sp>
        <p:nvSpPr>
          <p:cNvPr id="10" name="Text line"/>
          <p:cNvSpPr/>
          <p:nvPr/>
        </p:nvSpPr>
        <p:spPr>
          <a:xfrm>
            <a:off x="1051560" y="3022092"/>
            <a:ext cx="2176272" cy="54864"/>
          </a:xfrm>
          <a:prstGeom prst="roundRect">
            <a:avLst>
              <a:gd name="adj" fmla="val 50000"/>
            </a:avLst>
          </a:prstGeom>
          <a:solidFill>
            <a:srgbClr val="3A4A63"/>
          </a:solidFill>
          <a:ln>
            <a:noFill/>
          </a:ln>
        </p:spPr>
      </p:sp>
      <p:sp>
        <p:nvSpPr>
          <p:cNvPr id="11" name="Text line"/>
          <p:cNvSpPr/>
          <p:nvPr/>
        </p:nvSpPr>
        <p:spPr>
          <a:xfrm>
            <a:off x="1051560" y="3182112"/>
            <a:ext cx="2560320" cy="54864"/>
          </a:xfrm>
          <a:prstGeom prst="roundRect">
            <a:avLst>
              <a:gd name="adj" fmla="val 50000"/>
            </a:avLst>
          </a:prstGeom>
          <a:solidFill>
            <a:srgbClr val="3A4A63"/>
          </a:solidFill>
          <a:ln>
            <a:noFill/>
          </a:ln>
        </p:spPr>
      </p:sp>
      <p:sp>
        <p:nvSpPr>
          <p:cNvPr id="12" name="Text line"/>
          <p:cNvSpPr/>
          <p:nvPr/>
        </p:nvSpPr>
        <p:spPr>
          <a:xfrm>
            <a:off x="1051560" y="3342132"/>
            <a:ext cx="2304288" cy="54864"/>
          </a:xfrm>
          <a:prstGeom prst="roundRect">
            <a:avLst>
              <a:gd name="adj" fmla="val 50000"/>
            </a:avLst>
          </a:prstGeom>
          <a:solidFill>
            <a:srgbClr val="3A4A63"/>
          </a:solidFill>
          <a:ln>
            <a:noFill/>
          </a:ln>
        </p:spPr>
      </p:sp>
      <p:sp>
        <p:nvSpPr>
          <p:cNvPr id="13" name="Text line"/>
          <p:cNvSpPr/>
          <p:nvPr/>
        </p:nvSpPr>
        <p:spPr>
          <a:xfrm>
            <a:off x="1051560" y="3502152"/>
            <a:ext cx="1997050" cy="54864"/>
          </a:xfrm>
          <a:prstGeom prst="roundRect">
            <a:avLst>
              <a:gd name="adj" fmla="val 50000"/>
            </a:avLst>
          </a:prstGeom>
          <a:solidFill>
            <a:srgbClr val="3A4A63"/>
          </a:solidFill>
          <a:ln>
            <a:noFill/>
          </a:ln>
        </p:spPr>
      </p:sp>
      <p:sp>
        <p:nvSpPr>
          <p:cNvPr id="14" name="Text line"/>
          <p:cNvSpPr/>
          <p:nvPr/>
        </p:nvSpPr>
        <p:spPr>
          <a:xfrm>
            <a:off x="1051560" y="3662172"/>
            <a:ext cx="2432304" cy="54864"/>
          </a:xfrm>
          <a:prstGeom prst="roundRect">
            <a:avLst>
              <a:gd name="adj" fmla="val 50000"/>
            </a:avLst>
          </a:prstGeom>
          <a:solidFill>
            <a:srgbClr val="3A4A63"/>
          </a:solidFill>
          <a:ln>
            <a:noFill/>
          </a:ln>
        </p:spPr>
      </p:sp>
      <p:sp>
        <p:nvSpPr>
          <p:cNvPr id="15" name="Text line"/>
          <p:cNvSpPr/>
          <p:nvPr/>
        </p:nvSpPr>
        <p:spPr>
          <a:xfrm>
            <a:off x="1051560" y="3822192"/>
            <a:ext cx="2253082" cy="54864"/>
          </a:xfrm>
          <a:prstGeom prst="roundRect">
            <a:avLst>
              <a:gd name="adj" fmla="val 50000"/>
            </a:avLst>
          </a:prstGeom>
          <a:solidFill>
            <a:srgbClr val="3A4A63"/>
          </a:solidFill>
          <a:ln>
            <a:noFill/>
          </a:ln>
        </p:spPr>
      </p:sp>
      <p:sp>
        <p:nvSpPr>
          <p:cNvPr id="16" name="Text line"/>
          <p:cNvSpPr/>
          <p:nvPr/>
        </p:nvSpPr>
        <p:spPr>
          <a:xfrm>
            <a:off x="1051560" y="3982212"/>
            <a:ext cx="2560320" cy="54864"/>
          </a:xfrm>
          <a:prstGeom prst="roundRect">
            <a:avLst>
              <a:gd name="adj" fmla="val 50000"/>
            </a:avLst>
          </a:prstGeom>
          <a:solidFill>
            <a:srgbClr val="3A4A63"/>
          </a:solidFill>
          <a:ln>
            <a:noFill/>
          </a:ln>
        </p:spPr>
      </p:sp>
      <p:sp>
        <p:nvSpPr>
          <p:cNvPr id="17" name="Text line"/>
          <p:cNvSpPr/>
          <p:nvPr/>
        </p:nvSpPr>
        <p:spPr>
          <a:xfrm>
            <a:off x="1051560" y="4142232"/>
            <a:ext cx="2099462" cy="54864"/>
          </a:xfrm>
          <a:prstGeom prst="roundRect">
            <a:avLst>
              <a:gd name="adj" fmla="val 50000"/>
            </a:avLst>
          </a:prstGeom>
          <a:solidFill>
            <a:srgbClr val="3A4A63"/>
          </a:solidFill>
          <a:ln>
            <a:noFill/>
          </a:ln>
        </p:spPr>
      </p:sp>
      <p:sp>
        <p:nvSpPr>
          <p:cNvPr id="18" name="Text line"/>
          <p:cNvSpPr/>
          <p:nvPr/>
        </p:nvSpPr>
        <p:spPr>
          <a:xfrm>
            <a:off x="1051560" y="4302252"/>
            <a:ext cx="2381098" cy="54864"/>
          </a:xfrm>
          <a:prstGeom prst="roundRect">
            <a:avLst>
              <a:gd name="adj" fmla="val 50000"/>
            </a:avLst>
          </a:prstGeom>
          <a:solidFill>
            <a:srgbClr val="3A4A63"/>
          </a:solidFill>
          <a:ln>
            <a:noFill/>
          </a:ln>
        </p:spPr>
      </p:sp>
      <p:sp>
        <p:nvSpPr>
          <p:cNvPr id="19" name="Text line"/>
          <p:cNvSpPr/>
          <p:nvPr/>
        </p:nvSpPr>
        <p:spPr>
          <a:xfrm>
            <a:off x="1051560" y="4462272"/>
            <a:ext cx="1792224" cy="54864"/>
          </a:xfrm>
          <a:prstGeom prst="roundRect">
            <a:avLst>
              <a:gd name="adj" fmla="val 50000"/>
            </a:avLst>
          </a:prstGeom>
          <a:solidFill>
            <a:srgbClr val="3A4A63"/>
          </a:solidFill>
          <a:ln>
            <a:noFill/>
          </a:ln>
        </p:spPr>
      </p:sp>
      <p:sp>
        <p:nvSpPr>
          <p:cNvPr id="20" name="Text line"/>
          <p:cNvSpPr/>
          <p:nvPr/>
        </p:nvSpPr>
        <p:spPr>
          <a:xfrm>
            <a:off x="1051560" y="4622292"/>
            <a:ext cx="2304288" cy="54864"/>
          </a:xfrm>
          <a:prstGeom prst="roundRect">
            <a:avLst>
              <a:gd name="adj" fmla="val 50000"/>
            </a:avLst>
          </a:prstGeom>
          <a:solidFill>
            <a:srgbClr val="3A4A63"/>
          </a:solidFill>
          <a:ln>
            <a:noFill/>
          </a:ln>
        </p:spPr>
      </p:sp>
      <p:sp>
        <p:nvSpPr>
          <p:cNvPr id="21" name="History label"/>
          <p:cNvSpPr txBox="1"/>
          <p:nvPr/>
        </p:nvSpPr>
        <p:spPr>
          <a:xfrm>
            <a:off x="548640" y="4956048"/>
            <a:ext cx="3566160" cy="1188720"/>
          </a:xfrm>
          <a:prstGeom prst="rect">
            <a:avLst/>
          </a:prstGeom>
          <a:noFill/>
          <a:ln>
            <a:noFill/>
          </a:ln>
        </p:spPr>
        <p:txBody>
          <a:bodyPr vert="horz" wrap="square" lIns="0" tIns="0" rIns="0" bIns="0" rtlCol="0" anchor="t">
            <a:noAutofit/>
          </a:bodyPr>
          <a:lstStyle/>
          <a:p>
            <a:pPr marL="0" indent="0" algn="ctr">
              <a:lnSpc>
                <a:spcPct val="100000"/>
              </a:lnSpc>
              <a:spcBef>
                <a:spcPts val="0"/>
              </a:spcBef>
              <a:spcAft>
                <a:spcPts val="200"/>
              </a:spcAft>
              <a:buNone/>
            </a:pPr>
            <a:r>
              <a:rPr lang="en-SG" sz="1600" b="1" i="0" dirty="0">
                <a:solidFill>
                  <a:srgbClr val="F5F3EB"/>
                </a:solidFill>
                <a:latin typeface="Arial"/>
                <a:cs typeface="Arial"/>
              </a:rPr>
              <a:t>Message history</a:t>
            </a:r>
          </a:p>
          <a:p>
            <a:pPr marL="0" indent="0" algn="ctr">
              <a:lnSpc>
                <a:spcPct val="100000"/>
              </a:lnSpc>
              <a:spcBef>
                <a:spcPts val="0"/>
              </a:spcBef>
              <a:spcAft>
                <a:spcPts val="0"/>
              </a:spcAft>
              <a:buNone/>
            </a:pPr>
            <a:r>
              <a:rPr lang="en-SG" sz="1300" b="0" i="0" dirty="0">
                <a:solidFill>
                  <a:srgbClr val="B9C4D5"/>
                </a:solidFill>
                <a:latin typeface="Arial"/>
                <a:cs typeface="Arial"/>
              </a:rPr>
              <a:t>every message, tool call and tool result</a:t>
            </a:r>
          </a:p>
          <a:p>
            <a:pPr marL="0" indent="0" algn="ctr">
              <a:lnSpc>
                <a:spcPct val="100000"/>
              </a:lnSpc>
              <a:spcBef>
                <a:spcPts val="200"/>
              </a:spcBef>
              <a:spcAft>
                <a:spcPts val="0"/>
              </a:spcAft>
              <a:buNone/>
            </a:pPr>
            <a:r>
              <a:rPr lang="en-SG" sz="1300" b="0" i="0" dirty="0">
                <a:solidFill>
                  <a:srgbClr val="FFC36A"/>
                </a:solidFill>
                <a:latin typeface="Arial"/>
                <a:cs typeface="Arial"/>
              </a:rPr>
              <a:t>3,449 to 3,551 words in this experiment</a:t>
            </a:r>
          </a:p>
        </p:txBody>
      </p:sp>
      <p:cxnSp>
        <p:nvCxnSpPr>
          <p:cNvPr id="22" name="Arrow"/>
          <p:cNvCxnSpPr/>
          <p:nvPr/>
        </p:nvCxnSpPr>
        <p:spPr>
          <a:xfrm>
            <a:off x="4023360" y="3584448"/>
            <a:ext cx="1508760" cy="0"/>
          </a:xfrm>
          <a:prstGeom prst="straightConnector1">
            <a:avLst/>
          </a:prstGeom>
          <a:ln w="34925">
            <a:solidFill>
              <a:srgbClr val="FFC36A"/>
            </a:solidFill>
            <a:tailEnd type="triangle" w="med" len="med"/>
          </a:ln>
        </p:spPr>
      </p:cxnSp>
      <p:sp>
        <p:nvSpPr>
          <p:cNvPr id="23" name="Compaction"/>
          <p:cNvSpPr txBox="1"/>
          <p:nvPr/>
        </p:nvSpPr>
        <p:spPr>
          <a:xfrm>
            <a:off x="3977640" y="3108960"/>
            <a:ext cx="1600200" cy="365760"/>
          </a:xfrm>
          <a:prstGeom prst="rect">
            <a:avLst/>
          </a:prstGeom>
          <a:noFill/>
          <a:ln>
            <a:noFill/>
          </a:ln>
        </p:spPr>
        <p:txBody>
          <a:bodyPr vert="horz" wrap="square" lIns="0" tIns="0" rIns="0" bIns="0" rtlCol="0" anchor="b">
            <a:noAutofit/>
          </a:bodyPr>
          <a:lstStyle/>
          <a:p>
            <a:pPr marL="0" indent="0" algn="ctr">
              <a:lnSpc>
                <a:spcPct val="100000"/>
              </a:lnSpc>
              <a:spcBef>
                <a:spcPts val="0"/>
              </a:spcBef>
              <a:spcAft>
                <a:spcPts val="0"/>
              </a:spcAft>
              <a:buNone/>
            </a:pPr>
            <a:r>
              <a:rPr lang="en-SG" sz="1400" b="0" i="1" dirty="0">
                <a:solidFill>
                  <a:srgbClr val="FFC36A"/>
                </a:solidFill>
                <a:latin typeface="Arial"/>
                <a:cs typeface="Arial"/>
              </a:rPr>
              <a:t>compaction</a:t>
            </a:r>
          </a:p>
        </p:txBody>
      </p:sp>
      <p:sp>
        <p:nvSpPr>
          <p:cNvPr id="24" name="Handoff"/>
          <p:cNvSpPr/>
          <p:nvPr/>
        </p:nvSpPr>
        <p:spPr>
          <a:xfrm>
            <a:off x="5715000" y="3017520"/>
            <a:ext cx="1737360" cy="1143000"/>
          </a:xfrm>
          <a:prstGeom prst="roundRect">
            <a:avLst>
              <a:gd name="adj" fmla="val 6400"/>
            </a:avLst>
          </a:prstGeom>
          <a:solidFill>
            <a:srgbClr val="24334B"/>
          </a:solidFill>
          <a:ln>
            <a:noFill/>
          </a:ln>
        </p:spPr>
      </p:sp>
      <p:sp>
        <p:nvSpPr>
          <p:cNvPr id="25" name="Text line"/>
          <p:cNvSpPr/>
          <p:nvPr/>
        </p:nvSpPr>
        <p:spPr>
          <a:xfrm>
            <a:off x="5916168" y="3218688"/>
            <a:ext cx="1335024" cy="54864"/>
          </a:xfrm>
          <a:prstGeom prst="roundRect">
            <a:avLst>
              <a:gd name="adj" fmla="val 50000"/>
            </a:avLst>
          </a:prstGeom>
          <a:solidFill>
            <a:srgbClr val="5A6B86"/>
          </a:solidFill>
          <a:ln>
            <a:noFill/>
          </a:ln>
        </p:spPr>
      </p:sp>
      <p:sp>
        <p:nvSpPr>
          <p:cNvPr id="26" name="Text line"/>
          <p:cNvSpPr/>
          <p:nvPr/>
        </p:nvSpPr>
        <p:spPr>
          <a:xfrm>
            <a:off x="5916168" y="3374136"/>
            <a:ext cx="1228222" cy="54864"/>
          </a:xfrm>
          <a:prstGeom prst="roundRect">
            <a:avLst>
              <a:gd name="adj" fmla="val 50000"/>
            </a:avLst>
          </a:prstGeom>
          <a:solidFill>
            <a:srgbClr val="5A6B86"/>
          </a:solidFill>
          <a:ln>
            <a:noFill/>
          </a:ln>
        </p:spPr>
      </p:sp>
      <p:sp>
        <p:nvSpPr>
          <p:cNvPr id="27" name="Text line"/>
          <p:cNvSpPr/>
          <p:nvPr/>
        </p:nvSpPr>
        <p:spPr>
          <a:xfrm>
            <a:off x="5916168" y="3529584"/>
            <a:ext cx="1294973" cy="54864"/>
          </a:xfrm>
          <a:prstGeom prst="roundRect">
            <a:avLst>
              <a:gd name="adj" fmla="val 50000"/>
            </a:avLst>
          </a:prstGeom>
          <a:solidFill>
            <a:srgbClr val="5A6B86"/>
          </a:solidFill>
          <a:ln>
            <a:noFill/>
          </a:ln>
        </p:spPr>
      </p:sp>
      <p:sp>
        <p:nvSpPr>
          <p:cNvPr id="28" name="Text line"/>
          <p:cNvSpPr/>
          <p:nvPr/>
        </p:nvSpPr>
        <p:spPr>
          <a:xfrm>
            <a:off x="5916168" y="3685032"/>
            <a:ext cx="1134770" cy="54864"/>
          </a:xfrm>
          <a:prstGeom prst="roundRect">
            <a:avLst>
              <a:gd name="adj" fmla="val 50000"/>
            </a:avLst>
          </a:prstGeom>
          <a:solidFill>
            <a:srgbClr val="5A6B86"/>
          </a:solidFill>
          <a:ln>
            <a:noFill/>
          </a:ln>
        </p:spPr>
      </p:sp>
      <p:sp>
        <p:nvSpPr>
          <p:cNvPr id="29" name="Text line"/>
          <p:cNvSpPr/>
          <p:nvPr/>
        </p:nvSpPr>
        <p:spPr>
          <a:xfrm>
            <a:off x="5916168" y="3840480"/>
            <a:ext cx="1335024" cy="54864"/>
          </a:xfrm>
          <a:prstGeom prst="roundRect">
            <a:avLst>
              <a:gd name="adj" fmla="val 50000"/>
            </a:avLst>
          </a:prstGeom>
          <a:solidFill>
            <a:srgbClr val="5A6B86"/>
          </a:solidFill>
          <a:ln>
            <a:noFill/>
          </a:ln>
        </p:spPr>
      </p:sp>
      <p:sp>
        <p:nvSpPr>
          <p:cNvPr id="30" name="Handoff label"/>
          <p:cNvSpPr txBox="1"/>
          <p:nvPr/>
        </p:nvSpPr>
        <p:spPr>
          <a:xfrm>
            <a:off x="5120640" y="4956048"/>
            <a:ext cx="2926080" cy="914400"/>
          </a:xfrm>
          <a:prstGeom prst="rect">
            <a:avLst/>
          </a:prstGeom>
          <a:noFill/>
          <a:ln>
            <a:noFill/>
          </a:ln>
        </p:spPr>
        <p:txBody>
          <a:bodyPr vert="horz" wrap="square" lIns="0" tIns="0" rIns="0" bIns="0" rtlCol="0" anchor="t">
            <a:noAutofit/>
          </a:bodyPr>
          <a:lstStyle/>
          <a:p>
            <a:pPr marL="0" indent="0" algn="ctr">
              <a:lnSpc>
                <a:spcPct val="100000"/>
              </a:lnSpc>
              <a:spcBef>
                <a:spcPts val="0"/>
              </a:spcBef>
              <a:spcAft>
                <a:spcPts val="200"/>
              </a:spcAft>
              <a:buNone/>
            </a:pPr>
            <a:r>
              <a:rPr lang="en-SG" sz="1600" b="1" i="0" dirty="0">
                <a:solidFill>
                  <a:srgbClr val="FFC36A"/>
                </a:solidFill>
                <a:latin typeface="Arial"/>
                <a:cs typeface="Arial"/>
              </a:rPr>
              <a:t>Handoff</a:t>
            </a:r>
          </a:p>
          <a:p>
            <a:pPr marL="0" indent="0" algn="ctr">
              <a:lnSpc>
                <a:spcPct val="100000"/>
              </a:lnSpc>
              <a:spcBef>
                <a:spcPts val="0"/>
              </a:spcBef>
              <a:spcAft>
                <a:spcPts val="0"/>
              </a:spcAft>
              <a:buNone/>
            </a:pPr>
            <a:r>
              <a:rPr lang="en-SG" sz="1300" b="0" i="0" dirty="0">
                <a:solidFill>
                  <a:srgbClr val="B9C4D5"/>
                </a:solidFill>
                <a:latin typeface="Arial"/>
                <a:cs typeface="Arial"/>
              </a:rPr>
              <a:t>200-word limit</a:t>
            </a:r>
          </a:p>
        </p:txBody>
      </p:sp>
      <p:cxnSp>
        <p:nvCxnSpPr>
          <p:cNvPr id="31" name="Arrow"/>
          <p:cNvCxnSpPr/>
          <p:nvPr/>
        </p:nvCxnSpPr>
        <p:spPr>
          <a:xfrm>
            <a:off x="7635240" y="3584448"/>
            <a:ext cx="1463040" cy="0"/>
          </a:xfrm>
          <a:prstGeom prst="straightConnector1">
            <a:avLst/>
          </a:prstGeom>
          <a:ln w="28575">
            <a:solidFill>
              <a:srgbClr val="7F8EA6"/>
            </a:solidFill>
            <a:tailEnd type="triangle" w="med" len="med"/>
          </a:ln>
        </p:spPr>
      </p:cxnSp>
      <p:sp>
        <p:nvSpPr>
          <p:cNvPr id="32" name="Next agent"/>
          <p:cNvSpPr/>
          <p:nvPr/>
        </p:nvSpPr>
        <p:spPr>
          <a:xfrm>
            <a:off x="9281160" y="2852928"/>
            <a:ext cx="1463040" cy="1463040"/>
          </a:xfrm>
          <a:prstGeom prst="ellipse">
            <a:avLst/>
          </a:prstGeom>
          <a:solidFill>
            <a:srgbClr val="1B2940"/>
          </a:solidFill>
          <a:ln w="31750">
            <a:solidFill>
              <a:srgbClr val="69DECC"/>
            </a:solidFill>
          </a:ln>
        </p:spPr>
        <p:txBody>
          <a:bodyPr vert="horz" wrap="square" lIns="0" tIns="0" rIns="0" bIns="0" rtlCol="0" anchor="ctr">
            <a:noAutofit/>
          </a:bodyPr>
          <a:lstStyle/>
          <a:p>
            <a:pPr marL="0" indent="0" algn="ctr">
              <a:lnSpc>
                <a:spcPct val="100000"/>
              </a:lnSpc>
              <a:spcBef>
                <a:spcPts val="0"/>
              </a:spcBef>
              <a:spcAft>
                <a:spcPts val="0"/>
              </a:spcAft>
              <a:buNone/>
            </a:pPr>
            <a:r>
              <a:rPr lang="en-SG" sz="1500" b="1" i="0" dirty="0">
                <a:solidFill>
                  <a:srgbClr val="F5F3EB"/>
                </a:solidFill>
                <a:latin typeface="Arial"/>
                <a:cs typeface="Arial"/>
              </a:rPr>
              <a:t>Next agent</a:t>
            </a:r>
          </a:p>
        </p:txBody>
      </p:sp>
      <p:sp>
        <p:nvSpPr>
          <p:cNvPr id="33" name="Next agent label"/>
          <p:cNvSpPr txBox="1"/>
          <p:nvPr/>
        </p:nvSpPr>
        <p:spPr>
          <a:xfrm>
            <a:off x="8641080" y="4956048"/>
            <a:ext cx="2743200" cy="914400"/>
          </a:xfrm>
          <a:prstGeom prst="rect">
            <a:avLst/>
          </a:prstGeom>
          <a:noFill/>
          <a:ln>
            <a:noFill/>
          </a:ln>
        </p:spPr>
        <p:txBody>
          <a:bodyPr vert="horz" wrap="square" lIns="0" tIns="0" rIns="0" bIns="0" rtlCol="0" anchor="t">
            <a:noAutofit/>
          </a:bodyPr>
          <a:lstStyle/>
          <a:p>
            <a:pPr marL="0" indent="0" algn="ctr">
              <a:lnSpc>
                <a:spcPct val="100000"/>
              </a:lnSpc>
              <a:spcBef>
                <a:spcPts val="0"/>
              </a:spcBef>
              <a:spcAft>
                <a:spcPts val="200"/>
              </a:spcAft>
              <a:buNone/>
            </a:pPr>
            <a:r>
              <a:rPr lang="en-SG" sz="1600" b="1" i="0" dirty="0">
                <a:solidFill>
                  <a:srgbClr val="F5F3EB"/>
                </a:solidFill>
                <a:latin typeface="Arial"/>
                <a:cs typeface="Arial"/>
              </a:rPr>
              <a:t>Starts fresh</a:t>
            </a:r>
          </a:p>
          <a:p>
            <a:pPr marL="0" indent="0" algn="ctr">
              <a:lnSpc>
                <a:spcPct val="100000"/>
              </a:lnSpc>
              <a:spcBef>
                <a:spcPts val="0"/>
              </a:spcBef>
              <a:spcAft>
                <a:spcPts val="0"/>
              </a:spcAft>
              <a:buNone/>
            </a:pPr>
            <a:r>
              <a:rPr lang="en-SG" sz="1300" b="0" i="0" dirty="0">
                <a:solidFill>
                  <a:srgbClr val="B9C4D5"/>
                </a:solidFill>
                <a:latin typeface="Arial"/>
                <a:cs typeface="Arial"/>
              </a:rPr>
              <a:t>with only the handoff</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1B2D"/>
        </a:solidFill>
        <a:effectLst/>
      </p:bgPr>
    </p:bg>
    <p:spTree>
      <p:nvGrpSpPr>
        <p:cNvPr id="1" name=""/>
        <p:cNvGrpSpPr/>
        <p:nvPr/>
      </p:nvGrpSpPr>
      <p:grpSpPr>
        <a:xfrm>
          <a:off x="0" y="0"/>
          <a:ext cx="0" cy="0"/>
          <a:chOff x="0" y="0"/>
          <a:chExt cx="0" cy="0"/>
        </a:xfrm>
      </p:grpSpPr>
      <p:sp>
        <p:nvSpPr>
          <p:cNvPr id="2" name="Section label"/>
          <p:cNvSpPr txBox="1"/>
          <p:nvPr/>
        </p:nvSpPr>
        <p:spPr>
          <a:xfrm>
            <a:off x="548640" y="329184"/>
            <a:ext cx="9144000" cy="27432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200" b="1" i="0" spc="100" dirty="0">
                <a:solidFill>
                  <a:srgbClr val="69DECC"/>
                </a:solidFill>
                <a:latin typeface="Arial"/>
                <a:cs typeface="Arial"/>
              </a:rPr>
              <a:t>THE QUESTION</a:t>
            </a:r>
          </a:p>
        </p:txBody>
      </p:sp>
      <p:sp>
        <p:nvSpPr>
          <p:cNvPr id="3" name="Title"/>
          <p:cNvSpPr>
            <a:spLocks noGrp="1"/>
          </p:cNvSpPr>
          <p:nvPr>
            <p:ph type="title"/>
          </p:nvPr>
        </p:nvSpPr>
        <p:spPr>
          <a:xfrm>
            <a:off x="548640" y="658368"/>
            <a:ext cx="11091672" cy="658368"/>
          </a:xfrm>
        </p:spPr>
        <p:txBody>
          <a:bodyPr vert="horz" wrap="square" lIns="0" tIns="0" rIns="0" bIns="0" rtlCol="0" anchor="t">
            <a:noAutofit/>
          </a:bodyPr>
          <a:lstStyle/>
          <a:p>
            <a:pPr marL="0" indent="0" algn="l">
              <a:lnSpc>
                <a:spcPct val="95000"/>
              </a:lnSpc>
              <a:spcBef>
                <a:spcPts val="0"/>
              </a:spcBef>
              <a:spcAft>
                <a:spcPts val="0"/>
              </a:spcAft>
              <a:buNone/>
            </a:pPr>
            <a:r>
              <a:rPr lang="en-SG" sz="3000" b="1" i="0" dirty="0">
                <a:solidFill>
                  <a:srgbClr val="F5F3EB"/>
                </a:solidFill>
                <a:latin typeface="Arial"/>
                <a:cs typeface="Arial"/>
              </a:rPr>
              <a:t>Which handoff format keeps more information?</a:t>
            </a:r>
          </a:p>
        </p:txBody>
      </p:sp>
      <p:sp>
        <p:nvSpPr>
          <p:cNvPr id="4" name="Lead"/>
          <p:cNvSpPr txBox="1"/>
          <p:nvPr/>
        </p:nvSpPr>
        <p:spPr>
          <a:xfrm>
            <a:off x="548640" y="1353312"/>
            <a:ext cx="11091672" cy="731520"/>
          </a:xfrm>
          <a:prstGeom prst="rect">
            <a:avLst/>
          </a:prstGeom>
          <a:noFill/>
          <a:ln>
            <a:noFill/>
          </a:ln>
        </p:spPr>
        <p:txBody>
          <a:bodyPr vert="horz" wrap="square" lIns="0" tIns="0" rIns="0" bIns="0" rtlCol="0" anchor="t">
            <a:noAutofit/>
          </a:bodyPr>
          <a:lstStyle/>
          <a:p>
            <a:pPr marL="0" indent="0" algn="l">
              <a:lnSpc>
                <a:spcPct val="110000"/>
              </a:lnSpc>
              <a:spcBef>
                <a:spcPts val="0"/>
              </a:spcBef>
              <a:spcAft>
                <a:spcPts val="0"/>
              </a:spcAft>
              <a:buNone/>
            </a:pPr>
            <a:r>
              <a:rPr lang="en-SG" sz="1800" b="0" i="0" dirty="0">
                <a:solidFill>
                  <a:srgbClr val="D6DDE8"/>
                </a:solidFill>
                <a:latin typeface="Arial"/>
                <a:cs typeface="Arial"/>
              </a:rPr>
              <a:t>I compared 2 ways of writing the same handoff. Both were told to cover the same 7 topics, from the same message history, in at most 200 words.</a:t>
            </a:r>
          </a:p>
        </p:txBody>
      </p:sp>
      <p:sp>
        <p:nvSpPr>
          <p:cNvPr id="5" name="Slide number"/>
          <p:cNvSpPr txBox="1"/>
          <p:nvPr/>
        </p:nvSpPr>
        <p:spPr>
          <a:xfrm>
            <a:off x="10424160" y="6382512"/>
            <a:ext cx="1216152" cy="256032"/>
          </a:xfrm>
          <a:prstGeom prst="rect">
            <a:avLst/>
          </a:prstGeom>
          <a:noFill/>
          <a:ln>
            <a:noFill/>
          </a:ln>
        </p:spPr>
        <p:txBody>
          <a:bodyPr vert="horz" wrap="square" lIns="0" tIns="0" rIns="0" bIns="0" rtlCol="0" anchor="ctr">
            <a:noAutofit/>
          </a:bodyPr>
          <a:lstStyle/>
          <a:p>
            <a:pPr marL="0" indent="0" algn="r">
              <a:lnSpc>
                <a:spcPct val="100000"/>
              </a:lnSpc>
              <a:spcBef>
                <a:spcPts val="0"/>
              </a:spcBef>
              <a:spcAft>
                <a:spcPts val="0"/>
              </a:spcAft>
              <a:buNone/>
            </a:pPr>
            <a:r>
              <a:rPr lang="en-SG" sz="1050" b="0" i="0" dirty="0">
                <a:solidFill>
                  <a:srgbClr val="B9C4D5"/>
                </a:solidFill>
                <a:latin typeface="Arial"/>
                <a:cs typeface="Arial"/>
              </a:rPr>
              <a:t>4 / 12</a:t>
            </a:r>
          </a:p>
        </p:txBody>
      </p:sp>
      <p:sp>
        <p:nvSpPr>
          <p:cNvPr id="6" name="Free-form summary" descr="Two handoff formats: a free-form paragraph, and a checklist with seven labelled fields"/>
          <p:cNvSpPr/>
          <p:nvPr/>
        </p:nvSpPr>
        <p:spPr>
          <a:xfrm>
            <a:off x="548640" y="2057400"/>
            <a:ext cx="5349240" cy="2103120"/>
          </a:xfrm>
          <a:prstGeom prst="roundRect">
            <a:avLst>
              <a:gd name="adj" fmla="val 3478"/>
            </a:avLst>
          </a:prstGeom>
          <a:solidFill>
            <a:srgbClr val="1B2940"/>
          </a:solidFill>
          <a:ln>
            <a:noFill/>
          </a:ln>
        </p:spPr>
        <p:txBody>
          <a:bodyPr vert="horz" wrap="square" lIns="228600" tIns="164592" rIns="228600" bIns="91440" rtlCol="0" anchor="t">
            <a:noAutofit/>
          </a:bodyPr>
          <a:lstStyle/>
          <a:p>
            <a:pPr marL="0" indent="0" algn="l">
              <a:lnSpc>
                <a:spcPct val="100000"/>
              </a:lnSpc>
              <a:spcBef>
                <a:spcPts val="0"/>
              </a:spcBef>
              <a:spcAft>
                <a:spcPts val="200"/>
              </a:spcAft>
              <a:buNone/>
            </a:pPr>
            <a:r>
              <a:rPr lang="en-SG" sz="1300" b="1" i="0" spc="100" dirty="0">
                <a:solidFill>
                  <a:srgbClr val="B9C4D5"/>
                </a:solidFill>
                <a:latin typeface="Arial"/>
                <a:cs typeface="Arial"/>
              </a:rPr>
              <a:t>FREE-FORM SUMMARY</a:t>
            </a:r>
          </a:p>
          <a:p>
            <a:pPr marL="0" indent="0" algn="l">
              <a:lnSpc>
                <a:spcPct val="100000"/>
              </a:lnSpc>
              <a:spcBef>
                <a:spcPts val="0"/>
              </a:spcBef>
              <a:spcAft>
                <a:spcPts val="0"/>
              </a:spcAft>
              <a:buNone/>
            </a:pPr>
            <a:r>
              <a:rPr lang="en-SG" sz="1300" b="0" i="0" dirty="0">
                <a:solidFill>
                  <a:srgbClr val="B9C4D5"/>
                </a:solidFill>
                <a:latin typeface="Arial"/>
                <a:cs typeface="Arial"/>
              </a:rPr>
              <a:t>The 7 topics as connected prose, with no headings or bullets</a:t>
            </a:r>
          </a:p>
        </p:txBody>
      </p:sp>
      <p:sp>
        <p:nvSpPr>
          <p:cNvPr id="7" name="Text line"/>
          <p:cNvSpPr/>
          <p:nvPr/>
        </p:nvSpPr>
        <p:spPr>
          <a:xfrm>
            <a:off x="777240" y="2880360"/>
            <a:ext cx="4892040" cy="54864"/>
          </a:xfrm>
          <a:prstGeom prst="roundRect">
            <a:avLst>
              <a:gd name="adj" fmla="val 50000"/>
            </a:avLst>
          </a:prstGeom>
          <a:solidFill>
            <a:srgbClr val="5A6B86"/>
          </a:solidFill>
          <a:ln>
            <a:noFill/>
          </a:ln>
        </p:spPr>
      </p:sp>
      <p:sp>
        <p:nvSpPr>
          <p:cNvPr id="8" name="Text line"/>
          <p:cNvSpPr/>
          <p:nvPr/>
        </p:nvSpPr>
        <p:spPr>
          <a:xfrm>
            <a:off x="777240" y="3044952"/>
            <a:ext cx="4745279" cy="54864"/>
          </a:xfrm>
          <a:prstGeom prst="roundRect">
            <a:avLst>
              <a:gd name="adj" fmla="val 50000"/>
            </a:avLst>
          </a:prstGeom>
          <a:solidFill>
            <a:srgbClr val="5A6B86"/>
          </a:solidFill>
          <a:ln>
            <a:noFill/>
          </a:ln>
        </p:spPr>
      </p:sp>
      <p:sp>
        <p:nvSpPr>
          <p:cNvPr id="9" name="Text line"/>
          <p:cNvSpPr/>
          <p:nvPr/>
        </p:nvSpPr>
        <p:spPr>
          <a:xfrm>
            <a:off x="777240" y="3209544"/>
            <a:ext cx="4892040" cy="54864"/>
          </a:xfrm>
          <a:prstGeom prst="roundRect">
            <a:avLst>
              <a:gd name="adj" fmla="val 50000"/>
            </a:avLst>
          </a:prstGeom>
          <a:solidFill>
            <a:srgbClr val="5A6B86"/>
          </a:solidFill>
          <a:ln>
            <a:noFill/>
          </a:ln>
        </p:spPr>
      </p:sp>
      <p:sp>
        <p:nvSpPr>
          <p:cNvPr id="10" name="Text line"/>
          <p:cNvSpPr/>
          <p:nvPr/>
        </p:nvSpPr>
        <p:spPr>
          <a:xfrm>
            <a:off x="777240" y="3374136"/>
            <a:ext cx="4598518" cy="54864"/>
          </a:xfrm>
          <a:prstGeom prst="roundRect">
            <a:avLst>
              <a:gd name="adj" fmla="val 50000"/>
            </a:avLst>
          </a:prstGeom>
          <a:solidFill>
            <a:srgbClr val="5A6B86"/>
          </a:solidFill>
          <a:ln>
            <a:noFill/>
          </a:ln>
        </p:spPr>
      </p:sp>
      <p:sp>
        <p:nvSpPr>
          <p:cNvPr id="11" name="Text line"/>
          <p:cNvSpPr/>
          <p:nvPr/>
        </p:nvSpPr>
        <p:spPr>
          <a:xfrm>
            <a:off x="777240" y="3538728"/>
            <a:ext cx="4843120" cy="54864"/>
          </a:xfrm>
          <a:prstGeom prst="roundRect">
            <a:avLst>
              <a:gd name="adj" fmla="val 50000"/>
            </a:avLst>
          </a:prstGeom>
          <a:solidFill>
            <a:srgbClr val="5A6B86"/>
          </a:solidFill>
          <a:ln>
            <a:noFill/>
          </a:ln>
        </p:spPr>
      </p:sp>
      <p:sp>
        <p:nvSpPr>
          <p:cNvPr id="12" name="Text line"/>
          <p:cNvSpPr/>
          <p:nvPr/>
        </p:nvSpPr>
        <p:spPr>
          <a:xfrm>
            <a:off x="777240" y="3703320"/>
            <a:ext cx="4892040" cy="54864"/>
          </a:xfrm>
          <a:prstGeom prst="roundRect">
            <a:avLst>
              <a:gd name="adj" fmla="val 50000"/>
            </a:avLst>
          </a:prstGeom>
          <a:solidFill>
            <a:srgbClr val="5A6B86"/>
          </a:solidFill>
          <a:ln>
            <a:noFill/>
          </a:ln>
        </p:spPr>
      </p:sp>
      <p:sp>
        <p:nvSpPr>
          <p:cNvPr id="13" name="Text line"/>
          <p:cNvSpPr/>
          <p:nvPr/>
        </p:nvSpPr>
        <p:spPr>
          <a:xfrm>
            <a:off x="777240" y="3867912"/>
            <a:ext cx="2935224" cy="54864"/>
          </a:xfrm>
          <a:prstGeom prst="roundRect">
            <a:avLst>
              <a:gd name="adj" fmla="val 50000"/>
            </a:avLst>
          </a:prstGeom>
          <a:solidFill>
            <a:srgbClr val="5A6B86"/>
          </a:solidFill>
          <a:ln>
            <a:noFill/>
          </a:ln>
        </p:spPr>
      </p:sp>
      <p:sp>
        <p:nvSpPr>
          <p:cNvPr id="14" name="Structured checklist"/>
          <p:cNvSpPr/>
          <p:nvPr/>
        </p:nvSpPr>
        <p:spPr>
          <a:xfrm>
            <a:off x="6291072" y="2057400"/>
            <a:ext cx="5349240" cy="2103120"/>
          </a:xfrm>
          <a:prstGeom prst="roundRect">
            <a:avLst>
              <a:gd name="adj" fmla="val 3478"/>
            </a:avLst>
          </a:prstGeom>
          <a:solidFill>
            <a:srgbClr val="1B2940"/>
          </a:solidFill>
          <a:ln>
            <a:noFill/>
          </a:ln>
        </p:spPr>
        <p:txBody>
          <a:bodyPr vert="horz" wrap="square" lIns="228600" tIns="164592" rIns="228600" bIns="91440" rtlCol="0" anchor="t">
            <a:noAutofit/>
          </a:bodyPr>
          <a:lstStyle/>
          <a:p>
            <a:pPr marL="0" indent="0" algn="l">
              <a:lnSpc>
                <a:spcPct val="100000"/>
              </a:lnSpc>
              <a:spcBef>
                <a:spcPts val="0"/>
              </a:spcBef>
              <a:spcAft>
                <a:spcPts val="200"/>
              </a:spcAft>
              <a:buNone/>
            </a:pPr>
            <a:r>
              <a:rPr lang="en-SG" sz="1300" b="1" i="0" spc="100" dirty="0">
                <a:solidFill>
                  <a:srgbClr val="69DECC"/>
                </a:solidFill>
                <a:latin typeface="Arial"/>
                <a:cs typeface="Arial"/>
              </a:rPr>
              <a:t>STRUCTURED CHECKLIST</a:t>
            </a:r>
          </a:p>
          <a:p>
            <a:pPr marL="0" indent="0" algn="l">
              <a:lnSpc>
                <a:spcPct val="100000"/>
              </a:lnSpc>
              <a:spcBef>
                <a:spcPts val="0"/>
              </a:spcBef>
              <a:spcAft>
                <a:spcPts val="0"/>
              </a:spcAft>
              <a:buNone/>
            </a:pPr>
            <a:r>
              <a:rPr lang="en-SG" sz="1300" b="0" i="0" dirty="0">
                <a:solidFill>
                  <a:srgbClr val="B9C4D5"/>
                </a:solidFill>
                <a:latin typeface="Arial"/>
                <a:cs typeface="Arial"/>
              </a:rPr>
              <a:t>The 7 topics as fixed fields, like our MP3 handoffs</a:t>
            </a:r>
          </a:p>
        </p:txBody>
      </p:sp>
      <p:sp>
        <p:nvSpPr>
          <p:cNvPr id="15" name="Field"/>
          <p:cNvSpPr txBox="1"/>
          <p:nvPr/>
        </p:nvSpPr>
        <p:spPr>
          <a:xfrm>
            <a:off x="6519672" y="2770632"/>
            <a:ext cx="2194560" cy="18288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150" b="1" i="0" dirty="0">
                <a:solidFill>
                  <a:srgbClr val="69DECC"/>
                </a:solidFill>
                <a:latin typeface="Arial"/>
                <a:cs typeface="Arial"/>
              </a:rPr>
              <a:t>Agent and Status</a:t>
            </a:r>
          </a:p>
        </p:txBody>
      </p:sp>
      <p:sp>
        <p:nvSpPr>
          <p:cNvPr id="16" name="Text line"/>
          <p:cNvSpPr/>
          <p:nvPr/>
        </p:nvSpPr>
        <p:spPr>
          <a:xfrm>
            <a:off x="8778240" y="2834640"/>
            <a:ext cx="2345436" cy="54864"/>
          </a:xfrm>
          <a:prstGeom prst="roundRect">
            <a:avLst>
              <a:gd name="adj" fmla="val 50000"/>
            </a:avLst>
          </a:prstGeom>
          <a:solidFill>
            <a:srgbClr val="5A6B86"/>
          </a:solidFill>
          <a:ln>
            <a:noFill/>
          </a:ln>
        </p:spPr>
      </p:sp>
      <p:sp>
        <p:nvSpPr>
          <p:cNvPr id="17" name="Field"/>
          <p:cNvSpPr txBox="1"/>
          <p:nvPr/>
        </p:nvSpPr>
        <p:spPr>
          <a:xfrm>
            <a:off x="6519672" y="2958084"/>
            <a:ext cx="2194560" cy="18288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150" b="1" i="0" dirty="0">
                <a:solidFill>
                  <a:srgbClr val="69DECC"/>
                </a:solidFill>
                <a:latin typeface="Arial"/>
                <a:cs typeface="Arial"/>
              </a:rPr>
              <a:t>Inputs</a:t>
            </a:r>
          </a:p>
        </p:txBody>
      </p:sp>
      <p:sp>
        <p:nvSpPr>
          <p:cNvPr id="18" name="Text line"/>
          <p:cNvSpPr/>
          <p:nvPr/>
        </p:nvSpPr>
        <p:spPr>
          <a:xfrm>
            <a:off x="8778240" y="3022092"/>
            <a:ext cx="1954530" cy="54864"/>
          </a:xfrm>
          <a:prstGeom prst="roundRect">
            <a:avLst>
              <a:gd name="adj" fmla="val 50000"/>
            </a:avLst>
          </a:prstGeom>
          <a:solidFill>
            <a:srgbClr val="5A6B86"/>
          </a:solidFill>
          <a:ln>
            <a:noFill/>
          </a:ln>
        </p:spPr>
      </p:sp>
      <p:sp>
        <p:nvSpPr>
          <p:cNvPr id="19" name="Field"/>
          <p:cNvSpPr txBox="1"/>
          <p:nvPr/>
        </p:nvSpPr>
        <p:spPr>
          <a:xfrm>
            <a:off x="6519672" y="3145536"/>
            <a:ext cx="2194560" cy="18288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150" b="1" i="0" dirty="0">
                <a:solidFill>
                  <a:srgbClr val="69DECC"/>
                </a:solidFill>
                <a:latin typeface="Arial"/>
                <a:cs typeface="Arial"/>
              </a:rPr>
              <a:t>Changed</a:t>
            </a:r>
          </a:p>
        </p:txBody>
      </p:sp>
      <p:sp>
        <p:nvSpPr>
          <p:cNvPr id="20" name="Text line"/>
          <p:cNvSpPr/>
          <p:nvPr/>
        </p:nvSpPr>
        <p:spPr>
          <a:xfrm>
            <a:off x="8778240" y="3209544"/>
            <a:ext cx="1433322" cy="54864"/>
          </a:xfrm>
          <a:prstGeom prst="roundRect">
            <a:avLst>
              <a:gd name="adj" fmla="val 50000"/>
            </a:avLst>
          </a:prstGeom>
          <a:solidFill>
            <a:srgbClr val="5A6B86"/>
          </a:solidFill>
          <a:ln>
            <a:noFill/>
          </a:ln>
        </p:spPr>
      </p:sp>
      <p:sp>
        <p:nvSpPr>
          <p:cNvPr id="21" name="Field"/>
          <p:cNvSpPr txBox="1"/>
          <p:nvPr/>
        </p:nvSpPr>
        <p:spPr>
          <a:xfrm>
            <a:off x="6519672" y="3332988"/>
            <a:ext cx="2194560" cy="18288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150" b="1" i="0" dirty="0">
                <a:solidFill>
                  <a:srgbClr val="69DECC"/>
                </a:solidFill>
                <a:latin typeface="Arial"/>
                <a:cs typeface="Arial"/>
              </a:rPr>
              <a:t>Checks</a:t>
            </a:r>
          </a:p>
        </p:txBody>
      </p:sp>
      <p:sp>
        <p:nvSpPr>
          <p:cNvPr id="22" name="Text line"/>
          <p:cNvSpPr/>
          <p:nvPr/>
        </p:nvSpPr>
        <p:spPr>
          <a:xfrm>
            <a:off x="8778240" y="3396996"/>
            <a:ext cx="2475738" cy="54864"/>
          </a:xfrm>
          <a:prstGeom prst="roundRect">
            <a:avLst>
              <a:gd name="adj" fmla="val 50000"/>
            </a:avLst>
          </a:prstGeom>
          <a:solidFill>
            <a:srgbClr val="5A6B86"/>
          </a:solidFill>
          <a:ln>
            <a:noFill/>
          </a:ln>
        </p:spPr>
      </p:sp>
      <p:sp>
        <p:nvSpPr>
          <p:cNvPr id="23" name="Field"/>
          <p:cNvSpPr txBox="1"/>
          <p:nvPr/>
        </p:nvSpPr>
        <p:spPr>
          <a:xfrm>
            <a:off x="6519672" y="3520440"/>
            <a:ext cx="2194560" cy="18288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150" b="1" i="0" dirty="0">
                <a:solidFill>
                  <a:srgbClr val="69DECC"/>
                </a:solidFill>
                <a:latin typeface="Arial"/>
                <a:cs typeface="Arial"/>
              </a:rPr>
              <a:t>Decisions needed</a:t>
            </a:r>
          </a:p>
        </p:txBody>
      </p:sp>
      <p:sp>
        <p:nvSpPr>
          <p:cNvPr id="24" name="Text line"/>
          <p:cNvSpPr/>
          <p:nvPr/>
        </p:nvSpPr>
        <p:spPr>
          <a:xfrm>
            <a:off x="8778240" y="3584448"/>
            <a:ext cx="1563624" cy="54864"/>
          </a:xfrm>
          <a:prstGeom prst="roundRect">
            <a:avLst>
              <a:gd name="adj" fmla="val 50000"/>
            </a:avLst>
          </a:prstGeom>
          <a:solidFill>
            <a:srgbClr val="5A6B86"/>
          </a:solidFill>
          <a:ln>
            <a:noFill/>
          </a:ln>
        </p:spPr>
      </p:sp>
      <p:sp>
        <p:nvSpPr>
          <p:cNvPr id="25" name="Field"/>
          <p:cNvSpPr txBox="1"/>
          <p:nvPr/>
        </p:nvSpPr>
        <p:spPr>
          <a:xfrm>
            <a:off x="6519672" y="3707892"/>
            <a:ext cx="2194560" cy="18288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150" b="1" i="0" dirty="0">
                <a:solidFill>
                  <a:srgbClr val="69DECC"/>
                </a:solidFill>
                <a:latin typeface="Arial"/>
                <a:cs typeface="Arial"/>
              </a:rPr>
              <a:t>Assumptions</a:t>
            </a:r>
          </a:p>
        </p:txBody>
      </p:sp>
      <p:sp>
        <p:nvSpPr>
          <p:cNvPr id="26" name="Text line"/>
          <p:cNvSpPr/>
          <p:nvPr/>
        </p:nvSpPr>
        <p:spPr>
          <a:xfrm>
            <a:off x="8778240" y="3771900"/>
            <a:ext cx="2084832" cy="54864"/>
          </a:xfrm>
          <a:prstGeom prst="roundRect">
            <a:avLst>
              <a:gd name="adj" fmla="val 50000"/>
            </a:avLst>
          </a:prstGeom>
          <a:solidFill>
            <a:srgbClr val="5A6B86"/>
          </a:solidFill>
          <a:ln>
            <a:noFill/>
          </a:ln>
        </p:spPr>
      </p:sp>
      <p:sp>
        <p:nvSpPr>
          <p:cNvPr id="27" name="Field"/>
          <p:cNvSpPr txBox="1"/>
          <p:nvPr/>
        </p:nvSpPr>
        <p:spPr>
          <a:xfrm>
            <a:off x="6519672" y="3895344"/>
            <a:ext cx="2194560" cy="18288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150" b="1" i="0" dirty="0">
                <a:solidFill>
                  <a:srgbClr val="69DECC"/>
                </a:solidFill>
                <a:latin typeface="Arial"/>
                <a:cs typeface="Arial"/>
              </a:rPr>
              <a:t>Untrusted content seen</a:t>
            </a:r>
          </a:p>
        </p:txBody>
      </p:sp>
      <p:sp>
        <p:nvSpPr>
          <p:cNvPr id="28" name="Text line"/>
          <p:cNvSpPr/>
          <p:nvPr/>
        </p:nvSpPr>
        <p:spPr>
          <a:xfrm>
            <a:off x="8778240" y="3959352"/>
            <a:ext cx="1303020" cy="54864"/>
          </a:xfrm>
          <a:prstGeom prst="roundRect">
            <a:avLst>
              <a:gd name="adj" fmla="val 50000"/>
            </a:avLst>
          </a:prstGeom>
          <a:solidFill>
            <a:srgbClr val="5A6B86"/>
          </a:solidFill>
          <a:ln>
            <a:noFill/>
          </a:ln>
        </p:spPr>
      </p:sp>
      <p:sp>
        <p:nvSpPr>
          <p:cNvPr id="29" name="Label"/>
          <p:cNvSpPr txBox="1"/>
          <p:nvPr/>
        </p:nvSpPr>
        <p:spPr>
          <a:xfrm>
            <a:off x="548640" y="4279392"/>
            <a:ext cx="11091672" cy="27432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200" b="1" i="0" spc="100" dirty="0">
                <a:solidFill>
                  <a:srgbClr val="FFC36A"/>
                </a:solidFill>
                <a:latin typeface="Arial"/>
                <a:cs typeface="Arial"/>
              </a:rPr>
              <a:t>SAME WORD LIMIT, BUT THE FORMAT CAN CHANGE WHAT THE WRITER INCLUDES</a:t>
            </a:r>
          </a:p>
        </p:txBody>
      </p:sp>
      <p:sp>
        <p:nvSpPr>
          <p:cNvPr id="30" name="Why summary"/>
          <p:cNvSpPr/>
          <p:nvPr/>
        </p:nvSpPr>
        <p:spPr>
          <a:xfrm>
            <a:off x="548640" y="4617720"/>
            <a:ext cx="5349240" cy="731520"/>
          </a:xfrm>
          <a:prstGeom prst="roundRect">
            <a:avLst>
              <a:gd name="adj" fmla="val 10000"/>
            </a:avLst>
          </a:prstGeom>
          <a:solidFill>
            <a:srgbClr val="24334B"/>
          </a:solidFill>
          <a:ln>
            <a:noFill/>
          </a:ln>
        </p:spPr>
        <p:txBody>
          <a:bodyPr vert="horz" wrap="square" lIns="228600" tIns="45720" rIns="182880" bIns="45720" rtlCol="0" anchor="ctr">
            <a:noAutofit/>
          </a:bodyPr>
          <a:lstStyle/>
          <a:p>
            <a:pPr marL="0" indent="0" algn="l">
              <a:lnSpc>
                <a:spcPct val="105000"/>
              </a:lnSpc>
              <a:spcBef>
                <a:spcPts val="0"/>
              </a:spcBef>
              <a:spcAft>
                <a:spcPts val="0"/>
              </a:spcAft>
              <a:buNone/>
            </a:pPr>
            <a:r>
              <a:rPr lang="en-SG" sz="1500" b="1" i="0" dirty="0">
                <a:solidFill>
                  <a:srgbClr val="B9C4D5"/>
                </a:solidFill>
                <a:latin typeface="Arial"/>
                <a:cs typeface="Arial"/>
              </a:rPr>
              <a:t>A summary could help: </a:t>
            </a:r>
            <a:r>
              <a:rPr lang="en-SG" sz="1500" b="0" i="0" dirty="0">
                <a:solidFill>
                  <a:srgbClr val="F5F3EB"/>
                </a:solidFill>
                <a:latin typeface="Arial"/>
                <a:cs typeface="Arial"/>
              </a:rPr>
              <a:t>no words go on labels, leaving room to explain why.</a:t>
            </a:r>
          </a:p>
        </p:txBody>
      </p:sp>
      <p:sp>
        <p:nvSpPr>
          <p:cNvPr id="31" name="Why checklist"/>
          <p:cNvSpPr/>
          <p:nvPr/>
        </p:nvSpPr>
        <p:spPr>
          <a:xfrm>
            <a:off x="6291072" y="4617720"/>
            <a:ext cx="5349240" cy="731520"/>
          </a:xfrm>
          <a:prstGeom prst="roundRect">
            <a:avLst>
              <a:gd name="adj" fmla="val 10000"/>
            </a:avLst>
          </a:prstGeom>
          <a:solidFill>
            <a:srgbClr val="24334B"/>
          </a:solidFill>
          <a:ln>
            <a:noFill/>
          </a:ln>
        </p:spPr>
        <p:txBody>
          <a:bodyPr vert="horz" wrap="square" lIns="228600" tIns="45720" rIns="182880" bIns="45720" rtlCol="0" anchor="ctr">
            <a:noAutofit/>
          </a:bodyPr>
          <a:lstStyle/>
          <a:p>
            <a:pPr marL="0" indent="0" algn="l">
              <a:lnSpc>
                <a:spcPct val="105000"/>
              </a:lnSpc>
              <a:spcBef>
                <a:spcPts val="0"/>
              </a:spcBef>
              <a:spcAft>
                <a:spcPts val="0"/>
              </a:spcAft>
              <a:buNone/>
            </a:pPr>
            <a:r>
              <a:rPr lang="en-SG" sz="1500" b="1" i="0" dirty="0">
                <a:solidFill>
                  <a:srgbClr val="69DECC"/>
                </a:solidFill>
                <a:latin typeface="Arial"/>
                <a:cs typeface="Arial"/>
              </a:rPr>
              <a:t>A checklist could help: </a:t>
            </a:r>
            <a:r>
              <a:rPr lang="en-SG" sz="1500" b="0" i="0" dirty="0">
                <a:solidFill>
                  <a:srgbClr val="F5F3EB"/>
                </a:solidFill>
                <a:latin typeface="Arial"/>
                <a:cs typeface="Arial"/>
              </a:rPr>
              <a:t>each field reminds the writer to cover that topic.</a:t>
            </a:r>
          </a:p>
        </p:txBody>
      </p:sp>
      <p:sp>
        <p:nvSpPr>
          <p:cNvPr id="32" name="Measure"/>
          <p:cNvSpPr/>
          <p:nvPr/>
        </p:nvSpPr>
        <p:spPr>
          <a:xfrm>
            <a:off x="548640" y="5486400"/>
            <a:ext cx="11091672" cy="621792"/>
          </a:xfrm>
          <a:prstGeom prst="roundRect">
            <a:avLst>
              <a:gd name="adj" fmla="val 11764"/>
            </a:avLst>
          </a:prstGeom>
          <a:solidFill>
            <a:srgbClr val="1B2940"/>
          </a:solidFill>
          <a:ln>
            <a:noFill/>
          </a:ln>
        </p:spPr>
        <p:txBody>
          <a:bodyPr vert="horz" wrap="square" lIns="274320" tIns="45720" rIns="274320" bIns="45720" rtlCol="0" anchor="ctr">
            <a:noAutofit/>
          </a:bodyPr>
          <a:lstStyle/>
          <a:p>
            <a:pPr marL="0" indent="0" algn="l">
              <a:lnSpc>
                <a:spcPct val="100000"/>
              </a:lnSpc>
              <a:spcBef>
                <a:spcPts val="0"/>
              </a:spcBef>
              <a:spcAft>
                <a:spcPts val="0"/>
              </a:spcAft>
              <a:buNone/>
            </a:pPr>
            <a:r>
              <a:rPr lang="en-SG" sz="1800" b="0" i="0" dirty="0">
                <a:solidFill>
                  <a:srgbClr val="F5F3EB"/>
                </a:solidFill>
                <a:latin typeface="Arial"/>
                <a:cs typeface="Arial"/>
              </a:rPr>
              <a:t>Then I measured </a:t>
            </a:r>
            <a:r>
              <a:rPr lang="en-SG" sz="1800" b="1" i="0" dirty="0">
                <a:solidFill>
                  <a:srgbClr val="FFC36A"/>
                </a:solidFill>
                <a:latin typeface="Arial"/>
                <a:cs typeface="Arial"/>
              </a:rPr>
              <a:t>how much information the next agent correctly recovers, misses or gets wrong.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1B2D"/>
        </a:solidFill>
        <a:effectLst/>
      </p:bgPr>
    </p:bg>
    <p:spTree>
      <p:nvGrpSpPr>
        <p:cNvPr id="1" name=""/>
        <p:cNvGrpSpPr/>
        <p:nvPr/>
      </p:nvGrpSpPr>
      <p:grpSpPr>
        <a:xfrm>
          <a:off x="0" y="0"/>
          <a:ext cx="0" cy="0"/>
          <a:chOff x="0" y="0"/>
          <a:chExt cx="0" cy="0"/>
        </a:xfrm>
      </p:grpSpPr>
      <p:sp>
        <p:nvSpPr>
          <p:cNvPr id="2" name="Section label"/>
          <p:cNvSpPr txBox="1"/>
          <p:nvPr/>
        </p:nvSpPr>
        <p:spPr>
          <a:xfrm>
            <a:off x="548640" y="329184"/>
            <a:ext cx="9144000" cy="27432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200" b="1" i="0" spc="100" dirty="0">
                <a:solidFill>
                  <a:srgbClr val="69DECC"/>
                </a:solidFill>
                <a:latin typeface="Arial"/>
                <a:cs typeface="Arial"/>
              </a:rPr>
              <a:t>THE CODING TASK</a:t>
            </a:r>
          </a:p>
        </p:txBody>
      </p:sp>
      <p:sp>
        <p:nvSpPr>
          <p:cNvPr id="3" name="Title"/>
          <p:cNvSpPr>
            <a:spLocks noGrp="1"/>
          </p:cNvSpPr>
          <p:nvPr>
            <p:ph type="title"/>
          </p:nvPr>
        </p:nvSpPr>
        <p:spPr>
          <a:xfrm>
            <a:off x="548640" y="658368"/>
            <a:ext cx="11091672" cy="658368"/>
          </a:xfrm>
        </p:spPr>
        <p:txBody>
          <a:bodyPr vert="horz" wrap="square" lIns="0" tIns="0" rIns="0" bIns="0" rtlCol="0" anchor="t">
            <a:noAutofit/>
          </a:bodyPr>
          <a:lstStyle/>
          <a:p>
            <a:pPr marL="0" indent="0" algn="l">
              <a:lnSpc>
                <a:spcPct val="95000"/>
              </a:lnSpc>
              <a:spcBef>
                <a:spcPts val="0"/>
              </a:spcBef>
              <a:spcAft>
                <a:spcPts val="0"/>
              </a:spcAft>
              <a:buNone/>
            </a:pPr>
            <a:r>
              <a:rPr lang="en-SG" sz="3000" b="1" i="0" dirty="0">
                <a:solidFill>
                  <a:srgbClr val="F5F3EB"/>
                </a:solidFill>
                <a:latin typeface="Arial"/>
                <a:cs typeface="Arial"/>
              </a:rPr>
              <a:t>The task: fix 5 bugs in Deskmate’s LLM health check</a:t>
            </a:r>
          </a:p>
        </p:txBody>
      </p:sp>
      <p:sp>
        <p:nvSpPr>
          <p:cNvPr id="4" name="Lead"/>
          <p:cNvSpPr txBox="1"/>
          <p:nvPr/>
        </p:nvSpPr>
        <p:spPr>
          <a:xfrm>
            <a:off x="548640" y="1353312"/>
            <a:ext cx="11091672" cy="731520"/>
          </a:xfrm>
          <a:prstGeom prst="rect">
            <a:avLst/>
          </a:prstGeom>
          <a:noFill/>
          <a:ln>
            <a:noFill/>
          </a:ln>
        </p:spPr>
        <p:txBody>
          <a:bodyPr vert="horz" wrap="square" lIns="0" tIns="0" rIns="0" bIns="0" rtlCol="0" anchor="t">
            <a:noAutofit/>
          </a:bodyPr>
          <a:lstStyle/>
          <a:p>
            <a:pPr marL="0" indent="0" algn="l">
              <a:lnSpc>
                <a:spcPct val="110000"/>
              </a:lnSpc>
              <a:spcBef>
                <a:spcPts val="0"/>
              </a:spcBef>
              <a:spcAft>
                <a:spcPts val="0"/>
              </a:spcAft>
              <a:buNone/>
            </a:pPr>
            <a:r>
              <a:rPr lang="en-SG" sz="1800" b="0" i="0" dirty="0">
                <a:solidFill>
                  <a:srgbClr val="D6DDE8"/>
                </a:solidFill>
                <a:latin typeface="Arial"/>
                <a:cs typeface="Arial"/>
              </a:rPr>
              <a:t>First, a coding agent did a real MP3 task. Deskmate’s health check tests whether our app can reach the SoC LLM provider, and its starting code had 5 bugs.</a:t>
            </a:r>
          </a:p>
        </p:txBody>
      </p:sp>
      <p:sp>
        <p:nvSpPr>
          <p:cNvPr id="5" name="Slide number"/>
          <p:cNvSpPr txBox="1"/>
          <p:nvPr/>
        </p:nvSpPr>
        <p:spPr>
          <a:xfrm>
            <a:off x="10424160" y="6382512"/>
            <a:ext cx="1216152" cy="256032"/>
          </a:xfrm>
          <a:prstGeom prst="rect">
            <a:avLst/>
          </a:prstGeom>
          <a:noFill/>
          <a:ln>
            <a:noFill/>
          </a:ln>
        </p:spPr>
        <p:txBody>
          <a:bodyPr vert="horz" wrap="square" lIns="0" tIns="0" rIns="0" bIns="0" rtlCol="0" anchor="ctr">
            <a:noAutofit/>
          </a:bodyPr>
          <a:lstStyle/>
          <a:p>
            <a:pPr marL="0" indent="0" algn="r">
              <a:lnSpc>
                <a:spcPct val="100000"/>
              </a:lnSpc>
              <a:spcBef>
                <a:spcPts val="0"/>
              </a:spcBef>
              <a:spcAft>
                <a:spcPts val="0"/>
              </a:spcAft>
              <a:buNone/>
            </a:pPr>
            <a:r>
              <a:rPr lang="en-SG" sz="1050" b="0" i="0" dirty="0">
                <a:solidFill>
                  <a:srgbClr val="B9C4D5"/>
                </a:solidFill>
                <a:latin typeface="Arial"/>
                <a:cs typeface="Arial"/>
              </a:rPr>
              <a:t>5 / 12</a:t>
            </a:r>
          </a:p>
        </p:txBody>
      </p:sp>
      <p:sp>
        <p:nvSpPr>
          <p:cNvPr id="6" name="Deskmate app"/>
          <p:cNvSpPr/>
          <p:nvPr/>
        </p:nvSpPr>
        <p:spPr>
          <a:xfrm>
            <a:off x="548640" y="2240280"/>
            <a:ext cx="2377440" cy="896112"/>
          </a:xfrm>
          <a:prstGeom prst="roundRect">
            <a:avLst>
              <a:gd name="adj" fmla="val 8163"/>
            </a:avLst>
          </a:prstGeom>
          <a:solidFill>
            <a:srgbClr val="1B2940"/>
          </a:solidFill>
          <a:ln>
            <a:noFill/>
          </a:ln>
        </p:spPr>
        <p:txBody>
          <a:bodyPr vert="horz" wrap="square" lIns="164592" tIns="128016" rIns="164592" bIns="128016" rtlCol="0" anchor="ctr">
            <a:noAutofit/>
          </a:bodyPr>
          <a:lstStyle/>
          <a:p>
            <a:pPr marL="0" indent="0" algn="ctr">
              <a:lnSpc>
                <a:spcPct val="100000"/>
              </a:lnSpc>
              <a:spcBef>
                <a:spcPts val="0"/>
              </a:spcBef>
              <a:spcAft>
                <a:spcPts val="0"/>
              </a:spcAft>
              <a:buNone/>
            </a:pPr>
            <a:r>
              <a:rPr lang="en-SG" sz="1600" b="1" i="0" dirty="0">
                <a:solidFill>
                  <a:srgbClr val="F5F3EB"/>
                </a:solidFill>
                <a:latin typeface="Arial"/>
                <a:cs typeface="Arial"/>
              </a:rPr>
              <a:t>Deskmate app</a:t>
            </a:r>
          </a:p>
          <a:p>
            <a:pPr marL="0" indent="0" algn="ctr">
              <a:lnSpc>
                <a:spcPct val="100000"/>
              </a:lnSpc>
              <a:spcBef>
                <a:spcPts val="0"/>
              </a:spcBef>
              <a:spcAft>
                <a:spcPts val="0"/>
              </a:spcAft>
              <a:buNone/>
            </a:pPr>
            <a:r>
              <a:rPr lang="en-SG" sz="1200" b="0" i="0" dirty="0">
                <a:solidFill>
                  <a:srgbClr val="B9C4D5"/>
                </a:solidFill>
                <a:latin typeface="Arial"/>
                <a:cs typeface="Arial"/>
              </a:rPr>
              <a:t>our MP3 project</a:t>
            </a:r>
          </a:p>
        </p:txBody>
      </p:sp>
      <p:sp>
        <p:nvSpPr>
          <p:cNvPr id="7" name="LLM provider"/>
          <p:cNvSpPr/>
          <p:nvPr/>
        </p:nvSpPr>
        <p:spPr>
          <a:xfrm>
            <a:off x="9262872" y="2240280"/>
            <a:ext cx="2377440" cy="896112"/>
          </a:xfrm>
          <a:prstGeom prst="roundRect">
            <a:avLst>
              <a:gd name="adj" fmla="val 8163"/>
            </a:avLst>
          </a:prstGeom>
          <a:solidFill>
            <a:srgbClr val="1B2940"/>
          </a:solidFill>
          <a:ln>
            <a:noFill/>
          </a:ln>
        </p:spPr>
        <p:txBody>
          <a:bodyPr vert="horz" wrap="square" lIns="164592" tIns="128016" rIns="164592" bIns="128016" rtlCol="0" anchor="ctr">
            <a:noAutofit/>
          </a:bodyPr>
          <a:lstStyle/>
          <a:p>
            <a:pPr marL="0" indent="0" algn="ctr">
              <a:lnSpc>
                <a:spcPct val="100000"/>
              </a:lnSpc>
              <a:spcBef>
                <a:spcPts val="0"/>
              </a:spcBef>
              <a:spcAft>
                <a:spcPts val="0"/>
              </a:spcAft>
              <a:buNone/>
            </a:pPr>
            <a:r>
              <a:rPr lang="en-SG" sz="1600" b="1" i="0" dirty="0">
                <a:solidFill>
                  <a:srgbClr val="F5F3EB"/>
                </a:solidFill>
                <a:latin typeface="Arial"/>
                <a:cs typeface="Arial"/>
              </a:rPr>
              <a:t>SoC LLM provider</a:t>
            </a:r>
          </a:p>
          <a:p>
            <a:pPr marL="0" indent="0" algn="ctr">
              <a:lnSpc>
                <a:spcPct val="100000"/>
              </a:lnSpc>
              <a:spcBef>
                <a:spcPts val="0"/>
              </a:spcBef>
              <a:spcAft>
                <a:spcPts val="0"/>
              </a:spcAft>
              <a:buNone/>
            </a:pPr>
            <a:r>
              <a:rPr lang="en-SG" sz="1200" b="0" i="0" dirty="0">
                <a:solidFill>
                  <a:srgbClr val="B9C4D5"/>
                </a:solidFill>
                <a:latin typeface="Arial"/>
                <a:cs typeface="Arial"/>
              </a:rPr>
              <a:t>the AI model’s server</a:t>
            </a:r>
          </a:p>
        </p:txBody>
      </p:sp>
      <p:cxnSp>
        <p:nvCxnSpPr>
          <p:cNvPr id="8" name="Request"/>
          <p:cNvCxnSpPr/>
          <p:nvPr/>
        </p:nvCxnSpPr>
        <p:spPr>
          <a:xfrm>
            <a:off x="3017520" y="2523744"/>
            <a:ext cx="6153912" cy="0"/>
          </a:xfrm>
          <a:prstGeom prst="straightConnector1">
            <a:avLst/>
          </a:prstGeom>
          <a:ln w="28575">
            <a:solidFill>
              <a:srgbClr val="7F8EA6"/>
            </a:solidFill>
            <a:tailEnd type="triangle" w="med" len="med"/>
          </a:ln>
        </p:spPr>
      </p:cxnSp>
      <p:cxnSp>
        <p:nvCxnSpPr>
          <p:cNvPr id="9" name="Response"/>
          <p:cNvCxnSpPr/>
          <p:nvPr/>
        </p:nvCxnSpPr>
        <p:spPr>
          <a:xfrm flipH="1">
            <a:off x="3017520" y="2862072"/>
            <a:ext cx="6153912" cy="0"/>
          </a:xfrm>
          <a:prstGeom prst="straightConnector1">
            <a:avLst/>
          </a:prstGeom>
          <a:ln w="28575">
            <a:solidFill>
              <a:srgbClr val="7F8EA6"/>
            </a:solidFill>
            <a:tailEnd type="triangle" w="med" len="med"/>
          </a:ln>
        </p:spPr>
      </p:cxnSp>
      <p:sp>
        <p:nvSpPr>
          <p:cNvPr id="10" name="Request label"/>
          <p:cNvSpPr txBox="1"/>
          <p:nvPr/>
        </p:nvSpPr>
        <p:spPr>
          <a:xfrm>
            <a:off x="3108960" y="2176272"/>
            <a:ext cx="5943600" cy="301752"/>
          </a:xfrm>
          <a:prstGeom prst="rect">
            <a:avLst/>
          </a:prstGeom>
          <a:noFill/>
          <a:ln>
            <a:noFill/>
          </a:ln>
        </p:spPr>
        <p:txBody>
          <a:bodyPr vert="horz" wrap="square" lIns="0" tIns="0" rIns="0" bIns="0" rtlCol="0" anchor="b">
            <a:noAutofit/>
          </a:bodyPr>
          <a:lstStyle/>
          <a:p>
            <a:pPr marL="0" indent="0" algn="ctr">
              <a:lnSpc>
                <a:spcPct val="100000"/>
              </a:lnSpc>
              <a:spcBef>
                <a:spcPts val="0"/>
              </a:spcBef>
              <a:spcAft>
                <a:spcPts val="0"/>
              </a:spcAft>
              <a:buNone/>
            </a:pPr>
            <a:r>
              <a:rPr lang="en-SG" sz="1300" b="0" i="0" dirty="0">
                <a:solidFill>
                  <a:srgbClr val="D6DDE8"/>
                </a:solidFill>
                <a:latin typeface="Arial"/>
                <a:cs typeface="Arial"/>
              </a:rPr>
              <a:t>1  Send one fixed request: “Reply with OK.”</a:t>
            </a:r>
          </a:p>
        </p:txBody>
      </p:sp>
      <p:sp>
        <p:nvSpPr>
          <p:cNvPr id="11" name="Response label"/>
          <p:cNvSpPr txBox="1"/>
          <p:nvPr/>
        </p:nvSpPr>
        <p:spPr>
          <a:xfrm>
            <a:off x="3108960" y="2916936"/>
            <a:ext cx="5943600" cy="301752"/>
          </a:xfrm>
          <a:prstGeom prst="rect">
            <a:avLst/>
          </a:prstGeom>
          <a:noFill/>
          <a:ln>
            <a:noFill/>
          </a:ln>
        </p:spPr>
        <p:txBody>
          <a:bodyPr vert="horz" wrap="square" lIns="0" tIns="0" rIns="0" bIns="0" rtlCol="0" anchor="t">
            <a:noAutofit/>
          </a:bodyPr>
          <a:lstStyle/>
          <a:p>
            <a:pPr marL="0" indent="0" algn="ctr">
              <a:lnSpc>
                <a:spcPct val="100000"/>
              </a:lnSpc>
              <a:spcBef>
                <a:spcPts val="0"/>
              </a:spcBef>
              <a:spcAft>
                <a:spcPts val="0"/>
              </a:spcAft>
              <a:buNone/>
            </a:pPr>
            <a:r>
              <a:rPr lang="en-SG" sz="1300" b="0" i="0" dirty="0">
                <a:solidFill>
                  <a:srgbClr val="D6DDE8"/>
                </a:solidFill>
                <a:latin typeface="Arial"/>
                <a:cs typeface="Arial"/>
              </a:rPr>
              <a:t>2  Check the reply: is it a valid answer from the model?</a:t>
            </a:r>
          </a:p>
        </p:txBody>
      </p:sp>
      <p:sp>
        <p:nvSpPr>
          <p:cNvPr id="12" name="Label"/>
          <p:cNvSpPr txBox="1"/>
          <p:nvPr/>
        </p:nvSpPr>
        <p:spPr>
          <a:xfrm>
            <a:off x="548640" y="3401568"/>
            <a:ext cx="7315200" cy="27432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200" b="1" i="0" spc="100" dirty="0">
                <a:solidFill>
                  <a:srgbClr val="FFC36A"/>
                </a:solidFill>
                <a:latin typeface="Arial"/>
                <a:cs typeface="Arial"/>
              </a:rPr>
              <a:t>5 BUGS IN THE STARTING CODE</a:t>
            </a:r>
          </a:p>
        </p:txBody>
      </p:sp>
      <p:sp>
        <p:nvSpPr>
          <p:cNvPr id="13" name="Bug 1" descr="Bug 1: Timeout. No overall 10-second limit on the whole check."/>
          <p:cNvSpPr/>
          <p:nvPr/>
        </p:nvSpPr>
        <p:spPr>
          <a:xfrm>
            <a:off x="548640" y="3749040"/>
            <a:ext cx="2057400" cy="1828800"/>
          </a:xfrm>
          <a:prstGeom prst="roundRect">
            <a:avLst>
              <a:gd name="adj" fmla="val 4000"/>
            </a:avLst>
          </a:prstGeom>
          <a:solidFill>
            <a:srgbClr val="1B2940"/>
          </a:solidFill>
          <a:ln>
            <a:noFill/>
          </a:ln>
        </p:spPr>
      </p:sp>
      <p:sp>
        <p:nvSpPr>
          <p:cNvPr id="14" name="Number 1"/>
          <p:cNvSpPr/>
          <p:nvPr/>
        </p:nvSpPr>
        <p:spPr>
          <a:xfrm>
            <a:off x="740664" y="3913632"/>
            <a:ext cx="438912" cy="438912"/>
          </a:xfrm>
          <a:prstGeom prst="ellipse">
            <a:avLst/>
          </a:prstGeom>
          <a:solidFill>
            <a:srgbClr val="FFC36A"/>
          </a:solidFill>
          <a:ln>
            <a:noFill/>
          </a:ln>
        </p:spPr>
        <p:txBody>
          <a:bodyPr vert="horz" wrap="square" lIns="0" tIns="0" rIns="0" bIns="0" rtlCol="0" anchor="ctr">
            <a:noAutofit/>
          </a:bodyPr>
          <a:lstStyle/>
          <a:p>
            <a:pPr marL="0" indent="0" algn="ctr">
              <a:lnSpc>
                <a:spcPct val="100000"/>
              </a:lnSpc>
              <a:spcBef>
                <a:spcPts val="0"/>
              </a:spcBef>
              <a:spcAft>
                <a:spcPts val="0"/>
              </a:spcAft>
              <a:buNone/>
            </a:pPr>
            <a:r>
              <a:rPr lang="en-SG" sz="1400" b="1" i="0" dirty="0">
                <a:solidFill>
                  <a:srgbClr val="101B2D"/>
                </a:solidFill>
                <a:latin typeface="Arial"/>
                <a:cs typeface="Arial"/>
              </a:rPr>
              <a:t>1</a:t>
            </a:r>
          </a:p>
        </p:txBody>
      </p:sp>
      <p:sp>
        <p:nvSpPr>
          <p:cNvPr id="15" name="Bug title"/>
          <p:cNvSpPr txBox="1"/>
          <p:nvPr/>
        </p:nvSpPr>
        <p:spPr>
          <a:xfrm>
            <a:off x="731520" y="4434840"/>
            <a:ext cx="1783080" cy="36576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500" b="1" i="0" dirty="0">
                <a:solidFill>
                  <a:srgbClr val="F5F3EB"/>
                </a:solidFill>
                <a:latin typeface="Arial"/>
                <a:cs typeface="Arial"/>
              </a:rPr>
              <a:t>Timeout</a:t>
            </a:r>
          </a:p>
        </p:txBody>
      </p:sp>
      <p:sp>
        <p:nvSpPr>
          <p:cNvPr id="16" name="Bug detail"/>
          <p:cNvSpPr txBox="1"/>
          <p:nvPr/>
        </p:nvSpPr>
        <p:spPr>
          <a:xfrm>
            <a:off x="731520" y="4818888"/>
            <a:ext cx="1737360" cy="713232"/>
          </a:xfrm>
          <a:prstGeom prst="rect">
            <a:avLst/>
          </a:prstGeom>
          <a:noFill/>
          <a:ln>
            <a:noFill/>
          </a:ln>
        </p:spPr>
        <p:txBody>
          <a:bodyPr vert="horz" wrap="square" lIns="0" tIns="0" rIns="0" bIns="0" rtlCol="0" anchor="t">
            <a:noAutofit/>
          </a:bodyPr>
          <a:lstStyle/>
          <a:p>
            <a:pPr marL="0" indent="0" algn="l">
              <a:lnSpc>
                <a:spcPct val="103000"/>
              </a:lnSpc>
              <a:spcBef>
                <a:spcPts val="0"/>
              </a:spcBef>
              <a:spcAft>
                <a:spcPts val="0"/>
              </a:spcAft>
              <a:buNone/>
            </a:pPr>
            <a:r>
              <a:rPr lang="en-SG" sz="1350" b="0" i="0" dirty="0">
                <a:solidFill>
                  <a:srgbClr val="B9C4D5"/>
                </a:solidFill>
                <a:latin typeface="Arial"/>
                <a:cs typeface="Arial"/>
              </a:rPr>
              <a:t>No overall 10-second limit on the whole check</a:t>
            </a:r>
          </a:p>
        </p:txBody>
      </p:sp>
      <p:sp>
        <p:nvSpPr>
          <p:cNvPr id="17" name="Bug 2" descr="Bug 2: Proxy. May send the request via the machine’s proxy server."/>
          <p:cNvSpPr/>
          <p:nvPr/>
        </p:nvSpPr>
        <p:spPr>
          <a:xfrm>
            <a:off x="2807208" y="3749040"/>
            <a:ext cx="2057400" cy="1828800"/>
          </a:xfrm>
          <a:prstGeom prst="roundRect">
            <a:avLst>
              <a:gd name="adj" fmla="val 4000"/>
            </a:avLst>
          </a:prstGeom>
          <a:solidFill>
            <a:srgbClr val="1B2940"/>
          </a:solidFill>
          <a:ln>
            <a:noFill/>
          </a:ln>
        </p:spPr>
      </p:sp>
      <p:sp>
        <p:nvSpPr>
          <p:cNvPr id="18" name="Number 2"/>
          <p:cNvSpPr/>
          <p:nvPr/>
        </p:nvSpPr>
        <p:spPr>
          <a:xfrm>
            <a:off x="2999232" y="3913632"/>
            <a:ext cx="438912" cy="438912"/>
          </a:xfrm>
          <a:prstGeom prst="ellipse">
            <a:avLst/>
          </a:prstGeom>
          <a:solidFill>
            <a:srgbClr val="FFC36A"/>
          </a:solidFill>
          <a:ln>
            <a:noFill/>
          </a:ln>
        </p:spPr>
        <p:txBody>
          <a:bodyPr vert="horz" wrap="square" lIns="0" tIns="0" rIns="0" bIns="0" rtlCol="0" anchor="ctr">
            <a:noAutofit/>
          </a:bodyPr>
          <a:lstStyle/>
          <a:p>
            <a:pPr marL="0" indent="0" algn="ctr">
              <a:lnSpc>
                <a:spcPct val="100000"/>
              </a:lnSpc>
              <a:spcBef>
                <a:spcPts val="0"/>
              </a:spcBef>
              <a:spcAft>
                <a:spcPts val="0"/>
              </a:spcAft>
              <a:buNone/>
            </a:pPr>
            <a:r>
              <a:rPr lang="en-SG" sz="1400" b="1" i="0" dirty="0">
                <a:solidFill>
                  <a:srgbClr val="101B2D"/>
                </a:solidFill>
                <a:latin typeface="Arial"/>
                <a:cs typeface="Arial"/>
              </a:rPr>
              <a:t>2</a:t>
            </a:r>
          </a:p>
        </p:txBody>
      </p:sp>
      <p:sp>
        <p:nvSpPr>
          <p:cNvPr id="19" name="Bug title"/>
          <p:cNvSpPr txBox="1"/>
          <p:nvPr/>
        </p:nvSpPr>
        <p:spPr>
          <a:xfrm>
            <a:off x="2990088" y="4434840"/>
            <a:ext cx="1783080" cy="36576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500" b="1" i="0" dirty="0">
                <a:solidFill>
                  <a:srgbClr val="F5F3EB"/>
                </a:solidFill>
                <a:latin typeface="Arial"/>
                <a:cs typeface="Arial"/>
              </a:rPr>
              <a:t>Proxy</a:t>
            </a:r>
          </a:p>
        </p:txBody>
      </p:sp>
      <p:sp>
        <p:nvSpPr>
          <p:cNvPr id="20" name="Bug detail"/>
          <p:cNvSpPr txBox="1"/>
          <p:nvPr/>
        </p:nvSpPr>
        <p:spPr>
          <a:xfrm>
            <a:off x="2990088" y="4818888"/>
            <a:ext cx="1737360" cy="713232"/>
          </a:xfrm>
          <a:prstGeom prst="rect">
            <a:avLst/>
          </a:prstGeom>
          <a:noFill/>
          <a:ln>
            <a:noFill/>
          </a:ln>
        </p:spPr>
        <p:txBody>
          <a:bodyPr vert="horz" wrap="square" lIns="0" tIns="0" rIns="0" bIns="0" rtlCol="0" anchor="t">
            <a:noAutofit/>
          </a:bodyPr>
          <a:lstStyle/>
          <a:p>
            <a:pPr marL="0" indent="0" algn="l">
              <a:lnSpc>
                <a:spcPct val="103000"/>
              </a:lnSpc>
              <a:spcBef>
                <a:spcPts val="0"/>
              </a:spcBef>
              <a:spcAft>
                <a:spcPts val="0"/>
              </a:spcAft>
              <a:buNone/>
            </a:pPr>
            <a:r>
              <a:rPr lang="en-SG" sz="1350" b="0" i="0" dirty="0">
                <a:solidFill>
                  <a:srgbClr val="B9C4D5"/>
                </a:solidFill>
                <a:latin typeface="Arial"/>
                <a:cs typeface="Arial"/>
              </a:rPr>
              <a:t>May send the request via the machine’s proxy server</a:t>
            </a:r>
          </a:p>
        </p:txBody>
      </p:sp>
      <p:sp>
        <p:nvSpPr>
          <p:cNvPr id="21" name="Bug 3" descr="Bug 3: Extra header. Sends a User-Agent header it should leave out."/>
          <p:cNvSpPr/>
          <p:nvPr/>
        </p:nvSpPr>
        <p:spPr>
          <a:xfrm>
            <a:off x="5065776" y="3749040"/>
            <a:ext cx="2057400" cy="1828800"/>
          </a:xfrm>
          <a:prstGeom prst="roundRect">
            <a:avLst>
              <a:gd name="adj" fmla="val 4000"/>
            </a:avLst>
          </a:prstGeom>
          <a:solidFill>
            <a:srgbClr val="1B2940"/>
          </a:solidFill>
          <a:ln>
            <a:noFill/>
          </a:ln>
        </p:spPr>
      </p:sp>
      <p:sp>
        <p:nvSpPr>
          <p:cNvPr id="22" name="Number 3"/>
          <p:cNvSpPr/>
          <p:nvPr/>
        </p:nvSpPr>
        <p:spPr>
          <a:xfrm>
            <a:off x="5257800" y="3913632"/>
            <a:ext cx="438912" cy="438912"/>
          </a:xfrm>
          <a:prstGeom prst="ellipse">
            <a:avLst/>
          </a:prstGeom>
          <a:solidFill>
            <a:srgbClr val="FFC36A"/>
          </a:solidFill>
          <a:ln>
            <a:noFill/>
          </a:ln>
        </p:spPr>
        <p:txBody>
          <a:bodyPr vert="horz" wrap="square" lIns="0" tIns="0" rIns="0" bIns="0" rtlCol="0" anchor="ctr">
            <a:noAutofit/>
          </a:bodyPr>
          <a:lstStyle/>
          <a:p>
            <a:pPr marL="0" indent="0" algn="ctr">
              <a:lnSpc>
                <a:spcPct val="100000"/>
              </a:lnSpc>
              <a:spcBef>
                <a:spcPts val="0"/>
              </a:spcBef>
              <a:spcAft>
                <a:spcPts val="0"/>
              </a:spcAft>
              <a:buNone/>
            </a:pPr>
            <a:r>
              <a:rPr lang="en-SG" sz="1400" b="1" i="0" dirty="0">
                <a:solidFill>
                  <a:srgbClr val="101B2D"/>
                </a:solidFill>
                <a:latin typeface="Arial"/>
                <a:cs typeface="Arial"/>
              </a:rPr>
              <a:t>3</a:t>
            </a:r>
          </a:p>
        </p:txBody>
      </p:sp>
      <p:sp>
        <p:nvSpPr>
          <p:cNvPr id="23" name="Bug title"/>
          <p:cNvSpPr txBox="1"/>
          <p:nvPr/>
        </p:nvSpPr>
        <p:spPr>
          <a:xfrm>
            <a:off x="5248656" y="4434840"/>
            <a:ext cx="1783080" cy="36576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500" b="1" i="0" dirty="0">
                <a:solidFill>
                  <a:srgbClr val="F5F3EB"/>
                </a:solidFill>
                <a:latin typeface="Arial"/>
                <a:cs typeface="Arial"/>
              </a:rPr>
              <a:t>Extra header</a:t>
            </a:r>
          </a:p>
        </p:txBody>
      </p:sp>
      <p:sp>
        <p:nvSpPr>
          <p:cNvPr id="24" name="Bug detail"/>
          <p:cNvSpPr txBox="1"/>
          <p:nvPr/>
        </p:nvSpPr>
        <p:spPr>
          <a:xfrm>
            <a:off x="5248656" y="4818888"/>
            <a:ext cx="1737360" cy="713232"/>
          </a:xfrm>
          <a:prstGeom prst="rect">
            <a:avLst/>
          </a:prstGeom>
          <a:noFill/>
          <a:ln>
            <a:noFill/>
          </a:ln>
        </p:spPr>
        <p:txBody>
          <a:bodyPr vert="horz" wrap="square" lIns="0" tIns="0" rIns="0" bIns="0" rtlCol="0" anchor="t">
            <a:noAutofit/>
          </a:bodyPr>
          <a:lstStyle/>
          <a:p>
            <a:pPr marL="0" indent="0" algn="l">
              <a:lnSpc>
                <a:spcPct val="103000"/>
              </a:lnSpc>
              <a:spcBef>
                <a:spcPts val="0"/>
              </a:spcBef>
              <a:spcAft>
                <a:spcPts val="0"/>
              </a:spcAft>
              <a:buNone/>
            </a:pPr>
            <a:r>
              <a:rPr lang="en-SG" sz="1350" b="0" i="0" dirty="0">
                <a:solidFill>
                  <a:srgbClr val="B9C4D5"/>
                </a:solidFill>
                <a:latin typeface="Arial"/>
                <a:cs typeface="Arial"/>
              </a:rPr>
              <a:t>Sends a User-Agent header it should leave out</a:t>
            </a:r>
          </a:p>
        </p:txBody>
      </p:sp>
      <p:sp>
        <p:nvSpPr>
          <p:cNvPr id="25" name="Bug 4" descr="Bug 4: Bad access tokens. Some crash the check instead of being refused."/>
          <p:cNvSpPr/>
          <p:nvPr/>
        </p:nvSpPr>
        <p:spPr>
          <a:xfrm>
            <a:off x="7324344" y="3749040"/>
            <a:ext cx="2057400" cy="1828800"/>
          </a:xfrm>
          <a:prstGeom prst="roundRect">
            <a:avLst>
              <a:gd name="adj" fmla="val 4000"/>
            </a:avLst>
          </a:prstGeom>
          <a:solidFill>
            <a:srgbClr val="1B2940"/>
          </a:solidFill>
          <a:ln>
            <a:noFill/>
          </a:ln>
        </p:spPr>
      </p:sp>
      <p:sp>
        <p:nvSpPr>
          <p:cNvPr id="26" name="Number 4"/>
          <p:cNvSpPr/>
          <p:nvPr/>
        </p:nvSpPr>
        <p:spPr>
          <a:xfrm>
            <a:off x="7516368" y="3913632"/>
            <a:ext cx="438912" cy="438912"/>
          </a:xfrm>
          <a:prstGeom prst="ellipse">
            <a:avLst/>
          </a:prstGeom>
          <a:solidFill>
            <a:srgbClr val="FFC36A"/>
          </a:solidFill>
          <a:ln>
            <a:noFill/>
          </a:ln>
        </p:spPr>
        <p:txBody>
          <a:bodyPr vert="horz" wrap="square" lIns="0" tIns="0" rIns="0" bIns="0" rtlCol="0" anchor="ctr">
            <a:noAutofit/>
          </a:bodyPr>
          <a:lstStyle/>
          <a:p>
            <a:pPr marL="0" indent="0" algn="ctr">
              <a:lnSpc>
                <a:spcPct val="100000"/>
              </a:lnSpc>
              <a:spcBef>
                <a:spcPts val="0"/>
              </a:spcBef>
              <a:spcAft>
                <a:spcPts val="0"/>
              </a:spcAft>
              <a:buNone/>
            </a:pPr>
            <a:r>
              <a:rPr lang="en-SG" sz="1400" b="1" i="0" dirty="0">
                <a:solidFill>
                  <a:srgbClr val="101B2D"/>
                </a:solidFill>
                <a:latin typeface="Arial"/>
                <a:cs typeface="Arial"/>
              </a:rPr>
              <a:t>4</a:t>
            </a:r>
          </a:p>
        </p:txBody>
      </p:sp>
      <p:sp>
        <p:nvSpPr>
          <p:cNvPr id="27" name="Bug title"/>
          <p:cNvSpPr txBox="1"/>
          <p:nvPr/>
        </p:nvSpPr>
        <p:spPr>
          <a:xfrm>
            <a:off x="7507224" y="4434840"/>
            <a:ext cx="1783080" cy="36576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500" b="1" i="0" dirty="0">
                <a:solidFill>
                  <a:srgbClr val="F5F3EB"/>
                </a:solidFill>
                <a:latin typeface="Arial"/>
                <a:cs typeface="Arial"/>
              </a:rPr>
              <a:t>Bad access tokens</a:t>
            </a:r>
          </a:p>
        </p:txBody>
      </p:sp>
      <p:sp>
        <p:nvSpPr>
          <p:cNvPr id="28" name="Bug detail"/>
          <p:cNvSpPr txBox="1"/>
          <p:nvPr/>
        </p:nvSpPr>
        <p:spPr>
          <a:xfrm>
            <a:off x="7507224" y="4818888"/>
            <a:ext cx="1737360" cy="713232"/>
          </a:xfrm>
          <a:prstGeom prst="rect">
            <a:avLst/>
          </a:prstGeom>
          <a:noFill/>
          <a:ln>
            <a:noFill/>
          </a:ln>
        </p:spPr>
        <p:txBody>
          <a:bodyPr vert="horz" wrap="square" lIns="0" tIns="0" rIns="0" bIns="0" rtlCol="0" anchor="t">
            <a:noAutofit/>
          </a:bodyPr>
          <a:lstStyle/>
          <a:p>
            <a:pPr marL="0" indent="0" algn="l">
              <a:lnSpc>
                <a:spcPct val="103000"/>
              </a:lnSpc>
              <a:spcBef>
                <a:spcPts val="0"/>
              </a:spcBef>
              <a:spcAft>
                <a:spcPts val="0"/>
              </a:spcAft>
              <a:buNone/>
            </a:pPr>
            <a:r>
              <a:rPr lang="en-SG" sz="1350" b="0" i="0" dirty="0">
                <a:solidFill>
                  <a:srgbClr val="B9C4D5"/>
                </a:solidFill>
                <a:latin typeface="Arial"/>
                <a:cs typeface="Arial"/>
              </a:rPr>
              <a:t>Some crash the check instead of being refused</a:t>
            </a:r>
          </a:p>
        </p:txBody>
      </p:sp>
      <p:sp>
        <p:nvSpPr>
          <p:cNvPr id="29" name="Bug 5" descr="Bug 5: Partial replies. A network reply cut off mid-transfer crashes the check."/>
          <p:cNvSpPr/>
          <p:nvPr/>
        </p:nvSpPr>
        <p:spPr>
          <a:xfrm>
            <a:off x="9582912" y="3749040"/>
            <a:ext cx="2057400" cy="1828800"/>
          </a:xfrm>
          <a:prstGeom prst="roundRect">
            <a:avLst>
              <a:gd name="adj" fmla="val 4000"/>
            </a:avLst>
          </a:prstGeom>
          <a:solidFill>
            <a:srgbClr val="1B2940"/>
          </a:solidFill>
          <a:ln>
            <a:noFill/>
          </a:ln>
        </p:spPr>
      </p:sp>
      <p:sp>
        <p:nvSpPr>
          <p:cNvPr id="30" name="Number 5"/>
          <p:cNvSpPr/>
          <p:nvPr/>
        </p:nvSpPr>
        <p:spPr>
          <a:xfrm>
            <a:off x="9774936" y="3913632"/>
            <a:ext cx="438912" cy="438912"/>
          </a:xfrm>
          <a:prstGeom prst="ellipse">
            <a:avLst/>
          </a:prstGeom>
          <a:solidFill>
            <a:srgbClr val="FFC36A"/>
          </a:solidFill>
          <a:ln>
            <a:noFill/>
          </a:ln>
        </p:spPr>
        <p:txBody>
          <a:bodyPr vert="horz" wrap="square" lIns="0" tIns="0" rIns="0" bIns="0" rtlCol="0" anchor="ctr">
            <a:noAutofit/>
          </a:bodyPr>
          <a:lstStyle/>
          <a:p>
            <a:pPr marL="0" indent="0" algn="ctr">
              <a:lnSpc>
                <a:spcPct val="100000"/>
              </a:lnSpc>
              <a:spcBef>
                <a:spcPts val="0"/>
              </a:spcBef>
              <a:spcAft>
                <a:spcPts val="0"/>
              </a:spcAft>
              <a:buNone/>
            </a:pPr>
            <a:r>
              <a:rPr lang="en-SG" sz="1400" b="1" i="0" dirty="0">
                <a:solidFill>
                  <a:srgbClr val="101B2D"/>
                </a:solidFill>
                <a:latin typeface="Arial"/>
                <a:cs typeface="Arial"/>
              </a:rPr>
              <a:t>5</a:t>
            </a:r>
          </a:p>
        </p:txBody>
      </p:sp>
      <p:sp>
        <p:nvSpPr>
          <p:cNvPr id="31" name="Bug title"/>
          <p:cNvSpPr txBox="1"/>
          <p:nvPr/>
        </p:nvSpPr>
        <p:spPr>
          <a:xfrm>
            <a:off x="9765792" y="4434840"/>
            <a:ext cx="1783080" cy="36576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500" b="1" i="0" dirty="0">
                <a:solidFill>
                  <a:srgbClr val="F5F3EB"/>
                </a:solidFill>
                <a:latin typeface="Arial"/>
                <a:cs typeface="Arial"/>
              </a:rPr>
              <a:t>Partial replies</a:t>
            </a:r>
          </a:p>
        </p:txBody>
      </p:sp>
      <p:sp>
        <p:nvSpPr>
          <p:cNvPr id="32" name="Bug detail"/>
          <p:cNvSpPr txBox="1"/>
          <p:nvPr/>
        </p:nvSpPr>
        <p:spPr>
          <a:xfrm>
            <a:off x="9765792" y="4818888"/>
            <a:ext cx="1737360" cy="713232"/>
          </a:xfrm>
          <a:prstGeom prst="rect">
            <a:avLst/>
          </a:prstGeom>
          <a:noFill/>
          <a:ln>
            <a:noFill/>
          </a:ln>
        </p:spPr>
        <p:txBody>
          <a:bodyPr vert="horz" wrap="square" lIns="0" tIns="0" rIns="0" bIns="0" rtlCol="0" anchor="t">
            <a:noAutofit/>
          </a:bodyPr>
          <a:lstStyle/>
          <a:p>
            <a:pPr marL="0" indent="0" algn="l">
              <a:lnSpc>
                <a:spcPct val="103000"/>
              </a:lnSpc>
              <a:spcBef>
                <a:spcPts val="0"/>
              </a:spcBef>
              <a:spcAft>
                <a:spcPts val="0"/>
              </a:spcAft>
              <a:buNone/>
            </a:pPr>
            <a:r>
              <a:rPr lang="en-SG" sz="1350" b="0" i="0" dirty="0">
                <a:solidFill>
                  <a:srgbClr val="B9C4D5"/>
                </a:solidFill>
                <a:latin typeface="Arial"/>
                <a:cs typeface="Arial"/>
              </a:rPr>
              <a:t>A network reply cut off mid-transfer crashes the check</a:t>
            </a:r>
          </a:p>
        </p:txBody>
      </p:sp>
      <p:sp>
        <p:nvSpPr>
          <p:cNvPr id="33" name="Other rules"/>
          <p:cNvSpPr txBox="1"/>
          <p:nvPr/>
        </p:nvSpPr>
        <p:spPr>
          <a:xfrm>
            <a:off x="548640" y="5687568"/>
            <a:ext cx="11091672" cy="41148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500" b="0" i="0" dirty="0">
                <a:solidFill>
                  <a:srgbClr val="D6DDE8"/>
                </a:solidFill>
                <a:latin typeface="Arial"/>
                <a:cs typeface="Arial"/>
              </a:rPr>
              <a:t>The fix also had to follow all other documented rules, such as which replies count as a success.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1B2D"/>
        </a:solidFill>
        <a:effectLst/>
      </p:bgPr>
    </p:bg>
    <p:spTree>
      <p:nvGrpSpPr>
        <p:cNvPr id="1" name=""/>
        <p:cNvGrpSpPr/>
        <p:nvPr/>
      </p:nvGrpSpPr>
      <p:grpSpPr>
        <a:xfrm>
          <a:off x="0" y="0"/>
          <a:ext cx="0" cy="0"/>
          <a:chOff x="0" y="0"/>
          <a:chExt cx="0" cy="0"/>
        </a:xfrm>
      </p:grpSpPr>
      <p:sp>
        <p:nvSpPr>
          <p:cNvPr id="2" name="Section label"/>
          <p:cNvSpPr txBox="1"/>
          <p:nvPr/>
        </p:nvSpPr>
        <p:spPr>
          <a:xfrm>
            <a:off x="548640" y="329184"/>
            <a:ext cx="9144000" cy="27432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200" b="1" i="0" spc="100" dirty="0">
                <a:solidFill>
                  <a:srgbClr val="69DECC"/>
                </a:solidFill>
                <a:latin typeface="Arial"/>
                <a:cs typeface="Arial"/>
              </a:rPr>
              <a:t>THE SETUP</a:t>
            </a:r>
          </a:p>
        </p:txBody>
      </p:sp>
      <p:sp>
        <p:nvSpPr>
          <p:cNvPr id="3" name="Title"/>
          <p:cNvSpPr>
            <a:spLocks noGrp="1"/>
          </p:cNvSpPr>
          <p:nvPr>
            <p:ph type="title"/>
          </p:nvPr>
        </p:nvSpPr>
        <p:spPr>
          <a:xfrm>
            <a:off x="548640" y="658368"/>
            <a:ext cx="11091672" cy="658368"/>
          </a:xfrm>
        </p:spPr>
        <p:txBody>
          <a:bodyPr vert="horz" wrap="square" lIns="0" tIns="0" rIns="0" bIns="0" rtlCol="0" anchor="t">
            <a:noAutofit/>
          </a:bodyPr>
          <a:lstStyle/>
          <a:p>
            <a:pPr marL="0" indent="0" algn="l">
              <a:lnSpc>
                <a:spcPct val="95000"/>
              </a:lnSpc>
              <a:spcBef>
                <a:spcPts val="0"/>
              </a:spcBef>
              <a:spcAft>
                <a:spcPts val="0"/>
              </a:spcAft>
              <a:buNone/>
            </a:pPr>
            <a:r>
              <a:rPr lang="en-SG" sz="3000" b="1" i="0" dirty="0">
                <a:solidFill>
                  <a:srgbClr val="F5F3EB"/>
                </a:solidFill>
                <a:latin typeface="Arial"/>
                <a:cs typeface="Arial"/>
              </a:rPr>
              <a:t>3 agents pass the work along</a:t>
            </a:r>
          </a:p>
        </p:txBody>
      </p:sp>
      <p:sp>
        <p:nvSpPr>
          <p:cNvPr id="4" name="Lead"/>
          <p:cNvSpPr txBox="1"/>
          <p:nvPr/>
        </p:nvSpPr>
        <p:spPr>
          <a:xfrm>
            <a:off x="548640" y="1353312"/>
            <a:ext cx="11091672" cy="731520"/>
          </a:xfrm>
          <a:prstGeom prst="rect">
            <a:avLst/>
          </a:prstGeom>
          <a:noFill/>
          <a:ln>
            <a:noFill/>
          </a:ln>
        </p:spPr>
        <p:txBody>
          <a:bodyPr vert="horz" wrap="square" lIns="0" tIns="0" rIns="0" bIns="0" rtlCol="0" anchor="t">
            <a:noAutofit/>
          </a:bodyPr>
          <a:lstStyle/>
          <a:p>
            <a:pPr marL="0" indent="0" algn="l">
              <a:lnSpc>
                <a:spcPct val="110000"/>
              </a:lnSpc>
              <a:spcBef>
                <a:spcPts val="0"/>
              </a:spcBef>
              <a:spcAft>
                <a:spcPts val="0"/>
              </a:spcAft>
              <a:buNone/>
            </a:pPr>
            <a:r>
              <a:rPr lang="en-SG" sz="1800" b="0" i="0" dirty="0">
                <a:solidFill>
                  <a:srgbClr val="D6DDE8"/>
                </a:solidFill>
                <a:latin typeface="Arial"/>
                <a:cs typeface="Arial"/>
              </a:rPr>
              <a:t>The coding agent’s message history goes to 2 handoff agents, one per format. A fresh receiving agent then answers 6 questions using only one handoff.</a:t>
            </a:r>
          </a:p>
        </p:txBody>
      </p:sp>
      <p:sp>
        <p:nvSpPr>
          <p:cNvPr id="5" name="Slide number"/>
          <p:cNvSpPr txBox="1"/>
          <p:nvPr/>
        </p:nvSpPr>
        <p:spPr>
          <a:xfrm>
            <a:off x="10424160" y="6382512"/>
            <a:ext cx="1216152" cy="256032"/>
          </a:xfrm>
          <a:prstGeom prst="rect">
            <a:avLst/>
          </a:prstGeom>
          <a:noFill/>
          <a:ln>
            <a:noFill/>
          </a:ln>
        </p:spPr>
        <p:txBody>
          <a:bodyPr vert="horz" wrap="square" lIns="0" tIns="0" rIns="0" bIns="0" rtlCol="0" anchor="ctr">
            <a:noAutofit/>
          </a:bodyPr>
          <a:lstStyle/>
          <a:p>
            <a:pPr marL="0" indent="0" algn="r">
              <a:lnSpc>
                <a:spcPct val="100000"/>
              </a:lnSpc>
              <a:spcBef>
                <a:spcPts val="0"/>
              </a:spcBef>
              <a:spcAft>
                <a:spcPts val="0"/>
              </a:spcAft>
              <a:buNone/>
            </a:pPr>
            <a:r>
              <a:rPr lang="en-SG" sz="1050" b="0" i="0" dirty="0">
                <a:solidFill>
                  <a:srgbClr val="B9C4D5"/>
                </a:solidFill>
                <a:latin typeface="Arial"/>
                <a:cs typeface="Arial"/>
              </a:rPr>
              <a:t>6 / 12</a:t>
            </a:r>
          </a:p>
        </p:txBody>
      </p:sp>
      <p:sp>
        <p:nvSpPr>
          <p:cNvPr id="6" name="Coding agent" descr="Pipeline: coding agent, message history, two handoff agents, two handoffs, two receiving agents"/>
          <p:cNvSpPr/>
          <p:nvPr/>
        </p:nvSpPr>
        <p:spPr>
          <a:xfrm>
            <a:off x="548640" y="2880360"/>
            <a:ext cx="2103120" cy="1645920"/>
          </a:xfrm>
          <a:prstGeom prst="roundRect">
            <a:avLst>
              <a:gd name="adj" fmla="val 4444"/>
            </a:avLst>
          </a:prstGeom>
          <a:solidFill>
            <a:srgbClr val="1B2940"/>
          </a:solidFill>
          <a:ln>
            <a:noFill/>
          </a:ln>
        </p:spPr>
        <p:txBody>
          <a:bodyPr vert="horz" wrap="square" lIns="164592" tIns="164592" rIns="128016" bIns="109728" rtlCol="0" anchor="t">
            <a:noAutofit/>
          </a:bodyPr>
          <a:lstStyle/>
          <a:p>
            <a:pPr marL="0" indent="0" algn="l">
              <a:lnSpc>
                <a:spcPct val="100000"/>
              </a:lnSpc>
              <a:spcBef>
                <a:spcPts val="0"/>
              </a:spcBef>
              <a:spcAft>
                <a:spcPts val="400"/>
              </a:spcAft>
              <a:buNone/>
            </a:pPr>
            <a:r>
              <a:rPr lang="en-SG" sz="1500" b="1" i="0" dirty="0">
                <a:solidFill>
                  <a:srgbClr val="69DECC"/>
                </a:solidFill>
                <a:latin typeface="Arial"/>
                <a:cs typeface="Arial"/>
              </a:rPr>
              <a:t>1  </a:t>
            </a:r>
            <a:r>
              <a:rPr lang="en-SG" sz="1500" b="1" i="0" dirty="0">
                <a:solidFill>
                  <a:srgbClr val="F5F3EB"/>
                </a:solidFill>
                <a:latin typeface="Arial"/>
                <a:cs typeface="Arial"/>
              </a:rPr>
              <a:t>Coding agent</a:t>
            </a:r>
          </a:p>
          <a:p>
            <a:pPr marL="0" indent="0" algn="l">
              <a:lnSpc>
                <a:spcPct val="100000"/>
              </a:lnSpc>
              <a:spcBef>
                <a:spcPts val="0"/>
              </a:spcBef>
              <a:spcAft>
                <a:spcPts val="800"/>
              </a:spcAft>
              <a:buNone/>
            </a:pPr>
            <a:r>
              <a:rPr lang="en-SG" sz="1300" b="0" i="0" dirty="0">
                <a:solidFill>
                  <a:srgbClr val="B9C4D5"/>
                </a:solidFill>
                <a:latin typeface="Arial"/>
                <a:cs typeface="Arial"/>
              </a:rPr>
              <a:t>fixes the bugs</a:t>
            </a:r>
          </a:p>
          <a:p>
            <a:pPr marL="0" indent="0" algn="l">
              <a:lnSpc>
                <a:spcPct val="100000"/>
              </a:lnSpc>
              <a:spcBef>
                <a:spcPts val="0"/>
              </a:spcBef>
              <a:spcAft>
                <a:spcPts val="0"/>
              </a:spcAft>
              <a:buNone/>
            </a:pPr>
            <a:r>
              <a:rPr lang="en-SG" sz="1200" b="0" i="0" dirty="0">
                <a:solidFill>
                  <a:srgbClr val="69DECC"/>
                </a:solidFill>
                <a:latin typeface="Arial"/>
                <a:cs typeface="Arial"/>
              </a:rPr>
              <a:t>Claude Opus 5.5</a:t>
            </a:r>
          </a:p>
        </p:txBody>
      </p:sp>
      <p:cxnSp>
        <p:nvCxnSpPr>
          <p:cNvPr id="7" name="Arrow"/>
          <p:cNvCxnSpPr/>
          <p:nvPr/>
        </p:nvCxnSpPr>
        <p:spPr>
          <a:xfrm>
            <a:off x="2697480" y="3703320"/>
            <a:ext cx="228600" cy="0"/>
          </a:xfrm>
          <a:prstGeom prst="straightConnector1">
            <a:avLst/>
          </a:prstGeom>
          <a:ln w="25400">
            <a:solidFill>
              <a:srgbClr val="7F8EA6"/>
            </a:solidFill>
            <a:tailEnd type="triangle" w="med" len="med"/>
          </a:ln>
        </p:spPr>
      </p:cxnSp>
      <p:sp>
        <p:nvSpPr>
          <p:cNvPr id="8" name="Message history"/>
          <p:cNvSpPr/>
          <p:nvPr/>
        </p:nvSpPr>
        <p:spPr>
          <a:xfrm>
            <a:off x="2971800" y="2880360"/>
            <a:ext cx="1737360" cy="1645920"/>
          </a:xfrm>
          <a:prstGeom prst="roundRect">
            <a:avLst>
              <a:gd name="adj" fmla="val 4444"/>
            </a:avLst>
          </a:prstGeom>
          <a:solidFill>
            <a:srgbClr val="1B2940"/>
          </a:solidFill>
          <a:ln>
            <a:noFill/>
          </a:ln>
        </p:spPr>
        <p:txBody>
          <a:bodyPr vert="horz" wrap="square" lIns="146304" tIns="91440" rIns="109728" bIns="91440" rtlCol="0" anchor="ctr">
            <a:noAutofit/>
          </a:bodyPr>
          <a:lstStyle/>
          <a:p>
            <a:pPr marL="0" indent="0" algn="ctr">
              <a:lnSpc>
                <a:spcPct val="100000"/>
              </a:lnSpc>
              <a:spcBef>
                <a:spcPts val="0"/>
              </a:spcBef>
              <a:spcAft>
                <a:spcPts val="0"/>
              </a:spcAft>
              <a:buNone/>
            </a:pPr>
            <a:r>
              <a:rPr lang="en-SG" sz="1400" b="1" i="0" dirty="0">
                <a:solidFill>
                  <a:srgbClr val="F5F3EB"/>
                </a:solidFill>
                <a:latin typeface="Arial"/>
                <a:cs typeface="Arial"/>
              </a:rPr>
              <a:t>Message history</a:t>
            </a:r>
          </a:p>
        </p:txBody>
      </p:sp>
      <p:cxnSp>
        <p:nvCxnSpPr>
          <p:cNvPr id="9" name="Arrow"/>
          <p:cNvCxnSpPr/>
          <p:nvPr/>
        </p:nvCxnSpPr>
        <p:spPr>
          <a:xfrm flipV="1">
            <a:off x="4754880" y="2880360"/>
            <a:ext cx="274320" cy="822960"/>
          </a:xfrm>
          <a:prstGeom prst="straightConnector1">
            <a:avLst/>
          </a:prstGeom>
          <a:ln w="25400">
            <a:solidFill>
              <a:srgbClr val="7F8EA6"/>
            </a:solidFill>
            <a:tailEnd type="triangle" w="med" len="med"/>
          </a:ln>
        </p:spPr>
      </p:cxnSp>
      <p:sp>
        <p:nvSpPr>
          <p:cNvPr id="10" name="Handoff agent"/>
          <p:cNvSpPr/>
          <p:nvPr/>
        </p:nvSpPr>
        <p:spPr>
          <a:xfrm>
            <a:off x="5074920" y="2313432"/>
            <a:ext cx="2286000" cy="1133856"/>
          </a:xfrm>
          <a:prstGeom prst="roundRect">
            <a:avLst>
              <a:gd name="adj" fmla="val 6451"/>
            </a:avLst>
          </a:prstGeom>
          <a:solidFill>
            <a:srgbClr val="1B2940"/>
          </a:solidFill>
          <a:ln>
            <a:noFill/>
          </a:ln>
        </p:spPr>
        <p:txBody>
          <a:bodyPr vert="horz" wrap="square" lIns="164592" tIns="73152" rIns="109728" bIns="73152" rtlCol="0" anchor="ctr">
            <a:noAutofit/>
          </a:bodyPr>
          <a:lstStyle/>
          <a:p>
            <a:pPr marL="0" indent="0" algn="l">
              <a:lnSpc>
                <a:spcPct val="100000"/>
              </a:lnSpc>
              <a:spcBef>
                <a:spcPts val="0"/>
              </a:spcBef>
              <a:spcAft>
                <a:spcPts val="300"/>
              </a:spcAft>
              <a:buNone/>
            </a:pPr>
            <a:r>
              <a:rPr lang="en-SG" sz="1500" b="1" i="0" dirty="0">
                <a:solidFill>
                  <a:srgbClr val="69DECC"/>
                </a:solidFill>
                <a:latin typeface="Arial"/>
                <a:cs typeface="Arial"/>
              </a:rPr>
              <a:t>2  </a:t>
            </a:r>
            <a:r>
              <a:rPr lang="en-SG" sz="1500" b="1" i="0" dirty="0">
                <a:solidFill>
                  <a:srgbClr val="F5F3EB"/>
                </a:solidFill>
                <a:latin typeface="Arial"/>
                <a:cs typeface="Arial"/>
              </a:rPr>
              <a:t>Handoff agent</a:t>
            </a:r>
          </a:p>
          <a:p>
            <a:pPr marL="0" indent="0" algn="l">
              <a:lnSpc>
                <a:spcPct val="100000"/>
              </a:lnSpc>
              <a:spcBef>
                <a:spcPts val="0"/>
              </a:spcBef>
              <a:spcAft>
                <a:spcPts val="300"/>
              </a:spcAft>
              <a:buNone/>
            </a:pPr>
            <a:r>
              <a:rPr lang="en-SG" sz="1300" b="0" i="0" dirty="0">
                <a:solidFill>
                  <a:srgbClr val="B9C4D5"/>
                </a:solidFill>
                <a:latin typeface="Arial"/>
                <a:cs typeface="Arial"/>
              </a:rPr>
              <a:t>summarises the history</a:t>
            </a:r>
          </a:p>
          <a:p>
            <a:pPr marL="0" indent="0" algn="l">
              <a:lnSpc>
                <a:spcPct val="100000"/>
              </a:lnSpc>
              <a:spcBef>
                <a:spcPts val="0"/>
              </a:spcBef>
              <a:spcAft>
                <a:spcPts val="0"/>
              </a:spcAft>
              <a:buNone/>
            </a:pPr>
            <a:r>
              <a:rPr lang="en-SG" sz="1200" b="0" i="0" dirty="0">
                <a:solidFill>
                  <a:srgbClr val="69DECC"/>
                </a:solidFill>
                <a:latin typeface="Arial"/>
                <a:cs typeface="Arial"/>
              </a:rPr>
              <a:t>one of 4 models</a:t>
            </a:r>
          </a:p>
        </p:txBody>
      </p:sp>
      <p:cxnSp>
        <p:nvCxnSpPr>
          <p:cNvPr id="11" name="Arrow"/>
          <p:cNvCxnSpPr/>
          <p:nvPr/>
        </p:nvCxnSpPr>
        <p:spPr>
          <a:xfrm>
            <a:off x="7406640" y="2880360"/>
            <a:ext cx="274320" cy="0"/>
          </a:xfrm>
          <a:prstGeom prst="straightConnector1">
            <a:avLst/>
          </a:prstGeom>
          <a:ln w="25400">
            <a:solidFill>
              <a:srgbClr val="7F8EA6"/>
            </a:solidFill>
            <a:tailEnd type="triangle" w="med" len="med"/>
          </a:ln>
        </p:spPr>
      </p:cxnSp>
      <p:sp>
        <p:nvSpPr>
          <p:cNvPr id="12" name="Handoff"/>
          <p:cNvSpPr/>
          <p:nvPr/>
        </p:nvSpPr>
        <p:spPr>
          <a:xfrm>
            <a:off x="7726680" y="2468880"/>
            <a:ext cx="1234440" cy="822960"/>
          </a:xfrm>
          <a:prstGeom prst="roundRect">
            <a:avLst>
              <a:gd name="adj" fmla="val 8888"/>
            </a:avLst>
          </a:prstGeom>
          <a:solidFill>
            <a:srgbClr val="24334B"/>
          </a:solidFill>
          <a:ln>
            <a:noFill/>
          </a:ln>
        </p:spPr>
        <p:txBody>
          <a:bodyPr vert="horz" wrap="square" lIns="73152" tIns="36576" rIns="73152" bIns="36576" rtlCol="0" anchor="ctr">
            <a:noAutofit/>
          </a:bodyPr>
          <a:lstStyle/>
          <a:p>
            <a:pPr marL="0" indent="0" algn="ctr">
              <a:lnSpc>
                <a:spcPct val="100000"/>
              </a:lnSpc>
              <a:spcBef>
                <a:spcPts val="0"/>
              </a:spcBef>
              <a:spcAft>
                <a:spcPts val="0"/>
              </a:spcAft>
              <a:buNone/>
            </a:pPr>
            <a:r>
              <a:rPr lang="en-SG" sz="1300" b="1" i="0" dirty="0">
                <a:solidFill>
                  <a:srgbClr val="F5F3EB"/>
                </a:solidFill>
                <a:latin typeface="Arial"/>
                <a:cs typeface="Arial"/>
              </a:rPr>
              <a:t>Free-form summary</a:t>
            </a:r>
          </a:p>
        </p:txBody>
      </p:sp>
      <p:cxnSp>
        <p:nvCxnSpPr>
          <p:cNvPr id="13" name="Arrow"/>
          <p:cNvCxnSpPr/>
          <p:nvPr/>
        </p:nvCxnSpPr>
        <p:spPr>
          <a:xfrm>
            <a:off x="9006840" y="2880360"/>
            <a:ext cx="228600" cy="0"/>
          </a:xfrm>
          <a:prstGeom prst="straightConnector1">
            <a:avLst/>
          </a:prstGeom>
          <a:ln w="25400">
            <a:solidFill>
              <a:srgbClr val="7F8EA6"/>
            </a:solidFill>
            <a:tailEnd type="triangle" w="med" len="med"/>
          </a:ln>
        </p:spPr>
      </p:cxnSp>
      <p:sp>
        <p:nvSpPr>
          <p:cNvPr id="14" name="Receiving agent"/>
          <p:cNvSpPr/>
          <p:nvPr/>
        </p:nvSpPr>
        <p:spPr>
          <a:xfrm>
            <a:off x="9281160" y="2313432"/>
            <a:ext cx="2359152" cy="1133856"/>
          </a:xfrm>
          <a:prstGeom prst="roundRect">
            <a:avLst>
              <a:gd name="adj" fmla="val 6451"/>
            </a:avLst>
          </a:prstGeom>
          <a:solidFill>
            <a:srgbClr val="1B2940"/>
          </a:solidFill>
          <a:ln>
            <a:noFill/>
          </a:ln>
        </p:spPr>
        <p:txBody>
          <a:bodyPr vert="horz" wrap="square" lIns="164592" tIns="73152" rIns="109728" bIns="73152" rtlCol="0" anchor="ctr">
            <a:noAutofit/>
          </a:bodyPr>
          <a:lstStyle/>
          <a:p>
            <a:pPr marL="0" indent="0" algn="l">
              <a:lnSpc>
                <a:spcPct val="100000"/>
              </a:lnSpc>
              <a:spcBef>
                <a:spcPts val="0"/>
              </a:spcBef>
              <a:spcAft>
                <a:spcPts val="300"/>
              </a:spcAft>
              <a:buNone/>
            </a:pPr>
            <a:r>
              <a:rPr lang="en-SG" sz="1500" b="1" i="0" dirty="0">
                <a:solidFill>
                  <a:srgbClr val="69DECC"/>
                </a:solidFill>
                <a:latin typeface="Arial"/>
                <a:cs typeface="Arial"/>
              </a:rPr>
              <a:t>3  </a:t>
            </a:r>
            <a:r>
              <a:rPr lang="en-SG" sz="1500" b="1" i="0" dirty="0">
                <a:solidFill>
                  <a:srgbClr val="F5F3EB"/>
                </a:solidFill>
                <a:latin typeface="Arial"/>
                <a:cs typeface="Arial"/>
              </a:rPr>
              <a:t>Receiving agent</a:t>
            </a:r>
          </a:p>
          <a:p>
            <a:pPr marL="0" indent="0" algn="l">
              <a:lnSpc>
                <a:spcPct val="103000"/>
              </a:lnSpc>
              <a:spcBef>
                <a:spcPts val="0"/>
              </a:spcBef>
              <a:spcAft>
                <a:spcPts val="300"/>
              </a:spcAft>
              <a:buNone/>
            </a:pPr>
            <a:r>
              <a:rPr lang="en-SG" sz="1300" b="0" i="0" dirty="0">
                <a:solidFill>
                  <a:srgbClr val="B9C4D5"/>
                </a:solidFill>
                <a:latin typeface="Arial"/>
                <a:cs typeface="Arial"/>
              </a:rPr>
              <a:t>answers 6 questions using only this handoff</a:t>
            </a:r>
          </a:p>
          <a:p>
            <a:pPr marL="0" indent="0" algn="l">
              <a:lnSpc>
                <a:spcPct val="100000"/>
              </a:lnSpc>
              <a:spcBef>
                <a:spcPts val="0"/>
              </a:spcBef>
              <a:spcAft>
                <a:spcPts val="0"/>
              </a:spcAft>
              <a:buNone/>
            </a:pPr>
            <a:r>
              <a:rPr lang="en-SG" sz="1200" b="0" i="0" dirty="0">
                <a:solidFill>
                  <a:srgbClr val="69DECC"/>
                </a:solidFill>
                <a:latin typeface="Arial"/>
                <a:cs typeface="Arial"/>
              </a:rPr>
              <a:t>Claude Opus 5.5</a:t>
            </a:r>
          </a:p>
        </p:txBody>
      </p:sp>
      <p:cxnSp>
        <p:nvCxnSpPr>
          <p:cNvPr id="15" name="Arrow"/>
          <p:cNvCxnSpPr/>
          <p:nvPr/>
        </p:nvCxnSpPr>
        <p:spPr>
          <a:xfrm>
            <a:off x="4754880" y="3703320"/>
            <a:ext cx="274320" cy="822960"/>
          </a:xfrm>
          <a:prstGeom prst="straightConnector1">
            <a:avLst/>
          </a:prstGeom>
          <a:ln w="25400">
            <a:solidFill>
              <a:srgbClr val="7F8EA6"/>
            </a:solidFill>
            <a:tailEnd type="triangle" w="med" len="med"/>
          </a:ln>
        </p:spPr>
      </p:cxnSp>
      <p:sp>
        <p:nvSpPr>
          <p:cNvPr id="16" name="Handoff agent"/>
          <p:cNvSpPr/>
          <p:nvPr/>
        </p:nvSpPr>
        <p:spPr>
          <a:xfrm>
            <a:off x="5074920" y="3959352"/>
            <a:ext cx="2286000" cy="1133856"/>
          </a:xfrm>
          <a:prstGeom prst="roundRect">
            <a:avLst>
              <a:gd name="adj" fmla="val 6451"/>
            </a:avLst>
          </a:prstGeom>
          <a:solidFill>
            <a:srgbClr val="1B2940"/>
          </a:solidFill>
          <a:ln>
            <a:noFill/>
          </a:ln>
        </p:spPr>
        <p:txBody>
          <a:bodyPr vert="horz" wrap="square" lIns="164592" tIns="73152" rIns="109728" bIns="73152" rtlCol="0" anchor="ctr">
            <a:noAutofit/>
          </a:bodyPr>
          <a:lstStyle/>
          <a:p>
            <a:pPr marL="0" indent="0" algn="l">
              <a:lnSpc>
                <a:spcPct val="100000"/>
              </a:lnSpc>
              <a:spcBef>
                <a:spcPts val="0"/>
              </a:spcBef>
              <a:spcAft>
                <a:spcPts val="300"/>
              </a:spcAft>
              <a:buNone/>
            </a:pPr>
            <a:r>
              <a:rPr lang="en-SG" sz="1500" b="1" i="0" dirty="0">
                <a:solidFill>
                  <a:srgbClr val="69DECC"/>
                </a:solidFill>
                <a:latin typeface="Arial"/>
                <a:cs typeface="Arial"/>
              </a:rPr>
              <a:t>2  </a:t>
            </a:r>
            <a:r>
              <a:rPr lang="en-SG" sz="1500" b="1" i="0" dirty="0">
                <a:solidFill>
                  <a:srgbClr val="F5F3EB"/>
                </a:solidFill>
                <a:latin typeface="Arial"/>
                <a:cs typeface="Arial"/>
              </a:rPr>
              <a:t>Handoff agent</a:t>
            </a:r>
          </a:p>
          <a:p>
            <a:pPr marL="0" indent="0" algn="l">
              <a:lnSpc>
                <a:spcPct val="100000"/>
              </a:lnSpc>
              <a:spcBef>
                <a:spcPts val="0"/>
              </a:spcBef>
              <a:spcAft>
                <a:spcPts val="300"/>
              </a:spcAft>
              <a:buNone/>
            </a:pPr>
            <a:r>
              <a:rPr lang="en-SG" sz="1300" b="0" i="0" dirty="0">
                <a:solidFill>
                  <a:srgbClr val="B9C4D5"/>
                </a:solidFill>
                <a:latin typeface="Arial"/>
                <a:cs typeface="Arial"/>
              </a:rPr>
              <a:t>summarises the history</a:t>
            </a:r>
          </a:p>
          <a:p>
            <a:pPr marL="0" indent="0" algn="l">
              <a:lnSpc>
                <a:spcPct val="100000"/>
              </a:lnSpc>
              <a:spcBef>
                <a:spcPts val="0"/>
              </a:spcBef>
              <a:spcAft>
                <a:spcPts val="0"/>
              </a:spcAft>
              <a:buNone/>
            </a:pPr>
            <a:r>
              <a:rPr lang="en-SG" sz="1200" b="0" i="0" dirty="0">
                <a:solidFill>
                  <a:srgbClr val="69DECC"/>
                </a:solidFill>
                <a:latin typeface="Arial"/>
                <a:cs typeface="Arial"/>
              </a:rPr>
              <a:t>one of 4 models</a:t>
            </a:r>
          </a:p>
        </p:txBody>
      </p:sp>
      <p:cxnSp>
        <p:nvCxnSpPr>
          <p:cNvPr id="17" name="Arrow"/>
          <p:cNvCxnSpPr/>
          <p:nvPr/>
        </p:nvCxnSpPr>
        <p:spPr>
          <a:xfrm>
            <a:off x="7406640" y="4526280"/>
            <a:ext cx="274320" cy="0"/>
          </a:xfrm>
          <a:prstGeom prst="straightConnector1">
            <a:avLst/>
          </a:prstGeom>
          <a:ln w="25400">
            <a:solidFill>
              <a:srgbClr val="7F8EA6"/>
            </a:solidFill>
            <a:tailEnd type="triangle" w="med" len="med"/>
          </a:ln>
        </p:spPr>
      </p:cxnSp>
      <p:sp>
        <p:nvSpPr>
          <p:cNvPr id="18" name="Handoff"/>
          <p:cNvSpPr/>
          <p:nvPr/>
        </p:nvSpPr>
        <p:spPr>
          <a:xfrm>
            <a:off x="7726680" y="4114800"/>
            <a:ext cx="1234440" cy="822960"/>
          </a:xfrm>
          <a:prstGeom prst="roundRect">
            <a:avLst>
              <a:gd name="adj" fmla="val 8888"/>
            </a:avLst>
          </a:prstGeom>
          <a:solidFill>
            <a:srgbClr val="24334B"/>
          </a:solidFill>
          <a:ln>
            <a:noFill/>
          </a:ln>
        </p:spPr>
        <p:txBody>
          <a:bodyPr vert="horz" wrap="square" lIns="73152" tIns="36576" rIns="73152" bIns="36576" rtlCol="0" anchor="ctr">
            <a:noAutofit/>
          </a:bodyPr>
          <a:lstStyle/>
          <a:p>
            <a:pPr marL="0" indent="0" algn="ctr">
              <a:lnSpc>
                <a:spcPct val="100000"/>
              </a:lnSpc>
              <a:spcBef>
                <a:spcPts val="0"/>
              </a:spcBef>
              <a:spcAft>
                <a:spcPts val="0"/>
              </a:spcAft>
              <a:buNone/>
            </a:pPr>
            <a:r>
              <a:rPr lang="en-SG" sz="1300" b="1" i="0" dirty="0">
                <a:solidFill>
                  <a:srgbClr val="F5F3EB"/>
                </a:solidFill>
                <a:latin typeface="Arial"/>
                <a:cs typeface="Arial"/>
              </a:rPr>
              <a:t>Checklist</a:t>
            </a:r>
          </a:p>
        </p:txBody>
      </p:sp>
      <p:cxnSp>
        <p:nvCxnSpPr>
          <p:cNvPr id="19" name="Arrow"/>
          <p:cNvCxnSpPr/>
          <p:nvPr/>
        </p:nvCxnSpPr>
        <p:spPr>
          <a:xfrm>
            <a:off x="9006840" y="4526280"/>
            <a:ext cx="228600" cy="0"/>
          </a:xfrm>
          <a:prstGeom prst="straightConnector1">
            <a:avLst/>
          </a:prstGeom>
          <a:ln w="25400">
            <a:solidFill>
              <a:srgbClr val="7F8EA6"/>
            </a:solidFill>
            <a:tailEnd type="triangle" w="med" len="med"/>
          </a:ln>
        </p:spPr>
      </p:cxnSp>
      <p:sp>
        <p:nvSpPr>
          <p:cNvPr id="20" name="Receiving agent"/>
          <p:cNvSpPr/>
          <p:nvPr/>
        </p:nvSpPr>
        <p:spPr>
          <a:xfrm>
            <a:off x="9281160" y="3959352"/>
            <a:ext cx="2359152" cy="1133856"/>
          </a:xfrm>
          <a:prstGeom prst="roundRect">
            <a:avLst>
              <a:gd name="adj" fmla="val 6451"/>
            </a:avLst>
          </a:prstGeom>
          <a:solidFill>
            <a:srgbClr val="1B2940"/>
          </a:solidFill>
          <a:ln>
            <a:noFill/>
          </a:ln>
        </p:spPr>
        <p:txBody>
          <a:bodyPr vert="horz" wrap="square" lIns="164592" tIns="73152" rIns="109728" bIns="73152" rtlCol="0" anchor="ctr">
            <a:noAutofit/>
          </a:bodyPr>
          <a:lstStyle/>
          <a:p>
            <a:pPr marL="0" indent="0" algn="l">
              <a:lnSpc>
                <a:spcPct val="100000"/>
              </a:lnSpc>
              <a:spcBef>
                <a:spcPts val="0"/>
              </a:spcBef>
              <a:spcAft>
                <a:spcPts val="300"/>
              </a:spcAft>
              <a:buNone/>
            </a:pPr>
            <a:r>
              <a:rPr lang="en-SG" sz="1500" b="1" i="0" dirty="0">
                <a:solidFill>
                  <a:srgbClr val="69DECC"/>
                </a:solidFill>
                <a:latin typeface="Arial"/>
                <a:cs typeface="Arial"/>
              </a:rPr>
              <a:t>3  </a:t>
            </a:r>
            <a:r>
              <a:rPr lang="en-SG" sz="1500" b="1" i="0" dirty="0">
                <a:solidFill>
                  <a:srgbClr val="F5F3EB"/>
                </a:solidFill>
                <a:latin typeface="Arial"/>
                <a:cs typeface="Arial"/>
              </a:rPr>
              <a:t>Receiving agent</a:t>
            </a:r>
          </a:p>
          <a:p>
            <a:pPr marL="0" indent="0" algn="l">
              <a:lnSpc>
                <a:spcPct val="103000"/>
              </a:lnSpc>
              <a:spcBef>
                <a:spcPts val="0"/>
              </a:spcBef>
              <a:spcAft>
                <a:spcPts val="300"/>
              </a:spcAft>
              <a:buNone/>
            </a:pPr>
            <a:r>
              <a:rPr lang="en-SG" sz="1300" b="0" i="0" dirty="0">
                <a:solidFill>
                  <a:srgbClr val="B9C4D5"/>
                </a:solidFill>
                <a:latin typeface="Arial"/>
                <a:cs typeface="Arial"/>
              </a:rPr>
              <a:t>answers 6 questions using only this handoff</a:t>
            </a:r>
          </a:p>
          <a:p>
            <a:pPr marL="0" indent="0" algn="l">
              <a:lnSpc>
                <a:spcPct val="100000"/>
              </a:lnSpc>
              <a:spcBef>
                <a:spcPts val="0"/>
              </a:spcBef>
              <a:spcAft>
                <a:spcPts val="0"/>
              </a:spcAft>
              <a:buNone/>
            </a:pPr>
            <a:r>
              <a:rPr lang="en-SG" sz="1200" b="0" i="0" dirty="0">
                <a:solidFill>
                  <a:srgbClr val="69DECC"/>
                </a:solidFill>
                <a:latin typeface="Arial"/>
                <a:cs typeface="Arial"/>
              </a:rPr>
              <a:t>Claude Opus 5.5</a:t>
            </a:r>
          </a:p>
        </p:txBody>
      </p:sp>
      <p:sp>
        <p:nvSpPr>
          <p:cNvPr id="21" name="Scale"/>
          <p:cNvSpPr/>
          <p:nvPr/>
        </p:nvSpPr>
        <p:spPr>
          <a:xfrm>
            <a:off x="548640" y="5440680"/>
            <a:ext cx="11091672" cy="685800"/>
          </a:xfrm>
          <a:prstGeom prst="roundRect">
            <a:avLst>
              <a:gd name="adj" fmla="val 10666"/>
            </a:avLst>
          </a:prstGeom>
          <a:solidFill>
            <a:srgbClr val="1B2940"/>
          </a:solidFill>
          <a:ln>
            <a:noFill/>
          </a:ln>
        </p:spPr>
        <p:txBody>
          <a:bodyPr vert="horz" wrap="square" lIns="228600" tIns="45720" rIns="228600" bIns="45720" rtlCol="0" anchor="ctr">
            <a:noAutofit/>
          </a:bodyPr>
          <a:lstStyle/>
          <a:p>
            <a:pPr marL="0" indent="0" algn="l">
              <a:lnSpc>
                <a:spcPct val="100000"/>
              </a:lnSpc>
              <a:spcBef>
                <a:spcPts val="0"/>
              </a:spcBef>
              <a:spcAft>
                <a:spcPts val="0"/>
              </a:spcAft>
              <a:buNone/>
            </a:pPr>
            <a:r>
              <a:rPr lang="en-SG" sz="1700" b="1" i="0" dirty="0">
                <a:solidFill>
                  <a:srgbClr val="FFC36A"/>
                </a:solidFill>
                <a:latin typeface="Arial"/>
                <a:cs typeface="Arial"/>
              </a:rPr>
              <a:t>5 coding runs × 4 handoff models × 2 formats = 40 handoffs</a:t>
            </a:r>
            <a:r>
              <a:rPr lang="en-SG" sz="1700" b="0" i="0" dirty="0">
                <a:solidFill>
                  <a:srgbClr val="F5F3EB"/>
                </a:solidFill>
                <a:latin typeface="Arial"/>
                <a:cs typeface="Arial"/>
              </a:rPr>
              <a:t>, each quizzed once</a:t>
            </a:r>
          </a:p>
          <a:p>
            <a:pPr marL="0" indent="0" algn="l">
              <a:lnSpc>
                <a:spcPct val="100000"/>
              </a:lnSpc>
              <a:spcBef>
                <a:spcPts val="200"/>
              </a:spcBef>
              <a:spcAft>
                <a:spcPts val="0"/>
              </a:spcAft>
              <a:buNone/>
            </a:pPr>
            <a:r>
              <a:rPr lang="en-SG" sz="1300" b="0" i="0" dirty="0">
                <a:solidFill>
                  <a:srgbClr val="B9C4D5"/>
                </a:solidFill>
                <a:latin typeface="Arial"/>
                <a:cs typeface="Arial"/>
              </a:rPr>
              <a:t>The 4 handoff models: GPT-5.6 Sol, GPT-5.6 Luna, Claude Opus 5.5 and Claude Sonnet 5.5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1B2D"/>
        </a:solidFill>
        <a:effectLst/>
      </p:bgPr>
    </p:bg>
    <p:spTree>
      <p:nvGrpSpPr>
        <p:cNvPr id="1" name=""/>
        <p:cNvGrpSpPr/>
        <p:nvPr/>
      </p:nvGrpSpPr>
      <p:grpSpPr>
        <a:xfrm>
          <a:off x="0" y="0"/>
          <a:ext cx="0" cy="0"/>
          <a:chOff x="0" y="0"/>
          <a:chExt cx="0" cy="0"/>
        </a:xfrm>
      </p:grpSpPr>
      <p:sp>
        <p:nvSpPr>
          <p:cNvPr id="2" name="Section label"/>
          <p:cNvSpPr txBox="1"/>
          <p:nvPr/>
        </p:nvSpPr>
        <p:spPr>
          <a:xfrm>
            <a:off x="548640" y="329184"/>
            <a:ext cx="9144000" cy="27432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200" b="1" i="0" spc="100" dirty="0">
                <a:solidFill>
                  <a:srgbClr val="69DECC"/>
                </a:solidFill>
                <a:latin typeface="Arial"/>
                <a:cs typeface="Arial"/>
              </a:rPr>
              <a:t>SCORING</a:t>
            </a:r>
          </a:p>
        </p:txBody>
      </p:sp>
      <p:sp>
        <p:nvSpPr>
          <p:cNvPr id="3" name="Title"/>
          <p:cNvSpPr>
            <a:spLocks noGrp="1"/>
          </p:cNvSpPr>
          <p:nvPr>
            <p:ph type="title"/>
          </p:nvPr>
        </p:nvSpPr>
        <p:spPr>
          <a:xfrm>
            <a:off x="548640" y="658368"/>
            <a:ext cx="11091672" cy="658368"/>
          </a:xfrm>
        </p:spPr>
        <p:txBody>
          <a:bodyPr vert="horz" wrap="square" lIns="0" tIns="0" rIns="0" bIns="0" rtlCol="0" anchor="t">
            <a:noAutofit/>
          </a:bodyPr>
          <a:lstStyle/>
          <a:p>
            <a:pPr marL="0" indent="0" algn="l">
              <a:lnSpc>
                <a:spcPct val="95000"/>
              </a:lnSpc>
              <a:spcBef>
                <a:spcPts val="0"/>
              </a:spcBef>
              <a:spcAft>
                <a:spcPts val="0"/>
              </a:spcAft>
              <a:buNone/>
            </a:pPr>
            <a:r>
              <a:rPr lang="en-SG" sz="3000" b="1" i="0" dirty="0">
                <a:solidFill>
                  <a:srgbClr val="F5F3EB"/>
                </a:solidFill>
                <a:latin typeface="Arial"/>
                <a:cs typeface="Arial"/>
              </a:rPr>
              <a:t>Scoring: how many expected facts survived?</a:t>
            </a:r>
          </a:p>
        </p:txBody>
      </p:sp>
      <p:sp>
        <p:nvSpPr>
          <p:cNvPr id="4" name="Lead"/>
          <p:cNvSpPr txBox="1"/>
          <p:nvPr/>
        </p:nvSpPr>
        <p:spPr>
          <a:xfrm>
            <a:off x="548640" y="1353312"/>
            <a:ext cx="11091672" cy="731520"/>
          </a:xfrm>
          <a:prstGeom prst="rect">
            <a:avLst/>
          </a:prstGeom>
          <a:noFill/>
          <a:ln>
            <a:noFill/>
          </a:ln>
        </p:spPr>
        <p:txBody>
          <a:bodyPr vert="horz" wrap="square" lIns="0" tIns="0" rIns="0" bIns="0" rtlCol="0" anchor="t">
            <a:noAutofit/>
          </a:bodyPr>
          <a:lstStyle/>
          <a:p>
            <a:pPr marL="0" indent="0" algn="l">
              <a:lnSpc>
                <a:spcPct val="110000"/>
              </a:lnSpc>
              <a:spcBef>
                <a:spcPts val="0"/>
              </a:spcBef>
              <a:spcAft>
                <a:spcPts val="0"/>
              </a:spcAft>
              <a:buNone/>
            </a:pPr>
            <a:r>
              <a:rPr lang="en-SG" sz="1800" b="0" i="0" dirty="0">
                <a:solidFill>
                  <a:srgbClr val="D6DDE8"/>
                </a:solidFill>
                <a:latin typeface="Arial"/>
                <a:cs typeface="Arial"/>
              </a:rPr>
              <a:t>For each coding run, I wrote an answer key before its handoffs existed. It splits the 6 questions into expected facts, taken only from that specific run’s message history.</a:t>
            </a:r>
          </a:p>
        </p:txBody>
      </p:sp>
      <p:sp>
        <p:nvSpPr>
          <p:cNvPr id="5" name="Slide number"/>
          <p:cNvSpPr txBox="1"/>
          <p:nvPr/>
        </p:nvSpPr>
        <p:spPr>
          <a:xfrm>
            <a:off x="10424160" y="6382512"/>
            <a:ext cx="1216152" cy="256032"/>
          </a:xfrm>
          <a:prstGeom prst="rect">
            <a:avLst/>
          </a:prstGeom>
          <a:noFill/>
          <a:ln>
            <a:noFill/>
          </a:ln>
        </p:spPr>
        <p:txBody>
          <a:bodyPr vert="horz" wrap="square" lIns="0" tIns="0" rIns="0" bIns="0" rtlCol="0" anchor="ctr">
            <a:noAutofit/>
          </a:bodyPr>
          <a:lstStyle/>
          <a:p>
            <a:pPr marL="0" indent="0" algn="r">
              <a:lnSpc>
                <a:spcPct val="100000"/>
              </a:lnSpc>
              <a:spcBef>
                <a:spcPts val="0"/>
              </a:spcBef>
              <a:spcAft>
                <a:spcPts val="0"/>
              </a:spcAft>
              <a:buNone/>
            </a:pPr>
            <a:r>
              <a:rPr lang="en-SG" sz="1050" b="0" i="0" dirty="0">
                <a:solidFill>
                  <a:srgbClr val="B9C4D5"/>
                </a:solidFill>
                <a:latin typeface="Arial"/>
                <a:cs typeface="Arial"/>
              </a:rPr>
              <a:t>7 / 12</a:t>
            </a:r>
          </a:p>
        </p:txBody>
      </p:sp>
      <p:sp>
        <p:nvSpPr>
          <p:cNvPr id="6" name="Label"/>
          <p:cNvSpPr txBox="1"/>
          <p:nvPr/>
        </p:nvSpPr>
        <p:spPr>
          <a:xfrm>
            <a:off x="548640" y="2212848"/>
            <a:ext cx="5120640" cy="27432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200" b="1" i="0" spc="100" dirty="0">
                <a:solidFill>
                  <a:srgbClr val="69DECC"/>
                </a:solidFill>
                <a:latin typeface="Arial"/>
                <a:cs typeface="Arial"/>
              </a:rPr>
              <a:t>THE 6 QUESTIONS</a:t>
            </a:r>
          </a:p>
        </p:txBody>
      </p:sp>
      <p:sp>
        <p:nvSpPr>
          <p:cNvPr id="7" name="Number 1"/>
          <p:cNvSpPr/>
          <p:nvPr/>
        </p:nvSpPr>
        <p:spPr>
          <a:xfrm>
            <a:off x="557784" y="2660904"/>
            <a:ext cx="384048" cy="384048"/>
          </a:xfrm>
          <a:prstGeom prst="ellipse">
            <a:avLst/>
          </a:prstGeom>
          <a:solidFill>
            <a:srgbClr val="69DECC"/>
          </a:solidFill>
          <a:ln>
            <a:noFill/>
          </a:ln>
        </p:spPr>
        <p:txBody>
          <a:bodyPr vert="horz" wrap="square" lIns="0" tIns="0" rIns="0" bIns="0" rtlCol="0" anchor="ctr">
            <a:noAutofit/>
          </a:bodyPr>
          <a:lstStyle/>
          <a:p>
            <a:pPr marL="0" indent="0" algn="ctr">
              <a:lnSpc>
                <a:spcPct val="100000"/>
              </a:lnSpc>
              <a:spcBef>
                <a:spcPts val="0"/>
              </a:spcBef>
              <a:spcAft>
                <a:spcPts val="0"/>
              </a:spcAft>
              <a:buNone/>
            </a:pPr>
            <a:r>
              <a:rPr lang="en-SG" sz="1300" b="1" i="0" dirty="0">
                <a:solidFill>
                  <a:srgbClr val="101B2D"/>
                </a:solidFill>
                <a:latin typeface="Arial"/>
                <a:cs typeface="Arial"/>
              </a:rPr>
              <a:t>1</a:t>
            </a:r>
          </a:p>
        </p:txBody>
      </p:sp>
      <p:sp>
        <p:nvSpPr>
          <p:cNvPr id="8" name="Question 1"/>
          <p:cNvSpPr txBox="1"/>
          <p:nvPr/>
        </p:nvSpPr>
        <p:spPr>
          <a:xfrm>
            <a:off x="1097280" y="2606040"/>
            <a:ext cx="4572000" cy="530352"/>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600" b="0" i="0" dirty="0">
                <a:solidFill>
                  <a:srgbClr val="F5F3EB"/>
                </a:solidFill>
                <a:latin typeface="Arial"/>
                <a:cs typeface="Arial"/>
              </a:rPr>
              <a:t>Which files were changed?</a:t>
            </a:r>
          </a:p>
        </p:txBody>
      </p:sp>
      <p:sp>
        <p:nvSpPr>
          <p:cNvPr id="9" name="Number 2"/>
          <p:cNvSpPr/>
          <p:nvPr/>
        </p:nvSpPr>
        <p:spPr>
          <a:xfrm>
            <a:off x="557784" y="3236976"/>
            <a:ext cx="384048" cy="384048"/>
          </a:xfrm>
          <a:prstGeom prst="ellipse">
            <a:avLst/>
          </a:prstGeom>
          <a:solidFill>
            <a:srgbClr val="69DECC"/>
          </a:solidFill>
          <a:ln>
            <a:noFill/>
          </a:ln>
        </p:spPr>
        <p:txBody>
          <a:bodyPr vert="horz" wrap="square" lIns="0" tIns="0" rIns="0" bIns="0" rtlCol="0" anchor="ctr">
            <a:noAutofit/>
          </a:bodyPr>
          <a:lstStyle/>
          <a:p>
            <a:pPr marL="0" indent="0" algn="ctr">
              <a:lnSpc>
                <a:spcPct val="100000"/>
              </a:lnSpc>
              <a:spcBef>
                <a:spcPts val="0"/>
              </a:spcBef>
              <a:spcAft>
                <a:spcPts val="0"/>
              </a:spcAft>
              <a:buNone/>
            </a:pPr>
            <a:r>
              <a:rPr lang="en-SG" sz="1300" b="1" i="0" dirty="0">
                <a:solidFill>
                  <a:srgbClr val="101B2D"/>
                </a:solidFill>
                <a:latin typeface="Arial"/>
                <a:cs typeface="Arial"/>
              </a:rPr>
              <a:t>2</a:t>
            </a:r>
          </a:p>
        </p:txBody>
      </p:sp>
      <p:sp>
        <p:nvSpPr>
          <p:cNvPr id="10" name="Question 2"/>
          <p:cNvSpPr txBox="1"/>
          <p:nvPr/>
        </p:nvSpPr>
        <p:spPr>
          <a:xfrm>
            <a:off x="1097280" y="3182112"/>
            <a:ext cx="4572000" cy="530352"/>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600" b="0" i="0" dirty="0">
                <a:solidFill>
                  <a:srgbClr val="F5F3EB"/>
                </a:solidFill>
                <a:latin typeface="Arial"/>
                <a:cs typeface="Arial"/>
              </a:rPr>
              <a:t>Which checks were run, and what happened?</a:t>
            </a:r>
          </a:p>
        </p:txBody>
      </p:sp>
      <p:sp>
        <p:nvSpPr>
          <p:cNvPr id="11" name="Number 3"/>
          <p:cNvSpPr/>
          <p:nvPr/>
        </p:nvSpPr>
        <p:spPr>
          <a:xfrm>
            <a:off x="557784" y="3813048"/>
            <a:ext cx="384048" cy="384048"/>
          </a:xfrm>
          <a:prstGeom prst="ellipse">
            <a:avLst/>
          </a:prstGeom>
          <a:solidFill>
            <a:srgbClr val="69DECC"/>
          </a:solidFill>
          <a:ln>
            <a:noFill/>
          </a:ln>
        </p:spPr>
        <p:txBody>
          <a:bodyPr vert="horz" wrap="square" lIns="0" tIns="0" rIns="0" bIns="0" rtlCol="0" anchor="ctr">
            <a:noAutofit/>
          </a:bodyPr>
          <a:lstStyle/>
          <a:p>
            <a:pPr marL="0" indent="0" algn="ctr">
              <a:lnSpc>
                <a:spcPct val="100000"/>
              </a:lnSpc>
              <a:spcBef>
                <a:spcPts val="0"/>
              </a:spcBef>
              <a:spcAft>
                <a:spcPts val="0"/>
              </a:spcAft>
              <a:buNone/>
            </a:pPr>
            <a:r>
              <a:rPr lang="en-SG" sz="1300" b="1" i="0" dirty="0">
                <a:solidFill>
                  <a:srgbClr val="101B2D"/>
                </a:solidFill>
                <a:latin typeface="Arial"/>
                <a:cs typeface="Arial"/>
              </a:rPr>
              <a:t>3</a:t>
            </a:r>
          </a:p>
        </p:txBody>
      </p:sp>
      <p:sp>
        <p:nvSpPr>
          <p:cNvPr id="12" name="Question 3"/>
          <p:cNvSpPr txBox="1"/>
          <p:nvPr/>
        </p:nvSpPr>
        <p:spPr>
          <a:xfrm>
            <a:off x="1097280" y="3758184"/>
            <a:ext cx="4572000" cy="530352"/>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600" b="0" i="0" dirty="0">
                <a:solidFill>
                  <a:srgbClr val="F5F3EB"/>
                </a:solidFill>
                <a:latin typeface="Arial"/>
                <a:cs typeface="Arial"/>
              </a:rPr>
              <a:t>What did the agent leave unverified?</a:t>
            </a:r>
          </a:p>
        </p:txBody>
      </p:sp>
      <p:sp>
        <p:nvSpPr>
          <p:cNvPr id="13" name="Number 4"/>
          <p:cNvSpPr/>
          <p:nvPr/>
        </p:nvSpPr>
        <p:spPr>
          <a:xfrm>
            <a:off x="557784" y="4389120"/>
            <a:ext cx="384048" cy="384048"/>
          </a:xfrm>
          <a:prstGeom prst="ellipse">
            <a:avLst/>
          </a:prstGeom>
          <a:solidFill>
            <a:srgbClr val="69DECC"/>
          </a:solidFill>
          <a:ln>
            <a:noFill/>
          </a:ln>
        </p:spPr>
        <p:txBody>
          <a:bodyPr vert="horz" wrap="square" lIns="0" tIns="0" rIns="0" bIns="0" rtlCol="0" anchor="ctr">
            <a:noAutofit/>
          </a:bodyPr>
          <a:lstStyle/>
          <a:p>
            <a:pPr marL="0" indent="0" algn="ctr">
              <a:lnSpc>
                <a:spcPct val="100000"/>
              </a:lnSpc>
              <a:spcBef>
                <a:spcPts val="0"/>
              </a:spcBef>
              <a:spcAft>
                <a:spcPts val="0"/>
              </a:spcAft>
              <a:buNone/>
            </a:pPr>
            <a:r>
              <a:rPr lang="en-SG" sz="1300" b="1" i="0" dirty="0">
                <a:solidFill>
                  <a:srgbClr val="101B2D"/>
                </a:solidFill>
                <a:latin typeface="Arial"/>
                <a:cs typeface="Arial"/>
              </a:rPr>
              <a:t>4</a:t>
            </a:r>
          </a:p>
        </p:txBody>
      </p:sp>
      <p:sp>
        <p:nvSpPr>
          <p:cNvPr id="14" name="Question 4"/>
          <p:cNvSpPr txBox="1"/>
          <p:nvPr/>
        </p:nvSpPr>
        <p:spPr>
          <a:xfrm>
            <a:off x="1097280" y="4334256"/>
            <a:ext cx="4572000" cy="530352"/>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600" b="0" i="0" dirty="0">
                <a:solidFill>
                  <a:srgbClr val="F5F3EB"/>
                </a:solidFill>
                <a:latin typeface="Arial"/>
                <a:cs typeface="Arial"/>
              </a:rPr>
              <a:t>How and why was the timeout fixed?</a:t>
            </a:r>
          </a:p>
        </p:txBody>
      </p:sp>
      <p:sp>
        <p:nvSpPr>
          <p:cNvPr id="15" name="Number 5"/>
          <p:cNvSpPr/>
          <p:nvPr/>
        </p:nvSpPr>
        <p:spPr>
          <a:xfrm>
            <a:off x="557784" y="4965192"/>
            <a:ext cx="384048" cy="384048"/>
          </a:xfrm>
          <a:prstGeom prst="ellipse">
            <a:avLst/>
          </a:prstGeom>
          <a:solidFill>
            <a:srgbClr val="69DECC"/>
          </a:solidFill>
          <a:ln>
            <a:noFill/>
          </a:ln>
        </p:spPr>
        <p:txBody>
          <a:bodyPr vert="horz" wrap="square" lIns="0" tIns="0" rIns="0" bIns="0" rtlCol="0" anchor="ctr">
            <a:noAutofit/>
          </a:bodyPr>
          <a:lstStyle/>
          <a:p>
            <a:pPr marL="0" indent="0" algn="ctr">
              <a:lnSpc>
                <a:spcPct val="100000"/>
              </a:lnSpc>
              <a:spcBef>
                <a:spcPts val="0"/>
              </a:spcBef>
              <a:spcAft>
                <a:spcPts val="0"/>
              </a:spcAft>
              <a:buNone/>
            </a:pPr>
            <a:r>
              <a:rPr lang="en-SG" sz="1300" b="1" i="0" dirty="0">
                <a:solidFill>
                  <a:srgbClr val="101B2D"/>
                </a:solidFill>
                <a:latin typeface="Arial"/>
                <a:cs typeface="Arial"/>
              </a:rPr>
              <a:t>5</a:t>
            </a:r>
          </a:p>
        </p:txBody>
      </p:sp>
      <p:sp>
        <p:nvSpPr>
          <p:cNvPr id="16" name="Question 5"/>
          <p:cNvSpPr txBox="1"/>
          <p:nvPr/>
        </p:nvSpPr>
        <p:spPr>
          <a:xfrm>
            <a:off x="1097280" y="4910328"/>
            <a:ext cx="4572000" cy="530352"/>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600" b="0" i="0" dirty="0">
                <a:solidFill>
                  <a:srgbClr val="F5F3EB"/>
                </a:solidFill>
                <a:latin typeface="Arial"/>
                <a:cs typeface="Arial"/>
              </a:rPr>
              <a:t>Which provider responses count as a success?</a:t>
            </a:r>
          </a:p>
        </p:txBody>
      </p:sp>
      <p:sp>
        <p:nvSpPr>
          <p:cNvPr id="17" name="Number 6"/>
          <p:cNvSpPr/>
          <p:nvPr/>
        </p:nvSpPr>
        <p:spPr>
          <a:xfrm>
            <a:off x="557784" y="5541264"/>
            <a:ext cx="384048" cy="384048"/>
          </a:xfrm>
          <a:prstGeom prst="ellipse">
            <a:avLst/>
          </a:prstGeom>
          <a:solidFill>
            <a:srgbClr val="69DECC"/>
          </a:solidFill>
          <a:ln>
            <a:noFill/>
          </a:ln>
        </p:spPr>
        <p:txBody>
          <a:bodyPr vert="horz" wrap="square" lIns="0" tIns="0" rIns="0" bIns="0" rtlCol="0" anchor="ctr">
            <a:noAutofit/>
          </a:bodyPr>
          <a:lstStyle/>
          <a:p>
            <a:pPr marL="0" indent="0" algn="ctr">
              <a:lnSpc>
                <a:spcPct val="100000"/>
              </a:lnSpc>
              <a:spcBef>
                <a:spcPts val="0"/>
              </a:spcBef>
              <a:spcAft>
                <a:spcPts val="0"/>
              </a:spcAft>
              <a:buNone/>
            </a:pPr>
            <a:r>
              <a:rPr lang="en-SG" sz="1300" b="1" i="0" dirty="0">
                <a:solidFill>
                  <a:srgbClr val="101B2D"/>
                </a:solidFill>
                <a:latin typeface="Arial"/>
                <a:cs typeface="Arial"/>
              </a:rPr>
              <a:t>6</a:t>
            </a:r>
          </a:p>
        </p:txBody>
      </p:sp>
      <p:sp>
        <p:nvSpPr>
          <p:cNvPr id="18" name="Question 6"/>
          <p:cNvSpPr txBox="1"/>
          <p:nvPr/>
        </p:nvSpPr>
        <p:spPr>
          <a:xfrm>
            <a:off x="1097280" y="5486400"/>
            <a:ext cx="4572000" cy="530352"/>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600" b="0" i="0" dirty="0">
                <a:solidFill>
                  <a:srgbClr val="F5F3EB"/>
                </a:solidFill>
                <a:latin typeface="Arial"/>
                <a:cs typeface="Arial"/>
              </a:rPr>
              <a:t>What was recorded about proxies and headers?</a:t>
            </a:r>
          </a:p>
        </p:txBody>
      </p:sp>
      <p:sp>
        <p:nvSpPr>
          <p:cNvPr id="19" name="Label"/>
          <p:cNvSpPr txBox="1"/>
          <p:nvPr/>
        </p:nvSpPr>
        <p:spPr>
          <a:xfrm>
            <a:off x="6217920" y="2212848"/>
            <a:ext cx="5422392" cy="27432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200" b="1" i="0" spc="100" dirty="0">
                <a:solidFill>
                  <a:srgbClr val="69DECC"/>
                </a:solidFill>
                <a:latin typeface="Arial"/>
                <a:cs typeface="Arial"/>
              </a:rPr>
              <a:t>HOW ONE FACT IS SCORED</a:t>
            </a:r>
          </a:p>
        </p:txBody>
      </p:sp>
      <p:sp>
        <p:nvSpPr>
          <p:cNvPr id="20" name="Expected fact"/>
          <p:cNvSpPr/>
          <p:nvPr/>
        </p:nvSpPr>
        <p:spPr>
          <a:xfrm>
            <a:off x="6217920" y="2606040"/>
            <a:ext cx="5422392" cy="749808"/>
          </a:xfrm>
          <a:prstGeom prst="roundRect">
            <a:avLst>
              <a:gd name="adj" fmla="val 9756"/>
            </a:avLst>
          </a:prstGeom>
          <a:solidFill>
            <a:srgbClr val="1B2940"/>
          </a:solidFill>
          <a:ln>
            <a:noFill/>
          </a:ln>
        </p:spPr>
        <p:txBody>
          <a:bodyPr vert="horz" wrap="square" lIns="201168" tIns="54864" rIns="201168" bIns="54864" rtlCol="0" anchor="ctr">
            <a:noAutofit/>
          </a:bodyPr>
          <a:lstStyle/>
          <a:p>
            <a:pPr marL="0" indent="0" algn="l">
              <a:lnSpc>
                <a:spcPct val="100000"/>
              </a:lnSpc>
              <a:spcBef>
                <a:spcPts val="0"/>
              </a:spcBef>
              <a:spcAft>
                <a:spcPts val="200"/>
              </a:spcAft>
              <a:buNone/>
            </a:pPr>
            <a:r>
              <a:rPr lang="en-SG" sz="1100" b="1" i="0" spc="50" dirty="0">
                <a:solidFill>
                  <a:srgbClr val="B9C4D5"/>
                </a:solidFill>
                <a:latin typeface="Arial"/>
                <a:cs typeface="Arial"/>
              </a:rPr>
              <a:t>EXPECTED FACT, FROM THE ANSWER KEY</a:t>
            </a:r>
          </a:p>
          <a:p>
            <a:pPr marL="0" indent="0" algn="l">
              <a:lnSpc>
                <a:spcPct val="100000"/>
              </a:lnSpc>
              <a:spcBef>
                <a:spcPts val="0"/>
              </a:spcBef>
              <a:spcAft>
                <a:spcPts val="0"/>
              </a:spcAft>
              <a:buNone/>
            </a:pPr>
            <a:r>
              <a:rPr lang="en-SG" sz="1600" b="0" i="0" dirty="0">
                <a:solidFill>
                  <a:srgbClr val="F5F3EB"/>
                </a:solidFill>
                <a:latin typeface="Arial"/>
                <a:cs typeface="Arial"/>
              </a:rPr>
              <a:t>llm.py was the only file changed.</a:t>
            </a:r>
          </a:p>
        </p:txBody>
      </p:sp>
      <p:cxnSp>
        <p:nvCxnSpPr>
          <p:cNvPr id="21" name="Arrow"/>
          <p:cNvCxnSpPr/>
          <p:nvPr/>
        </p:nvCxnSpPr>
        <p:spPr>
          <a:xfrm>
            <a:off x="8929116" y="3383280"/>
            <a:ext cx="0" cy="228600"/>
          </a:xfrm>
          <a:prstGeom prst="straightConnector1">
            <a:avLst/>
          </a:prstGeom>
          <a:ln w="25400">
            <a:solidFill>
              <a:srgbClr val="7F8EA6"/>
            </a:solidFill>
            <a:tailEnd type="triangle" w="med" len="med"/>
          </a:ln>
        </p:spPr>
      </p:cxnSp>
      <p:sp>
        <p:nvSpPr>
          <p:cNvPr id="22" name="Receiver answer"/>
          <p:cNvSpPr/>
          <p:nvPr/>
        </p:nvSpPr>
        <p:spPr>
          <a:xfrm>
            <a:off x="6217920" y="3657600"/>
            <a:ext cx="5422392" cy="749808"/>
          </a:xfrm>
          <a:prstGeom prst="roundRect">
            <a:avLst>
              <a:gd name="adj" fmla="val 9756"/>
            </a:avLst>
          </a:prstGeom>
          <a:solidFill>
            <a:srgbClr val="1B2940"/>
          </a:solidFill>
          <a:ln>
            <a:noFill/>
          </a:ln>
        </p:spPr>
        <p:txBody>
          <a:bodyPr vert="horz" wrap="square" lIns="201168" tIns="54864" rIns="201168" bIns="54864" rtlCol="0" anchor="ctr">
            <a:noAutofit/>
          </a:bodyPr>
          <a:lstStyle/>
          <a:p>
            <a:pPr marL="0" indent="0" algn="l">
              <a:lnSpc>
                <a:spcPct val="100000"/>
              </a:lnSpc>
              <a:spcBef>
                <a:spcPts val="0"/>
              </a:spcBef>
              <a:spcAft>
                <a:spcPts val="200"/>
              </a:spcAft>
              <a:buNone/>
            </a:pPr>
            <a:r>
              <a:rPr lang="en-SG" sz="1100" b="1" i="0" spc="50" dirty="0">
                <a:solidFill>
                  <a:srgbClr val="B9C4D5"/>
                </a:solidFill>
                <a:latin typeface="Arial"/>
                <a:cs typeface="Arial"/>
              </a:rPr>
              <a:t>RECEIVING AGENT’S ANSWER</a:t>
            </a:r>
          </a:p>
          <a:p>
            <a:pPr marL="0" indent="0" algn="l">
              <a:lnSpc>
                <a:spcPct val="100000"/>
              </a:lnSpc>
              <a:spcBef>
                <a:spcPts val="0"/>
              </a:spcBef>
              <a:spcAft>
                <a:spcPts val="0"/>
              </a:spcAft>
              <a:buNone/>
            </a:pPr>
            <a:r>
              <a:rPr lang="en-SG" sz="1600" b="0" i="0" dirty="0">
                <a:solidFill>
                  <a:srgbClr val="F5F3EB"/>
                </a:solidFill>
                <a:latin typeface="Arial"/>
                <a:cs typeface="Arial"/>
              </a:rPr>
              <a:t>“Only llm.py was changed …”</a:t>
            </a:r>
          </a:p>
        </p:txBody>
      </p:sp>
      <p:cxnSp>
        <p:nvCxnSpPr>
          <p:cNvPr id="23" name="Arrow"/>
          <p:cNvCxnSpPr/>
          <p:nvPr/>
        </p:nvCxnSpPr>
        <p:spPr>
          <a:xfrm>
            <a:off x="8929116" y="4434840"/>
            <a:ext cx="0" cy="228600"/>
          </a:xfrm>
          <a:prstGeom prst="straightConnector1">
            <a:avLst/>
          </a:prstGeom>
          <a:ln w="25400">
            <a:solidFill>
              <a:srgbClr val="7F8EA6"/>
            </a:solidFill>
            <a:tailEnd type="triangle" w="med" len="med"/>
          </a:ln>
        </p:spPr>
      </p:cxnSp>
      <p:sp>
        <p:nvSpPr>
          <p:cNvPr id="24" name="Outcome Correct"/>
          <p:cNvSpPr/>
          <p:nvPr/>
        </p:nvSpPr>
        <p:spPr>
          <a:xfrm>
            <a:off x="6217920" y="4709160"/>
            <a:ext cx="1664208" cy="420624"/>
          </a:xfrm>
          <a:prstGeom prst="roundRect">
            <a:avLst>
              <a:gd name="adj" fmla="val 50000"/>
            </a:avLst>
          </a:prstGeom>
          <a:solidFill>
            <a:srgbClr val="69DECC"/>
          </a:solidFill>
          <a:ln>
            <a:noFill/>
          </a:ln>
        </p:spPr>
        <p:txBody>
          <a:bodyPr vert="horz" wrap="square" lIns="45720" tIns="0" rIns="45720" bIns="0" rtlCol="0" anchor="ctr">
            <a:noAutofit/>
          </a:bodyPr>
          <a:lstStyle/>
          <a:p>
            <a:pPr marL="0" indent="0" algn="ctr">
              <a:lnSpc>
                <a:spcPct val="100000"/>
              </a:lnSpc>
              <a:spcBef>
                <a:spcPts val="0"/>
              </a:spcBef>
              <a:spcAft>
                <a:spcPts val="0"/>
              </a:spcAft>
              <a:buNone/>
            </a:pPr>
            <a:r>
              <a:rPr lang="en-SG" sz="1400" b="1" i="0" dirty="0">
                <a:solidFill>
                  <a:srgbClr val="101B2D"/>
                </a:solidFill>
                <a:latin typeface="Segoe UI Symbol"/>
                <a:cs typeface="Segoe UI Symbol"/>
              </a:rPr>
              <a:t>✓ </a:t>
            </a:r>
            <a:r>
              <a:rPr lang="en-SG" sz="1400" b="1" i="0" dirty="0">
                <a:solidFill>
                  <a:srgbClr val="101B2D"/>
                </a:solidFill>
                <a:latin typeface="Arial"/>
                <a:cs typeface="Arial"/>
              </a:rPr>
              <a:t>Correct</a:t>
            </a:r>
          </a:p>
        </p:txBody>
      </p:sp>
      <p:sp>
        <p:nvSpPr>
          <p:cNvPr id="25" name="Outcome meaning"/>
          <p:cNvSpPr txBox="1"/>
          <p:nvPr/>
        </p:nvSpPr>
        <p:spPr>
          <a:xfrm>
            <a:off x="6217920" y="5166360"/>
            <a:ext cx="1664208" cy="274320"/>
          </a:xfrm>
          <a:prstGeom prst="rect">
            <a:avLst/>
          </a:prstGeom>
          <a:noFill/>
          <a:ln>
            <a:noFill/>
          </a:ln>
        </p:spPr>
        <p:txBody>
          <a:bodyPr vert="horz" wrap="square" lIns="0" tIns="0" rIns="0" bIns="0" rtlCol="0" anchor="ctr">
            <a:noAutofit/>
          </a:bodyPr>
          <a:lstStyle/>
          <a:p>
            <a:pPr marL="0" indent="0" algn="ctr">
              <a:lnSpc>
                <a:spcPct val="100000"/>
              </a:lnSpc>
              <a:spcBef>
                <a:spcPts val="0"/>
              </a:spcBef>
              <a:spcAft>
                <a:spcPts val="0"/>
              </a:spcAft>
              <a:buNone/>
            </a:pPr>
            <a:r>
              <a:rPr lang="en-SG" sz="1200" b="0" i="0" dirty="0">
                <a:solidFill>
                  <a:srgbClr val="B9C4D5"/>
                </a:solidFill>
                <a:latin typeface="Arial"/>
                <a:cs typeface="Arial"/>
              </a:rPr>
              <a:t>stated accurately</a:t>
            </a:r>
          </a:p>
        </p:txBody>
      </p:sp>
      <p:sp>
        <p:nvSpPr>
          <p:cNvPr id="26" name="Outcome Not stated"/>
          <p:cNvSpPr/>
          <p:nvPr/>
        </p:nvSpPr>
        <p:spPr>
          <a:xfrm>
            <a:off x="8097012" y="4709160"/>
            <a:ext cx="1664208" cy="420624"/>
          </a:xfrm>
          <a:prstGeom prst="roundRect">
            <a:avLst>
              <a:gd name="adj" fmla="val 50000"/>
            </a:avLst>
          </a:prstGeom>
          <a:noFill/>
          <a:ln w="19050">
            <a:solidFill>
              <a:srgbClr val="B9C4D5"/>
            </a:solidFill>
          </a:ln>
        </p:spPr>
        <p:txBody>
          <a:bodyPr vert="horz" wrap="square" lIns="45720" tIns="0" rIns="45720" bIns="0" rtlCol="0" anchor="ctr">
            <a:noAutofit/>
          </a:bodyPr>
          <a:lstStyle/>
          <a:p>
            <a:pPr marL="0" indent="0" algn="ctr">
              <a:lnSpc>
                <a:spcPct val="100000"/>
              </a:lnSpc>
              <a:spcBef>
                <a:spcPts val="0"/>
              </a:spcBef>
              <a:spcAft>
                <a:spcPts val="0"/>
              </a:spcAft>
              <a:buNone/>
            </a:pPr>
            <a:r>
              <a:rPr lang="en-SG" sz="1400" b="1" i="0" dirty="0">
                <a:solidFill>
                  <a:srgbClr val="B9C4D5"/>
                </a:solidFill>
                <a:latin typeface="Segoe UI Symbol"/>
                <a:cs typeface="Segoe UI Symbol"/>
              </a:rPr>
              <a:t>– </a:t>
            </a:r>
            <a:r>
              <a:rPr lang="en-SG" sz="1400" b="1" i="0" dirty="0">
                <a:solidFill>
                  <a:srgbClr val="B9C4D5"/>
                </a:solidFill>
                <a:latin typeface="Arial"/>
                <a:cs typeface="Arial"/>
              </a:rPr>
              <a:t>Not stated</a:t>
            </a:r>
          </a:p>
        </p:txBody>
      </p:sp>
      <p:sp>
        <p:nvSpPr>
          <p:cNvPr id="27" name="Outcome meaning"/>
          <p:cNvSpPr txBox="1"/>
          <p:nvPr/>
        </p:nvSpPr>
        <p:spPr>
          <a:xfrm>
            <a:off x="8097012" y="5166360"/>
            <a:ext cx="1664208" cy="274320"/>
          </a:xfrm>
          <a:prstGeom prst="rect">
            <a:avLst/>
          </a:prstGeom>
          <a:noFill/>
          <a:ln>
            <a:noFill/>
          </a:ln>
        </p:spPr>
        <p:txBody>
          <a:bodyPr vert="horz" wrap="square" lIns="0" tIns="0" rIns="0" bIns="0" rtlCol="0" anchor="ctr">
            <a:noAutofit/>
          </a:bodyPr>
          <a:lstStyle/>
          <a:p>
            <a:pPr marL="0" indent="0" algn="ctr">
              <a:lnSpc>
                <a:spcPct val="100000"/>
              </a:lnSpc>
              <a:spcBef>
                <a:spcPts val="0"/>
              </a:spcBef>
              <a:spcAft>
                <a:spcPts val="0"/>
              </a:spcAft>
              <a:buNone/>
            </a:pPr>
            <a:r>
              <a:rPr lang="en-SG" sz="1200" b="0" i="0" dirty="0">
                <a:solidFill>
                  <a:srgbClr val="B9C4D5"/>
                </a:solidFill>
                <a:latin typeface="Arial"/>
                <a:cs typeface="Arial"/>
              </a:rPr>
              <a:t>left out</a:t>
            </a:r>
          </a:p>
        </p:txBody>
      </p:sp>
      <p:sp>
        <p:nvSpPr>
          <p:cNvPr id="28" name="Outcome Wrong"/>
          <p:cNvSpPr/>
          <p:nvPr/>
        </p:nvSpPr>
        <p:spPr>
          <a:xfrm>
            <a:off x="9976104" y="4709160"/>
            <a:ext cx="1664208" cy="420624"/>
          </a:xfrm>
          <a:prstGeom prst="roundRect">
            <a:avLst>
              <a:gd name="adj" fmla="val 50000"/>
            </a:avLst>
          </a:prstGeom>
          <a:noFill/>
          <a:ln w="19050">
            <a:solidFill>
              <a:srgbClr val="FF9B8E"/>
            </a:solidFill>
          </a:ln>
        </p:spPr>
        <p:txBody>
          <a:bodyPr vert="horz" wrap="square" lIns="45720" tIns="0" rIns="45720" bIns="0" rtlCol="0" anchor="ctr">
            <a:noAutofit/>
          </a:bodyPr>
          <a:lstStyle/>
          <a:p>
            <a:pPr marL="0" indent="0" algn="ctr">
              <a:lnSpc>
                <a:spcPct val="100000"/>
              </a:lnSpc>
              <a:spcBef>
                <a:spcPts val="0"/>
              </a:spcBef>
              <a:spcAft>
                <a:spcPts val="0"/>
              </a:spcAft>
              <a:buNone/>
            </a:pPr>
            <a:r>
              <a:rPr lang="en-SG" sz="1400" b="1" i="0" dirty="0">
                <a:solidFill>
                  <a:srgbClr val="FF9B8E"/>
                </a:solidFill>
                <a:latin typeface="Segoe UI Symbol"/>
                <a:cs typeface="Segoe UI Symbol"/>
              </a:rPr>
              <a:t>✗ </a:t>
            </a:r>
            <a:r>
              <a:rPr lang="en-SG" sz="1400" b="1" i="0" dirty="0">
                <a:solidFill>
                  <a:srgbClr val="FF9B8E"/>
                </a:solidFill>
                <a:latin typeface="Arial"/>
                <a:cs typeface="Arial"/>
              </a:rPr>
              <a:t>Wrong</a:t>
            </a:r>
          </a:p>
        </p:txBody>
      </p:sp>
      <p:sp>
        <p:nvSpPr>
          <p:cNvPr id="29" name="Outcome meaning"/>
          <p:cNvSpPr txBox="1"/>
          <p:nvPr/>
        </p:nvSpPr>
        <p:spPr>
          <a:xfrm>
            <a:off x="9976104" y="5166360"/>
            <a:ext cx="1664208" cy="274320"/>
          </a:xfrm>
          <a:prstGeom prst="rect">
            <a:avLst/>
          </a:prstGeom>
          <a:noFill/>
          <a:ln>
            <a:noFill/>
          </a:ln>
        </p:spPr>
        <p:txBody>
          <a:bodyPr vert="horz" wrap="square" lIns="0" tIns="0" rIns="0" bIns="0" rtlCol="0" anchor="ctr">
            <a:noAutofit/>
          </a:bodyPr>
          <a:lstStyle/>
          <a:p>
            <a:pPr marL="0" indent="0" algn="ctr">
              <a:lnSpc>
                <a:spcPct val="100000"/>
              </a:lnSpc>
              <a:spcBef>
                <a:spcPts val="0"/>
              </a:spcBef>
              <a:spcAft>
                <a:spcPts val="0"/>
              </a:spcAft>
              <a:buNone/>
            </a:pPr>
            <a:r>
              <a:rPr lang="en-SG" sz="1200" b="0" i="0" dirty="0">
                <a:solidFill>
                  <a:srgbClr val="B9C4D5"/>
                </a:solidFill>
                <a:latin typeface="Arial"/>
                <a:cs typeface="Arial"/>
              </a:rPr>
              <a:t>stated inaccurately</a:t>
            </a:r>
          </a:p>
        </p:txBody>
      </p:sp>
      <p:sp>
        <p:nvSpPr>
          <p:cNvPr id="30" name="Score formula"/>
          <p:cNvSpPr txBox="1"/>
          <p:nvPr/>
        </p:nvSpPr>
        <p:spPr>
          <a:xfrm>
            <a:off x="6217920" y="5532120"/>
            <a:ext cx="5422392" cy="594360"/>
          </a:xfrm>
          <a:prstGeom prst="rect">
            <a:avLst/>
          </a:prstGeom>
          <a:noFill/>
          <a:ln>
            <a:noFill/>
          </a:ln>
        </p:spPr>
        <p:txBody>
          <a:bodyPr vert="horz" wrap="square" lIns="0" tIns="0" rIns="0" bIns="0" rtlCol="0" anchor="t">
            <a:noAutofit/>
          </a:bodyPr>
          <a:lstStyle/>
          <a:p>
            <a:pPr marL="0" indent="0" algn="l">
              <a:lnSpc>
                <a:spcPct val="100000"/>
              </a:lnSpc>
              <a:spcBef>
                <a:spcPts val="0"/>
              </a:spcBef>
              <a:spcAft>
                <a:spcPts val="0"/>
              </a:spcAft>
              <a:buNone/>
            </a:pPr>
            <a:r>
              <a:rPr lang="en-SG" sz="1700" b="1" i="0" dirty="0">
                <a:solidFill>
                  <a:srgbClr val="F5F3EB"/>
                </a:solidFill>
                <a:latin typeface="Arial"/>
                <a:cs typeface="Arial"/>
              </a:rPr>
              <a:t>Score = </a:t>
            </a:r>
            <a:r>
              <a:rPr lang="en-SG" sz="1700" b="1" i="0" dirty="0">
                <a:solidFill>
                  <a:srgbClr val="FFC36A"/>
                </a:solidFill>
                <a:latin typeface="Arial"/>
                <a:cs typeface="Arial"/>
              </a:rPr>
              <a:t>correct facts ÷ expected facts</a:t>
            </a:r>
          </a:p>
          <a:p>
            <a:pPr marL="0" indent="0" algn="l">
              <a:lnSpc>
                <a:spcPct val="100000"/>
              </a:lnSpc>
              <a:spcBef>
                <a:spcPts val="200"/>
              </a:spcBef>
              <a:spcAft>
                <a:spcPts val="0"/>
              </a:spcAft>
              <a:buNone/>
            </a:pPr>
            <a:r>
              <a:rPr lang="en-SG" sz="1250" b="0" i="0" dirty="0">
                <a:solidFill>
                  <a:srgbClr val="B9C4D5"/>
                </a:solidFill>
                <a:latin typeface="Arial"/>
                <a:cs typeface="Arial"/>
              </a:rPr>
              <a:t>27 or 28 facts per run: 136 across all 5 runs, for each model and format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1B2D"/>
        </a:solidFill>
        <a:effectLst/>
      </p:bgPr>
    </p:bg>
    <p:spTree>
      <p:nvGrpSpPr>
        <p:cNvPr id="1" name=""/>
        <p:cNvGrpSpPr/>
        <p:nvPr/>
      </p:nvGrpSpPr>
      <p:grpSpPr>
        <a:xfrm>
          <a:off x="0" y="0"/>
          <a:ext cx="0" cy="0"/>
          <a:chOff x="0" y="0"/>
          <a:chExt cx="0" cy="0"/>
        </a:xfrm>
      </p:grpSpPr>
      <p:sp>
        <p:nvSpPr>
          <p:cNvPr id="2" name="Section label"/>
          <p:cNvSpPr txBox="1"/>
          <p:nvPr/>
        </p:nvSpPr>
        <p:spPr>
          <a:xfrm>
            <a:off x="548640" y="329184"/>
            <a:ext cx="9144000" cy="27432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200" b="1" i="0" spc="100" dirty="0">
                <a:solidFill>
                  <a:srgbClr val="69DECC"/>
                </a:solidFill>
                <a:latin typeface="Arial"/>
                <a:cs typeface="Arial"/>
              </a:rPr>
              <a:t>RESULT 1</a:t>
            </a:r>
          </a:p>
        </p:txBody>
      </p:sp>
      <p:sp>
        <p:nvSpPr>
          <p:cNvPr id="3" name="Title"/>
          <p:cNvSpPr>
            <a:spLocks noGrp="1"/>
          </p:cNvSpPr>
          <p:nvPr>
            <p:ph type="title"/>
          </p:nvPr>
        </p:nvSpPr>
        <p:spPr>
          <a:xfrm>
            <a:off x="548640" y="658368"/>
            <a:ext cx="11091672" cy="658368"/>
          </a:xfrm>
        </p:spPr>
        <p:txBody>
          <a:bodyPr vert="horz" wrap="square" lIns="0" tIns="0" rIns="0" bIns="0" rtlCol="0" anchor="t">
            <a:noAutofit/>
          </a:bodyPr>
          <a:lstStyle/>
          <a:p>
            <a:pPr marL="0" indent="0" algn="l">
              <a:lnSpc>
                <a:spcPct val="95000"/>
              </a:lnSpc>
              <a:spcBef>
                <a:spcPts val="0"/>
              </a:spcBef>
              <a:spcAft>
                <a:spcPts val="0"/>
              </a:spcAft>
              <a:buNone/>
            </a:pPr>
            <a:r>
              <a:rPr lang="en-SG" sz="3000" b="1" i="0" dirty="0">
                <a:solidFill>
                  <a:srgbClr val="F5F3EB"/>
                </a:solidFill>
                <a:latin typeface="Arial"/>
                <a:cs typeface="Arial"/>
              </a:rPr>
              <a:t>GPT leaned free-form, Claude leaned checklist</a:t>
            </a:r>
          </a:p>
        </p:txBody>
      </p:sp>
      <p:sp>
        <p:nvSpPr>
          <p:cNvPr id="4" name="Lead"/>
          <p:cNvSpPr txBox="1"/>
          <p:nvPr/>
        </p:nvSpPr>
        <p:spPr>
          <a:xfrm>
            <a:off x="548640" y="1353312"/>
            <a:ext cx="11091672" cy="731520"/>
          </a:xfrm>
          <a:prstGeom prst="rect">
            <a:avLst/>
          </a:prstGeom>
          <a:noFill/>
          <a:ln>
            <a:noFill/>
          </a:ln>
        </p:spPr>
        <p:txBody>
          <a:bodyPr vert="horz" wrap="square" lIns="0" tIns="0" rIns="0" bIns="0" rtlCol="0" anchor="t">
            <a:noAutofit/>
          </a:bodyPr>
          <a:lstStyle/>
          <a:p>
            <a:pPr marL="0" indent="0" algn="l">
              <a:lnSpc>
                <a:spcPct val="110000"/>
              </a:lnSpc>
              <a:spcBef>
                <a:spcPts val="0"/>
              </a:spcBef>
              <a:spcAft>
                <a:spcPts val="0"/>
              </a:spcAft>
              <a:buNone/>
            </a:pPr>
            <a:r>
              <a:rPr lang="en-SG" sz="1800" b="0" i="0" dirty="0">
                <a:solidFill>
                  <a:srgbClr val="D6DDE8"/>
                </a:solidFill>
                <a:latin typeface="Arial"/>
                <a:cs typeface="Arial"/>
              </a:rPr>
              <a:t>No format won overall. GPT models did slightly better with free-form summaries, and Claude models with checklists. Every gap was 5 facts or fewer, out of 136 across all 5 runs.</a:t>
            </a:r>
          </a:p>
        </p:txBody>
      </p:sp>
      <p:sp>
        <p:nvSpPr>
          <p:cNvPr id="5" name="Slide number"/>
          <p:cNvSpPr txBox="1"/>
          <p:nvPr/>
        </p:nvSpPr>
        <p:spPr>
          <a:xfrm>
            <a:off x="10424160" y="6382512"/>
            <a:ext cx="1216152" cy="256032"/>
          </a:xfrm>
          <a:prstGeom prst="rect">
            <a:avLst/>
          </a:prstGeom>
          <a:noFill/>
          <a:ln>
            <a:noFill/>
          </a:ln>
        </p:spPr>
        <p:txBody>
          <a:bodyPr vert="horz" wrap="square" lIns="0" tIns="0" rIns="0" bIns="0" rtlCol="0" anchor="ctr">
            <a:noAutofit/>
          </a:bodyPr>
          <a:lstStyle/>
          <a:p>
            <a:pPr marL="0" indent="0" algn="r">
              <a:lnSpc>
                <a:spcPct val="100000"/>
              </a:lnSpc>
              <a:spcBef>
                <a:spcPts val="0"/>
              </a:spcBef>
              <a:spcAft>
                <a:spcPts val="0"/>
              </a:spcAft>
              <a:buNone/>
            </a:pPr>
            <a:r>
              <a:rPr lang="en-SG" sz="1050" b="0" i="0" dirty="0">
                <a:solidFill>
                  <a:srgbClr val="B9C4D5"/>
                </a:solidFill>
                <a:latin typeface="Arial"/>
                <a:cs typeface="Arial"/>
              </a:rPr>
              <a:t>8 / 12</a:t>
            </a:r>
          </a:p>
        </p:txBody>
      </p:sp>
      <p:graphicFrame>
        <p:nvGraphicFramePr>
          <p:cNvPr id="6" name="Chart" descr="Bar chart of expected facts recovered. GPT-5.6 Sol: summary 57%, checklist 54%. GPT-5.6 Luna: 47% and 46%. Claude Opus 5.5: 57% and 58%. Claude Sonnet 5.5: 54% and 55%."/>
          <p:cNvGraphicFramePr/>
          <p:nvPr/>
        </p:nvGraphicFramePr>
        <p:xfrm>
          <a:off x="411480" y="2148840"/>
          <a:ext cx="781812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7" name="GPT"/>
          <p:cNvSpPr/>
          <p:nvPr/>
        </p:nvSpPr>
        <p:spPr>
          <a:xfrm>
            <a:off x="8503920" y="2240280"/>
            <a:ext cx="3136392" cy="1097280"/>
          </a:xfrm>
          <a:prstGeom prst="roundRect">
            <a:avLst>
              <a:gd name="adj" fmla="val 6666"/>
            </a:avLst>
          </a:prstGeom>
          <a:solidFill>
            <a:srgbClr val="1B2940"/>
          </a:solidFill>
          <a:ln>
            <a:noFill/>
          </a:ln>
        </p:spPr>
        <p:txBody>
          <a:bodyPr vert="horz" wrap="square" lIns="201168" tIns="73152" rIns="182880" bIns="73152" rtlCol="0" anchor="ctr">
            <a:noAutofit/>
          </a:bodyPr>
          <a:lstStyle/>
          <a:p>
            <a:pPr marL="0" indent="0" algn="l">
              <a:lnSpc>
                <a:spcPct val="100000"/>
              </a:lnSpc>
              <a:spcBef>
                <a:spcPts val="0"/>
              </a:spcBef>
              <a:spcAft>
                <a:spcPts val="300"/>
              </a:spcAft>
              <a:buNone/>
            </a:pPr>
            <a:r>
              <a:rPr lang="en-SG" sz="1500" b="1" i="0" dirty="0">
                <a:solidFill>
                  <a:srgbClr val="B9C4D5"/>
                </a:solidFill>
                <a:latin typeface="Arial"/>
                <a:cs typeface="Arial"/>
              </a:rPr>
              <a:t>GPT: summary ahead</a:t>
            </a:r>
          </a:p>
          <a:p>
            <a:pPr marL="0" indent="0" algn="l">
              <a:lnSpc>
                <a:spcPct val="100000"/>
              </a:lnSpc>
              <a:spcBef>
                <a:spcPts val="0"/>
              </a:spcBef>
              <a:spcAft>
                <a:spcPts val="0"/>
              </a:spcAft>
              <a:buNone/>
            </a:pPr>
            <a:r>
              <a:rPr lang="en-SG" sz="1400" b="0" i="0" dirty="0">
                <a:solidFill>
                  <a:srgbClr val="D6DDE8"/>
                </a:solidFill>
                <a:latin typeface="Arial"/>
                <a:cs typeface="Arial"/>
              </a:rPr>
              <a:t>by 5 facts (Sol) and 2 facts (Luna)</a:t>
            </a:r>
          </a:p>
        </p:txBody>
      </p:sp>
      <p:sp>
        <p:nvSpPr>
          <p:cNvPr id="8" name="Claude"/>
          <p:cNvSpPr/>
          <p:nvPr/>
        </p:nvSpPr>
        <p:spPr>
          <a:xfrm>
            <a:off x="8503920" y="3474720"/>
            <a:ext cx="3136392" cy="1097280"/>
          </a:xfrm>
          <a:prstGeom prst="roundRect">
            <a:avLst>
              <a:gd name="adj" fmla="val 6666"/>
            </a:avLst>
          </a:prstGeom>
          <a:solidFill>
            <a:srgbClr val="1B2940"/>
          </a:solidFill>
          <a:ln>
            <a:noFill/>
          </a:ln>
        </p:spPr>
        <p:txBody>
          <a:bodyPr vert="horz" wrap="square" lIns="201168" tIns="73152" rIns="182880" bIns="73152" rtlCol="0" anchor="ctr">
            <a:noAutofit/>
          </a:bodyPr>
          <a:lstStyle/>
          <a:p>
            <a:pPr marL="0" indent="0" algn="l">
              <a:lnSpc>
                <a:spcPct val="100000"/>
              </a:lnSpc>
              <a:spcBef>
                <a:spcPts val="0"/>
              </a:spcBef>
              <a:spcAft>
                <a:spcPts val="300"/>
              </a:spcAft>
              <a:buNone/>
            </a:pPr>
            <a:r>
              <a:rPr lang="en-SG" sz="1500" b="1" i="0" dirty="0">
                <a:solidFill>
                  <a:srgbClr val="69DECC"/>
                </a:solidFill>
                <a:latin typeface="Arial"/>
                <a:cs typeface="Arial"/>
              </a:rPr>
              <a:t>Claude: checklist ahead</a:t>
            </a:r>
          </a:p>
          <a:p>
            <a:pPr marL="0" indent="0" algn="l">
              <a:lnSpc>
                <a:spcPct val="100000"/>
              </a:lnSpc>
              <a:spcBef>
                <a:spcPts val="0"/>
              </a:spcBef>
              <a:spcAft>
                <a:spcPts val="0"/>
              </a:spcAft>
              <a:buNone/>
            </a:pPr>
            <a:r>
              <a:rPr lang="en-SG" sz="1400" b="0" i="0" dirty="0">
                <a:solidFill>
                  <a:srgbClr val="D6DDE8"/>
                </a:solidFill>
                <a:latin typeface="Arial"/>
                <a:cs typeface="Arial"/>
              </a:rPr>
              <a:t>by just 1 fact each (Opus and Sonnet)</a:t>
            </a:r>
          </a:p>
        </p:txBody>
      </p:sp>
      <p:sp>
        <p:nvSpPr>
          <p:cNvPr id="9" name="Model strength"/>
          <p:cNvSpPr/>
          <p:nvPr/>
        </p:nvSpPr>
        <p:spPr>
          <a:xfrm>
            <a:off x="8503920" y="4709160"/>
            <a:ext cx="3136392" cy="1417320"/>
          </a:xfrm>
          <a:prstGeom prst="roundRect">
            <a:avLst>
              <a:gd name="adj" fmla="val 5161"/>
            </a:avLst>
          </a:prstGeom>
          <a:solidFill>
            <a:srgbClr val="1B2940"/>
          </a:solidFill>
          <a:ln>
            <a:noFill/>
          </a:ln>
        </p:spPr>
        <p:txBody>
          <a:bodyPr vert="horz" wrap="square" lIns="201168" tIns="73152" rIns="182880" bIns="73152" rtlCol="0" anchor="ctr">
            <a:noAutofit/>
          </a:bodyPr>
          <a:lstStyle/>
          <a:p>
            <a:pPr marL="0" indent="0" algn="l">
              <a:lnSpc>
                <a:spcPct val="100000"/>
              </a:lnSpc>
              <a:spcBef>
                <a:spcPts val="0"/>
              </a:spcBef>
              <a:spcAft>
                <a:spcPts val="300"/>
              </a:spcAft>
              <a:buNone/>
            </a:pPr>
            <a:r>
              <a:rPr lang="en-SG" sz="1500" b="1" i="0" dirty="0">
                <a:solidFill>
                  <a:srgbClr val="FFC36A"/>
                </a:solidFill>
                <a:latin typeface="Arial"/>
                <a:cs typeface="Arial"/>
              </a:rPr>
              <a:t>Stronger model, higher score</a:t>
            </a:r>
          </a:p>
          <a:p>
            <a:pPr marL="0" indent="0" algn="l">
              <a:lnSpc>
                <a:spcPct val="105000"/>
              </a:lnSpc>
              <a:spcBef>
                <a:spcPts val="0"/>
              </a:spcBef>
              <a:spcAft>
                <a:spcPts val="0"/>
              </a:spcAft>
              <a:buNone/>
            </a:pPr>
            <a:r>
              <a:rPr lang="en-SG" sz="1400" b="0" i="0" dirty="0">
                <a:solidFill>
                  <a:srgbClr val="D6DDE8"/>
                </a:solidFill>
                <a:latin typeface="Arial"/>
                <a:cs typeface="Arial"/>
              </a:rPr>
              <a:t>In both formats, Sol beat Luna by 11 to 14 facts, and Opus beat Sonnet by 4 facts.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1B2D"/>
        </a:solidFill>
        <a:effectLst/>
      </p:bgPr>
    </p:bg>
    <p:spTree>
      <p:nvGrpSpPr>
        <p:cNvPr id="1" name=""/>
        <p:cNvGrpSpPr/>
        <p:nvPr/>
      </p:nvGrpSpPr>
      <p:grpSpPr>
        <a:xfrm>
          <a:off x="0" y="0"/>
          <a:ext cx="0" cy="0"/>
          <a:chOff x="0" y="0"/>
          <a:chExt cx="0" cy="0"/>
        </a:xfrm>
      </p:grpSpPr>
      <p:sp>
        <p:nvSpPr>
          <p:cNvPr id="2" name="Section label"/>
          <p:cNvSpPr txBox="1"/>
          <p:nvPr/>
        </p:nvSpPr>
        <p:spPr>
          <a:xfrm>
            <a:off x="548640" y="329184"/>
            <a:ext cx="9144000" cy="27432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200" b="1" i="0" spc="100" dirty="0">
                <a:solidFill>
                  <a:srgbClr val="69DECC"/>
                </a:solidFill>
                <a:latin typeface="Arial"/>
                <a:cs typeface="Arial"/>
              </a:rPr>
              <a:t>RESULT 2</a:t>
            </a:r>
          </a:p>
        </p:txBody>
      </p:sp>
      <p:sp>
        <p:nvSpPr>
          <p:cNvPr id="3" name="Title"/>
          <p:cNvSpPr>
            <a:spLocks noGrp="1"/>
          </p:cNvSpPr>
          <p:nvPr>
            <p:ph type="title"/>
          </p:nvPr>
        </p:nvSpPr>
        <p:spPr>
          <a:xfrm>
            <a:off x="548640" y="658368"/>
            <a:ext cx="11091672" cy="658368"/>
          </a:xfrm>
        </p:spPr>
        <p:txBody>
          <a:bodyPr vert="horz" wrap="square" lIns="0" tIns="0" rIns="0" bIns="0" rtlCol="0" anchor="t">
            <a:noAutofit/>
          </a:bodyPr>
          <a:lstStyle/>
          <a:p>
            <a:pPr marL="0" indent="0" algn="l">
              <a:lnSpc>
                <a:spcPct val="95000"/>
              </a:lnSpc>
              <a:spcBef>
                <a:spcPts val="0"/>
              </a:spcBef>
              <a:spcAft>
                <a:spcPts val="0"/>
              </a:spcAft>
              <a:buNone/>
            </a:pPr>
            <a:r>
              <a:rPr lang="en-SG" sz="3000" b="1" i="0" dirty="0">
                <a:solidFill>
                  <a:srgbClr val="F5F3EB"/>
                </a:solidFill>
                <a:latin typeface="Arial"/>
                <a:cs typeface="Arial"/>
              </a:rPr>
              <a:t>Some facts survived much better than others</a:t>
            </a:r>
          </a:p>
        </p:txBody>
      </p:sp>
      <p:sp>
        <p:nvSpPr>
          <p:cNvPr id="4" name="Lead"/>
          <p:cNvSpPr txBox="1"/>
          <p:nvPr/>
        </p:nvSpPr>
        <p:spPr>
          <a:xfrm>
            <a:off x="548640" y="1353312"/>
            <a:ext cx="11091672" cy="731520"/>
          </a:xfrm>
          <a:prstGeom prst="rect">
            <a:avLst/>
          </a:prstGeom>
          <a:noFill/>
          <a:ln>
            <a:noFill/>
          </a:ln>
        </p:spPr>
        <p:txBody>
          <a:bodyPr vert="horz" wrap="square" lIns="0" tIns="0" rIns="0" bIns="0" rtlCol="0" anchor="t">
            <a:noAutofit/>
          </a:bodyPr>
          <a:lstStyle/>
          <a:p>
            <a:pPr marL="0" indent="0" algn="l">
              <a:lnSpc>
                <a:spcPct val="110000"/>
              </a:lnSpc>
              <a:spcBef>
                <a:spcPts val="0"/>
              </a:spcBef>
              <a:spcAft>
                <a:spcPts val="0"/>
              </a:spcAft>
              <a:buNone/>
            </a:pPr>
            <a:r>
              <a:rPr lang="en-SG" sz="1800" b="0" i="0" dirty="0">
                <a:solidFill>
                  <a:srgbClr val="D6DDE8"/>
                </a:solidFill>
                <a:latin typeface="Arial"/>
                <a:cs typeface="Arial"/>
              </a:rPr>
              <a:t>The handoffs said which files changed and whether the tests passed. They almost never said which replies count as a success.</a:t>
            </a:r>
          </a:p>
        </p:txBody>
      </p:sp>
      <p:sp>
        <p:nvSpPr>
          <p:cNvPr id="5" name="Slide number"/>
          <p:cNvSpPr txBox="1"/>
          <p:nvPr/>
        </p:nvSpPr>
        <p:spPr>
          <a:xfrm>
            <a:off x="10424160" y="6382512"/>
            <a:ext cx="1216152" cy="256032"/>
          </a:xfrm>
          <a:prstGeom prst="rect">
            <a:avLst/>
          </a:prstGeom>
          <a:noFill/>
          <a:ln>
            <a:noFill/>
          </a:ln>
        </p:spPr>
        <p:txBody>
          <a:bodyPr vert="horz" wrap="square" lIns="0" tIns="0" rIns="0" bIns="0" rtlCol="0" anchor="ctr">
            <a:noAutofit/>
          </a:bodyPr>
          <a:lstStyle/>
          <a:p>
            <a:pPr marL="0" indent="0" algn="r">
              <a:lnSpc>
                <a:spcPct val="100000"/>
              </a:lnSpc>
              <a:spcBef>
                <a:spcPts val="0"/>
              </a:spcBef>
              <a:spcAft>
                <a:spcPts val="0"/>
              </a:spcAft>
              <a:buNone/>
            </a:pPr>
            <a:r>
              <a:rPr lang="en-SG" sz="1050" b="0" i="0" dirty="0">
                <a:solidFill>
                  <a:srgbClr val="B9C4D5"/>
                </a:solidFill>
                <a:latin typeface="Arial"/>
                <a:cs typeface="Arial"/>
              </a:rPr>
              <a:t>9 / 12</a:t>
            </a:r>
          </a:p>
        </p:txBody>
      </p:sp>
      <p:graphicFrame>
        <p:nvGraphicFramePr>
          <p:cNvPr id="6" name="Chart" descr="Bar chart of expected facts recovered by question, all 40 handoffs. Files changed 100%, checks and results 100%, what wasn't verified 86%, timeout how and why 45%, what counts as success 1%, proxy and headers 100%."/>
          <p:cNvGraphicFramePr/>
          <p:nvPr/>
        </p:nvGraphicFramePr>
        <p:xfrm>
          <a:off x="411480" y="2148840"/>
          <a:ext cx="809244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7" name="Big number"/>
          <p:cNvSpPr txBox="1"/>
          <p:nvPr/>
        </p:nvSpPr>
        <p:spPr>
          <a:xfrm>
            <a:off x="8778240" y="2286000"/>
            <a:ext cx="2862072" cy="82296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4600" b="1" i="0" dirty="0">
                <a:solidFill>
                  <a:srgbClr val="FFC36A"/>
                </a:solidFill>
                <a:latin typeface="Arial"/>
                <a:cs typeface="Arial"/>
              </a:rPr>
              <a:t>4 of 360</a:t>
            </a:r>
          </a:p>
        </p:txBody>
      </p:sp>
      <p:sp>
        <p:nvSpPr>
          <p:cNvPr id="8" name="Big number label"/>
          <p:cNvSpPr txBox="1"/>
          <p:nvPr/>
        </p:nvSpPr>
        <p:spPr>
          <a:xfrm>
            <a:off x="8778240" y="3108960"/>
            <a:ext cx="2862072" cy="777240"/>
          </a:xfrm>
          <a:prstGeom prst="rect">
            <a:avLst/>
          </a:prstGeom>
          <a:noFill/>
          <a:ln>
            <a:noFill/>
          </a:ln>
        </p:spPr>
        <p:txBody>
          <a:bodyPr vert="horz" wrap="square" lIns="0" tIns="0" rIns="0" bIns="0" rtlCol="0" anchor="t">
            <a:noAutofit/>
          </a:bodyPr>
          <a:lstStyle/>
          <a:p>
            <a:pPr marL="0" indent="0" algn="l">
              <a:lnSpc>
                <a:spcPct val="110000"/>
              </a:lnSpc>
              <a:spcBef>
                <a:spcPts val="0"/>
              </a:spcBef>
              <a:spcAft>
                <a:spcPts val="0"/>
              </a:spcAft>
              <a:buNone/>
            </a:pPr>
            <a:r>
              <a:rPr lang="en-SG" sz="1500" b="0" i="0" dirty="0">
                <a:solidFill>
                  <a:srgbClr val="F5F3EB"/>
                </a:solidFill>
                <a:latin typeface="Arial"/>
                <a:cs typeface="Arial"/>
              </a:rPr>
              <a:t>facts about what counts as success survived, across all 40 handoffs</a:t>
            </a:r>
          </a:p>
        </p:txBody>
      </p:sp>
      <p:sp>
        <p:nvSpPr>
          <p:cNvPr id="9" name="Why"/>
          <p:cNvSpPr/>
          <p:nvPr/>
        </p:nvSpPr>
        <p:spPr>
          <a:xfrm>
            <a:off x="8778240" y="3931920"/>
            <a:ext cx="2862072" cy="1524000"/>
          </a:xfrm>
          <a:prstGeom prst="roundRect">
            <a:avLst>
              <a:gd name="adj" fmla="val 3333"/>
            </a:avLst>
          </a:prstGeom>
          <a:solidFill>
            <a:srgbClr val="1B2940"/>
          </a:solidFill>
          <a:ln>
            <a:noFill/>
          </a:ln>
        </p:spPr>
        <p:txBody>
          <a:bodyPr vert="horz" wrap="square" lIns="201168" tIns="109728" rIns="182880" bIns="109728" rtlCol="0" anchor="ctr">
            <a:noAutofit/>
          </a:bodyPr>
          <a:lstStyle/>
          <a:p>
            <a:pPr marL="0" indent="0" algn="l">
              <a:lnSpc>
                <a:spcPct val="100000"/>
              </a:lnSpc>
              <a:spcBef>
                <a:spcPts val="0"/>
              </a:spcBef>
              <a:spcAft>
                <a:spcPts val="500"/>
              </a:spcAft>
              <a:buNone/>
            </a:pPr>
            <a:r>
              <a:rPr lang="en-SG" sz="1400" b="1" i="0" dirty="0">
                <a:solidFill>
                  <a:srgbClr val="FFC36A"/>
                </a:solidFill>
                <a:latin typeface="Arial"/>
                <a:cs typeface="Arial"/>
              </a:rPr>
              <a:t>Likely reason</a:t>
            </a:r>
          </a:p>
          <a:p>
            <a:pPr marL="0" indent="0" algn="l">
              <a:lnSpc>
                <a:spcPct val="105000"/>
              </a:lnSpc>
              <a:spcBef>
                <a:spcPts val="0"/>
              </a:spcBef>
              <a:spcAft>
                <a:spcPts val="500"/>
              </a:spcAft>
              <a:buNone/>
            </a:pPr>
            <a:r>
              <a:rPr lang="en-SG" sz="1300" b="0" i="0" dirty="0">
                <a:solidFill>
                  <a:srgbClr val="D6DDE8"/>
                </a:solidFill>
                <a:latin typeface="Arial"/>
                <a:cs typeface="Arial"/>
              </a:rPr>
              <a:t>We asked for changes and checks.</a:t>
            </a:r>
          </a:p>
          <a:p>
            <a:pPr marL="0" indent="0" algn="l">
              <a:lnSpc>
                <a:spcPct val="105000"/>
              </a:lnSpc>
              <a:spcBef>
                <a:spcPts val="0"/>
              </a:spcBef>
              <a:spcAft>
                <a:spcPts val="500"/>
              </a:spcAft>
              <a:buNone/>
            </a:pPr>
            <a:r>
              <a:rPr lang="en-SG" sz="1300" b="0" i="0" dirty="0">
                <a:solidFill>
                  <a:srgbClr val="D6DDE8"/>
                </a:solidFill>
                <a:latin typeface="Arial"/>
                <a:cs typeface="Arial"/>
              </a:rPr>
              <a:t>We didn’t ask for these rules, but the quiz did.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1B2D"/>
        </a:solidFill>
        <a:effectLst/>
      </p:bgPr>
    </p:bg>
    <p:spTree>
      <p:nvGrpSpPr>
        <p:cNvPr id="1" name=""/>
        <p:cNvGrpSpPr/>
        <p:nvPr/>
      </p:nvGrpSpPr>
      <p:grpSpPr>
        <a:xfrm>
          <a:off x="0" y="0"/>
          <a:ext cx="0" cy="0"/>
          <a:chOff x="0" y="0"/>
          <a:chExt cx="0" cy="0"/>
        </a:xfrm>
      </p:grpSpPr>
      <p:sp>
        <p:nvSpPr>
          <p:cNvPr id="2" name="Section label"/>
          <p:cNvSpPr txBox="1"/>
          <p:nvPr/>
        </p:nvSpPr>
        <p:spPr>
          <a:xfrm>
            <a:off x="548640" y="329184"/>
            <a:ext cx="9144000" cy="27432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200" b="1" i="0" spc="100" dirty="0">
                <a:solidFill>
                  <a:srgbClr val="69DECC"/>
                </a:solidFill>
                <a:latin typeface="Arial"/>
                <a:cs typeface="Arial"/>
              </a:rPr>
              <a:t>AN EXAMPLE</a:t>
            </a:r>
          </a:p>
        </p:txBody>
      </p:sp>
      <p:sp>
        <p:nvSpPr>
          <p:cNvPr id="3" name="Title"/>
          <p:cNvSpPr>
            <a:spLocks noGrp="1"/>
          </p:cNvSpPr>
          <p:nvPr>
            <p:ph type="title"/>
          </p:nvPr>
        </p:nvSpPr>
        <p:spPr>
          <a:xfrm>
            <a:off x="548640" y="658368"/>
            <a:ext cx="11091672" cy="658368"/>
          </a:xfrm>
        </p:spPr>
        <p:txBody>
          <a:bodyPr vert="horz" wrap="square" lIns="0" tIns="0" rIns="0" bIns="0" rtlCol="0" anchor="t">
            <a:noAutofit/>
          </a:bodyPr>
          <a:lstStyle/>
          <a:p>
            <a:pPr marL="0" indent="0" algn="l">
              <a:lnSpc>
                <a:spcPct val="95000"/>
              </a:lnSpc>
              <a:spcBef>
                <a:spcPts val="0"/>
              </a:spcBef>
              <a:spcAft>
                <a:spcPts val="0"/>
              </a:spcAft>
              <a:buNone/>
            </a:pPr>
            <a:r>
              <a:rPr lang="en-SG" sz="3000" b="1" i="0" dirty="0">
                <a:solidFill>
                  <a:srgbClr val="F5F3EB"/>
                </a:solidFill>
                <a:latin typeface="Arial"/>
                <a:cs typeface="Arial"/>
              </a:rPr>
              <a:t>The checklist kept the test results but lost the rules</a:t>
            </a:r>
          </a:p>
        </p:txBody>
      </p:sp>
      <p:sp>
        <p:nvSpPr>
          <p:cNvPr id="4" name="Lead"/>
          <p:cNvSpPr txBox="1"/>
          <p:nvPr/>
        </p:nvSpPr>
        <p:spPr>
          <a:xfrm>
            <a:off x="548640" y="1353312"/>
            <a:ext cx="11091672" cy="731520"/>
          </a:xfrm>
          <a:prstGeom prst="rect">
            <a:avLst/>
          </a:prstGeom>
          <a:noFill/>
          <a:ln>
            <a:noFill/>
          </a:ln>
        </p:spPr>
        <p:txBody>
          <a:bodyPr vert="horz" wrap="square" lIns="0" tIns="0" rIns="0" bIns="0" rtlCol="0" anchor="t">
            <a:noAutofit/>
          </a:bodyPr>
          <a:lstStyle/>
          <a:p>
            <a:pPr marL="0" indent="0" algn="l">
              <a:lnSpc>
                <a:spcPct val="110000"/>
              </a:lnSpc>
              <a:spcBef>
                <a:spcPts val="0"/>
              </a:spcBef>
              <a:spcAft>
                <a:spcPts val="0"/>
              </a:spcAft>
              <a:buNone/>
            </a:pPr>
            <a:r>
              <a:rPr lang="en-SG" sz="1800" b="0" i="0" dirty="0">
                <a:solidFill>
                  <a:srgbClr val="D6DDE8"/>
                </a:solidFill>
                <a:latin typeface="Arial"/>
                <a:cs typeface="Arial"/>
              </a:rPr>
              <a:t>This real checklist reported that all 30 tests passed. But it never said which responses count as a success, so the receiving agent answered “not stated”.</a:t>
            </a:r>
          </a:p>
        </p:txBody>
      </p:sp>
      <p:sp>
        <p:nvSpPr>
          <p:cNvPr id="5" name="Slide number"/>
          <p:cNvSpPr txBox="1"/>
          <p:nvPr/>
        </p:nvSpPr>
        <p:spPr>
          <a:xfrm>
            <a:off x="10424160" y="6382512"/>
            <a:ext cx="1216152" cy="256032"/>
          </a:xfrm>
          <a:prstGeom prst="rect">
            <a:avLst/>
          </a:prstGeom>
          <a:noFill/>
          <a:ln>
            <a:noFill/>
          </a:ln>
        </p:spPr>
        <p:txBody>
          <a:bodyPr vert="horz" wrap="square" lIns="0" tIns="0" rIns="0" bIns="0" rtlCol="0" anchor="ctr">
            <a:noAutofit/>
          </a:bodyPr>
          <a:lstStyle/>
          <a:p>
            <a:pPr marL="0" indent="0" algn="r">
              <a:lnSpc>
                <a:spcPct val="100000"/>
              </a:lnSpc>
              <a:spcBef>
                <a:spcPts val="0"/>
              </a:spcBef>
              <a:spcAft>
                <a:spcPts val="0"/>
              </a:spcAft>
              <a:buNone/>
            </a:pPr>
            <a:r>
              <a:rPr lang="en-SG" sz="1050" b="0" i="0" dirty="0">
                <a:solidFill>
                  <a:srgbClr val="B9C4D5"/>
                </a:solidFill>
                <a:latin typeface="Arial"/>
                <a:cs typeface="Arial"/>
              </a:rPr>
              <a:t>10 / 12</a:t>
            </a:r>
          </a:p>
        </p:txBody>
      </p:sp>
      <p:sp>
        <p:nvSpPr>
          <p:cNvPr id="6" name="The handoff" descr="A real checklist handoff, the receiving agent's answer, and the answer key with 1 of 9 facts recovered"/>
          <p:cNvSpPr/>
          <p:nvPr/>
        </p:nvSpPr>
        <p:spPr>
          <a:xfrm>
            <a:off x="548640" y="2240280"/>
            <a:ext cx="3429000" cy="3840480"/>
          </a:xfrm>
          <a:prstGeom prst="roundRect">
            <a:avLst>
              <a:gd name="adj" fmla="val 2133"/>
            </a:avLst>
          </a:prstGeom>
          <a:solidFill>
            <a:srgbClr val="1B2940"/>
          </a:solidFill>
          <a:ln>
            <a:noFill/>
          </a:ln>
        </p:spPr>
        <p:txBody>
          <a:bodyPr vert="horz" wrap="square" lIns="201168" tIns="146304" rIns="182880" bIns="91440" rtlCol="0" anchor="t">
            <a:noAutofit/>
          </a:bodyPr>
          <a:lstStyle/>
          <a:p>
            <a:pPr marL="0" indent="0" algn="l">
              <a:lnSpc>
                <a:spcPct val="100000"/>
              </a:lnSpc>
              <a:spcBef>
                <a:spcPts val="0"/>
              </a:spcBef>
              <a:spcAft>
                <a:spcPts val="0"/>
              </a:spcAft>
              <a:buNone/>
            </a:pPr>
            <a:r>
              <a:rPr lang="en-SG" sz="1200" b="1" i="0" spc="100" dirty="0">
                <a:solidFill>
                  <a:srgbClr val="69DECC"/>
                </a:solidFill>
                <a:latin typeface="Arial"/>
                <a:cs typeface="Arial"/>
              </a:rPr>
              <a:t>THE HANDOFF</a:t>
            </a:r>
          </a:p>
          <a:p>
            <a:pPr marL="0" indent="0" algn="l">
              <a:lnSpc>
                <a:spcPct val="100000"/>
              </a:lnSpc>
              <a:spcBef>
                <a:spcPts val="0"/>
              </a:spcBef>
              <a:spcAft>
                <a:spcPts val="0"/>
              </a:spcAft>
              <a:buNone/>
            </a:pPr>
            <a:r>
              <a:rPr lang="en-SG" sz="1200" b="0" i="0" dirty="0">
                <a:solidFill>
                  <a:srgbClr val="B9C4D5"/>
                </a:solidFill>
                <a:latin typeface="Arial"/>
                <a:cs typeface="Arial"/>
              </a:rPr>
              <a:t>GPT-5.6 Sol checklist, coding run 4</a:t>
            </a:r>
          </a:p>
        </p:txBody>
      </p:sp>
      <p:sp>
        <p:nvSpPr>
          <p:cNvPr id="7" name="Excerpt"/>
          <p:cNvSpPr/>
          <p:nvPr/>
        </p:nvSpPr>
        <p:spPr>
          <a:xfrm>
            <a:off x="749808" y="2926080"/>
            <a:ext cx="3026664" cy="1481328"/>
          </a:xfrm>
          <a:prstGeom prst="roundRect">
            <a:avLst>
              <a:gd name="adj" fmla="val 4938"/>
            </a:avLst>
          </a:prstGeom>
          <a:solidFill>
            <a:srgbClr val="24334B"/>
          </a:solidFill>
          <a:ln>
            <a:noFill/>
          </a:ln>
        </p:spPr>
        <p:txBody>
          <a:bodyPr vert="horz" wrap="square" lIns="146304" tIns="109728" rIns="128016" bIns="91440" rtlCol="0" anchor="t">
            <a:noAutofit/>
          </a:bodyPr>
          <a:lstStyle/>
          <a:p>
            <a:pPr marL="0" indent="0" algn="l">
              <a:lnSpc>
                <a:spcPct val="108000"/>
              </a:lnSpc>
              <a:spcBef>
                <a:spcPts val="0"/>
              </a:spcBef>
              <a:spcAft>
                <a:spcPts val="0"/>
              </a:spcAft>
              <a:buNone/>
            </a:pPr>
            <a:r>
              <a:rPr lang="en-SG" sz="1300" b="1" i="0" dirty="0">
                <a:solidFill>
                  <a:srgbClr val="69DECC"/>
                </a:solidFill>
                <a:latin typeface="Arial"/>
                <a:cs typeface="Arial"/>
              </a:rPr>
              <a:t>Checks: </a:t>
            </a:r>
            <a:r>
              <a:rPr lang="en-SG" sz="1300" b="0" i="0" dirty="0">
                <a:solidFill>
                  <a:srgbClr val="F5F3EB"/>
                </a:solidFill>
                <a:latin typeface="Arial"/>
                <a:cs typeface="Arial"/>
              </a:rPr>
              <a:t>Offline standalone suite passed all 30 tests in 0.030s. Covered request shape/headers, tokens, response validation,</a:t>
            </a:r>
            <a:br>
              <a:rPr lang="en-SG" sz="1300" b="0" i="0" dirty="0">
                <a:solidFill>
                  <a:srgbClr val="F5F3EB"/>
                </a:solidFill>
                <a:latin typeface="Arial"/>
                <a:cs typeface="Arial"/>
              </a:rPr>
            </a:br>
            <a:r>
              <a:rPr lang="en-SG" sz="1300" b="0" i="0" dirty="0">
                <a:solidFill>
                  <a:srgbClr val="F5F3EB"/>
                </a:solidFill>
                <a:latin typeface="Arial"/>
                <a:cs typeface="Arial"/>
              </a:rPr>
              <a:t>65,536-byte limit, …</a:t>
            </a:r>
          </a:p>
        </p:txBody>
      </p:sp>
      <p:sp>
        <p:nvSpPr>
          <p:cNvPr id="8" name="Kept"/>
          <p:cNvSpPr txBox="1"/>
          <p:nvPr/>
        </p:nvSpPr>
        <p:spPr>
          <a:xfrm>
            <a:off x="749808" y="4480560"/>
            <a:ext cx="3026664" cy="292608"/>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300" b="1" i="0" dirty="0">
                <a:solidFill>
                  <a:srgbClr val="69DECC"/>
                </a:solidFill>
                <a:latin typeface="Segoe UI Symbol"/>
                <a:cs typeface="Segoe UI Symbol"/>
              </a:rPr>
              <a:t>✓ </a:t>
            </a:r>
            <a:r>
              <a:rPr lang="en-SG" sz="1300" b="1" i="0" dirty="0">
                <a:solidFill>
                  <a:srgbClr val="69DECC"/>
                </a:solidFill>
                <a:latin typeface="Arial"/>
                <a:cs typeface="Arial"/>
              </a:rPr>
              <a:t>Test results kept</a:t>
            </a:r>
          </a:p>
        </p:txBody>
      </p:sp>
      <p:sp>
        <p:nvSpPr>
          <p:cNvPr id="9" name="Missing"/>
          <p:cNvSpPr/>
          <p:nvPr/>
        </p:nvSpPr>
        <p:spPr>
          <a:xfrm>
            <a:off x="749808" y="4864608"/>
            <a:ext cx="3026664" cy="868680"/>
          </a:xfrm>
          <a:prstGeom prst="roundRect">
            <a:avLst>
              <a:gd name="adj" fmla="val 8421"/>
            </a:avLst>
          </a:prstGeom>
          <a:noFill/>
          <a:ln w="19050">
            <a:solidFill>
              <a:srgbClr val="FFC36A"/>
            </a:solidFill>
            <a:prstDash val="dash"/>
          </a:ln>
        </p:spPr>
        <p:txBody>
          <a:bodyPr vert="horz" wrap="square" lIns="146304" tIns="54864" rIns="128016" bIns="54864" rtlCol="0" anchor="ctr">
            <a:noAutofit/>
          </a:bodyPr>
          <a:lstStyle/>
          <a:p>
            <a:pPr marL="0" indent="0" algn="l">
              <a:lnSpc>
                <a:spcPct val="105000"/>
              </a:lnSpc>
              <a:spcBef>
                <a:spcPts val="0"/>
              </a:spcBef>
              <a:spcAft>
                <a:spcPts val="0"/>
              </a:spcAft>
              <a:buNone/>
            </a:pPr>
            <a:r>
              <a:rPr lang="en-SG" sz="1300" b="1" i="0" dirty="0">
                <a:solidFill>
                  <a:srgbClr val="FFC36A"/>
                </a:solidFill>
                <a:latin typeface="Segoe UI Symbol"/>
                <a:cs typeface="Segoe UI Symbol"/>
              </a:rPr>
              <a:t>✗ </a:t>
            </a:r>
            <a:r>
              <a:rPr lang="en-SG" sz="1300" b="1" i="0" dirty="0">
                <a:solidFill>
                  <a:srgbClr val="FFC36A"/>
                </a:solidFill>
                <a:latin typeface="Arial"/>
                <a:cs typeface="Arial"/>
              </a:rPr>
              <a:t>Nothing on which responses count as a success</a:t>
            </a:r>
          </a:p>
        </p:txBody>
      </p:sp>
      <p:cxnSp>
        <p:nvCxnSpPr>
          <p:cNvPr id="10" name="Arrow"/>
          <p:cNvCxnSpPr/>
          <p:nvPr/>
        </p:nvCxnSpPr>
        <p:spPr>
          <a:xfrm>
            <a:off x="4041648" y="4160520"/>
            <a:ext cx="237744" cy="0"/>
          </a:xfrm>
          <a:prstGeom prst="straightConnector1">
            <a:avLst/>
          </a:prstGeom>
          <a:ln w="28575">
            <a:solidFill>
              <a:srgbClr val="7F8EA6"/>
            </a:solidFill>
            <a:tailEnd type="triangle" w="med" len="med"/>
          </a:ln>
        </p:spPr>
      </p:cxnSp>
      <p:sp>
        <p:nvSpPr>
          <p:cNvPr id="11" name="The receiving agent"/>
          <p:cNvSpPr/>
          <p:nvPr/>
        </p:nvSpPr>
        <p:spPr>
          <a:xfrm>
            <a:off x="4343400" y="2240280"/>
            <a:ext cx="3291840" cy="3840480"/>
          </a:xfrm>
          <a:prstGeom prst="roundRect">
            <a:avLst>
              <a:gd name="adj" fmla="val 2222"/>
            </a:avLst>
          </a:prstGeom>
          <a:solidFill>
            <a:srgbClr val="1B2940"/>
          </a:solidFill>
          <a:ln>
            <a:noFill/>
          </a:ln>
        </p:spPr>
        <p:txBody>
          <a:bodyPr vert="horz" wrap="square" lIns="201168" tIns="146304" rIns="182880" bIns="109728" rtlCol="0" anchor="t">
            <a:noAutofit/>
          </a:bodyPr>
          <a:lstStyle/>
          <a:p>
            <a:pPr marL="0" indent="0" algn="l">
              <a:lnSpc>
                <a:spcPct val="100000"/>
              </a:lnSpc>
              <a:spcBef>
                <a:spcPts val="0"/>
              </a:spcBef>
              <a:spcAft>
                <a:spcPts val="1000"/>
              </a:spcAft>
              <a:buNone/>
            </a:pPr>
            <a:r>
              <a:rPr lang="en-SG" sz="1200" b="1" i="0" spc="100" dirty="0">
                <a:solidFill>
                  <a:srgbClr val="69DECC"/>
                </a:solidFill>
                <a:latin typeface="Arial"/>
                <a:cs typeface="Arial"/>
              </a:rPr>
              <a:t>THE RECEIVING AGENT</a:t>
            </a:r>
          </a:p>
          <a:p>
            <a:pPr marL="0" indent="0" algn="l">
              <a:lnSpc>
                <a:spcPct val="100000"/>
              </a:lnSpc>
              <a:spcBef>
                <a:spcPts val="0"/>
              </a:spcBef>
              <a:spcAft>
                <a:spcPts val="200"/>
              </a:spcAft>
              <a:buNone/>
            </a:pPr>
            <a:r>
              <a:rPr lang="en-SG" sz="1300" b="1" i="0" dirty="0">
                <a:solidFill>
                  <a:srgbClr val="B9C4D5"/>
                </a:solidFill>
                <a:latin typeface="Arial"/>
                <a:cs typeface="Arial"/>
              </a:rPr>
              <a:t>Asked</a:t>
            </a:r>
          </a:p>
          <a:p>
            <a:pPr marL="0" indent="0" algn="l">
              <a:lnSpc>
                <a:spcPct val="108000"/>
              </a:lnSpc>
              <a:spcBef>
                <a:spcPts val="0"/>
              </a:spcBef>
              <a:spcAft>
                <a:spcPts val="1200"/>
              </a:spcAft>
              <a:buNone/>
            </a:pPr>
            <a:r>
              <a:rPr lang="en-SG" sz="1500" b="0" i="0" dirty="0">
                <a:solidFill>
                  <a:srgbClr val="F5F3EB"/>
                </a:solidFill>
                <a:latin typeface="Arial"/>
                <a:cs typeface="Arial"/>
              </a:rPr>
              <a:t>“Which provider responses count as a successful probe?”</a:t>
            </a:r>
          </a:p>
          <a:p>
            <a:pPr marL="0" indent="0" algn="l">
              <a:lnSpc>
                <a:spcPct val="100000"/>
              </a:lnSpc>
              <a:spcBef>
                <a:spcPts val="0"/>
              </a:spcBef>
              <a:spcAft>
                <a:spcPts val="200"/>
              </a:spcAft>
              <a:buNone/>
            </a:pPr>
            <a:r>
              <a:rPr lang="en-SG" sz="1300" b="1" i="0" dirty="0">
                <a:solidFill>
                  <a:srgbClr val="B9C4D5"/>
                </a:solidFill>
                <a:latin typeface="Arial"/>
                <a:cs typeface="Arial"/>
              </a:rPr>
              <a:t>Answered</a:t>
            </a:r>
          </a:p>
          <a:p>
            <a:pPr marL="0" indent="0" algn="l">
              <a:lnSpc>
                <a:spcPct val="108000"/>
              </a:lnSpc>
              <a:spcBef>
                <a:spcPts val="0"/>
              </a:spcBef>
              <a:spcAft>
                <a:spcPts val="0"/>
              </a:spcAft>
              <a:buNone/>
            </a:pPr>
            <a:r>
              <a:rPr lang="en-SG" sz="1500" b="0" i="1" dirty="0">
                <a:solidFill>
                  <a:srgbClr val="FFC36A"/>
                </a:solidFill>
                <a:latin typeface="Arial"/>
                <a:cs typeface="Arial"/>
              </a:rPr>
              <a:t>“not stated. The handoff mentions only response validation and shape validation, without saying which responses count as success.”</a:t>
            </a:r>
          </a:p>
        </p:txBody>
      </p:sp>
      <p:cxnSp>
        <p:nvCxnSpPr>
          <p:cNvPr id="12" name="Arrow"/>
          <p:cNvCxnSpPr/>
          <p:nvPr/>
        </p:nvCxnSpPr>
        <p:spPr>
          <a:xfrm>
            <a:off x="7699248" y="4160520"/>
            <a:ext cx="237744" cy="0"/>
          </a:xfrm>
          <a:prstGeom prst="straightConnector1">
            <a:avLst/>
          </a:prstGeom>
          <a:ln w="28575">
            <a:solidFill>
              <a:srgbClr val="7F8EA6"/>
            </a:solidFill>
            <a:tailEnd type="triangle" w="med" len="med"/>
          </a:ln>
        </p:spPr>
      </p:cxnSp>
      <p:sp>
        <p:nvSpPr>
          <p:cNvPr id="13" name="The answer key"/>
          <p:cNvSpPr/>
          <p:nvPr/>
        </p:nvSpPr>
        <p:spPr>
          <a:xfrm>
            <a:off x="8001000" y="2240280"/>
            <a:ext cx="3639312" cy="3840480"/>
          </a:xfrm>
          <a:prstGeom prst="roundRect">
            <a:avLst>
              <a:gd name="adj" fmla="val 2010"/>
            </a:avLst>
          </a:prstGeom>
          <a:solidFill>
            <a:srgbClr val="1B2940"/>
          </a:solidFill>
          <a:ln>
            <a:noFill/>
          </a:ln>
        </p:spPr>
        <p:txBody>
          <a:bodyPr vert="horz" wrap="square" lIns="201168" tIns="146304" rIns="182880" bIns="91440" rtlCol="0" anchor="t">
            <a:noAutofit/>
          </a:bodyPr>
          <a:lstStyle/>
          <a:p>
            <a:pPr marL="0" indent="0" algn="l">
              <a:lnSpc>
                <a:spcPct val="100000"/>
              </a:lnSpc>
              <a:spcBef>
                <a:spcPts val="0"/>
              </a:spcBef>
              <a:spcAft>
                <a:spcPts val="0"/>
              </a:spcAft>
              <a:buNone/>
            </a:pPr>
            <a:r>
              <a:rPr lang="en-SG" sz="1200" b="1" i="0" spc="100" dirty="0">
                <a:solidFill>
                  <a:srgbClr val="69DECC"/>
                </a:solidFill>
                <a:latin typeface="Arial"/>
                <a:cs typeface="Arial"/>
              </a:rPr>
              <a:t>THE ANSWER KEY</a:t>
            </a:r>
          </a:p>
          <a:p>
            <a:pPr marL="0" indent="0" algn="l">
              <a:lnSpc>
                <a:spcPct val="100000"/>
              </a:lnSpc>
              <a:spcBef>
                <a:spcPts val="0"/>
              </a:spcBef>
              <a:spcAft>
                <a:spcPts val="0"/>
              </a:spcAft>
              <a:buNone/>
            </a:pPr>
            <a:r>
              <a:rPr lang="en-SG" sz="1200" b="0" i="0" dirty="0">
                <a:solidFill>
                  <a:srgbClr val="B9C4D5"/>
                </a:solidFill>
                <a:latin typeface="Arial"/>
                <a:cs typeface="Arial"/>
              </a:rPr>
              <a:t>9 expected facts for this question</a:t>
            </a:r>
          </a:p>
        </p:txBody>
      </p:sp>
      <p:sp>
        <p:nvSpPr>
          <p:cNvPr id="14" name="Fact"/>
          <p:cNvSpPr txBox="1"/>
          <p:nvPr/>
        </p:nvSpPr>
        <p:spPr>
          <a:xfrm>
            <a:off x="8202168" y="2898648"/>
            <a:ext cx="3291840" cy="292608"/>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300" b="1" i="0" dirty="0">
                <a:solidFill>
                  <a:srgbClr val="FF9B8E"/>
                </a:solidFill>
                <a:latin typeface="Segoe UI Symbol"/>
                <a:cs typeface="Segoe UI Symbol"/>
              </a:rPr>
              <a:t>✗  </a:t>
            </a:r>
            <a:r>
              <a:rPr lang="en-SG" sz="1300" b="0" i="0" dirty="0">
                <a:solidFill>
                  <a:srgbClr val="B9C4D5"/>
                </a:solidFill>
                <a:latin typeface="Arial"/>
                <a:cs typeface="Arial"/>
              </a:rPr>
              <a:t>Status code is 200</a:t>
            </a:r>
          </a:p>
        </p:txBody>
      </p:sp>
      <p:sp>
        <p:nvSpPr>
          <p:cNvPr id="15" name="Fact"/>
          <p:cNvSpPr txBox="1"/>
          <p:nvPr/>
        </p:nvSpPr>
        <p:spPr>
          <a:xfrm>
            <a:off x="8202168" y="3200400"/>
            <a:ext cx="3291840" cy="292608"/>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300" b="1" i="0" dirty="0">
                <a:solidFill>
                  <a:srgbClr val="FF9B8E"/>
                </a:solidFill>
                <a:latin typeface="Segoe UI Symbol"/>
                <a:cs typeface="Segoe UI Symbol"/>
              </a:rPr>
              <a:t>✗  </a:t>
            </a:r>
            <a:r>
              <a:rPr lang="en-SG" sz="1300" b="0" i="0" dirty="0">
                <a:solidFill>
                  <a:srgbClr val="B9C4D5"/>
                </a:solidFill>
                <a:latin typeface="Arial"/>
                <a:cs typeface="Arial"/>
              </a:rPr>
              <a:t>Body is valid UTF-8</a:t>
            </a:r>
          </a:p>
        </p:txBody>
      </p:sp>
      <p:sp>
        <p:nvSpPr>
          <p:cNvPr id="16" name="Fact"/>
          <p:cNvSpPr txBox="1"/>
          <p:nvPr/>
        </p:nvSpPr>
        <p:spPr>
          <a:xfrm>
            <a:off x="8202168" y="3502152"/>
            <a:ext cx="3291840" cy="292608"/>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300" b="1" i="0" dirty="0">
                <a:solidFill>
                  <a:srgbClr val="FF9B8E"/>
                </a:solidFill>
                <a:latin typeface="Segoe UI Symbol"/>
                <a:cs typeface="Segoe UI Symbol"/>
              </a:rPr>
              <a:t>✗  </a:t>
            </a:r>
            <a:r>
              <a:rPr lang="en-SG" sz="1300" b="0" i="0" dirty="0">
                <a:solidFill>
                  <a:srgbClr val="B9C4D5"/>
                </a:solidFill>
                <a:latin typeface="Arial"/>
                <a:cs typeface="Arial"/>
              </a:rPr>
              <a:t>Body is valid JSON</a:t>
            </a:r>
          </a:p>
        </p:txBody>
      </p:sp>
      <p:sp>
        <p:nvSpPr>
          <p:cNvPr id="17" name="Fact"/>
          <p:cNvSpPr txBox="1"/>
          <p:nvPr/>
        </p:nvSpPr>
        <p:spPr>
          <a:xfrm>
            <a:off x="8202168" y="3803904"/>
            <a:ext cx="3291840" cy="292608"/>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300" b="1" i="0" dirty="0">
                <a:solidFill>
                  <a:srgbClr val="FF9B8E"/>
                </a:solidFill>
                <a:latin typeface="Segoe UI Symbol"/>
                <a:cs typeface="Segoe UI Symbol"/>
              </a:rPr>
              <a:t>✗  </a:t>
            </a:r>
            <a:r>
              <a:rPr lang="en-SG" sz="1300" b="0" i="0" dirty="0">
                <a:solidFill>
                  <a:srgbClr val="B9C4D5"/>
                </a:solidFill>
                <a:latin typeface="Arial"/>
                <a:cs typeface="Arial"/>
              </a:rPr>
              <a:t>Has a non-empty “choices” list</a:t>
            </a:r>
          </a:p>
        </p:txBody>
      </p:sp>
      <p:sp>
        <p:nvSpPr>
          <p:cNvPr id="18" name="Fact"/>
          <p:cNvSpPr txBox="1"/>
          <p:nvPr/>
        </p:nvSpPr>
        <p:spPr>
          <a:xfrm>
            <a:off x="8202168" y="4105656"/>
            <a:ext cx="3291840" cy="292608"/>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300" b="1" i="0" dirty="0">
                <a:solidFill>
                  <a:srgbClr val="FF9B8E"/>
                </a:solidFill>
                <a:latin typeface="Segoe UI Symbol"/>
                <a:cs typeface="Segoe UI Symbol"/>
              </a:rPr>
              <a:t>✗  </a:t>
            </a:r>
            <a:r>
              <a:rPr lang="en-SG" sz="1300" b="0" i="0" dirty="0">
                <a:solidFill>
                  <a:srgbClr val="B9C4D5"/>
                </a:solidFill>
                <a:latin typeface="Arial"/>
                <a:cs typeface="Arial"/>
              </a:rPr>
              <a:t>First choice has a text message</a:t>
            </a:r>
          </a:p>
        </p:txBody>
      </p:sp>
      <p:sp>
        <p:nvSpPr>
          <p:cNvPr id="19" name="Fact"/>
          <p:cNvSpPr txBox="1"/>
          <p:nvPr/>
        </p:nvSpPr>
        <p:spPr>
          <a:xfrm>
            <a:off x="8202168" y="4407408"/>
            <a:ext cx="3291840" cy="292608"/>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300" b="1" i="0" dirty="0">
                <a:solidFill>
                  <a:srgbClr val="FF9B8E"/>
                </a:solidFill>
                <a:latin typeface="Segoe UI Symbol"/>
                <a:cs typeface="Segoe UI Symbol"/>
              </a:rPr>
              <a:t>✗  </a:t>
            </a:r>
            <a:r>
              <a:rPr lang="en-SG" sz="1300" b="0" i="0" dirty="0">
                <a:solidFill>
                  <a:srgbClr val="B9C4D5"/>
                </a:solidFill>
                <a:latin typeface="Arial"/>
                <a:cs typeface="Arial"/>
              </a:rPr>
              <a:t>Message is not blank</a:t>
            </a:r>
          </a:p>
        </p:txBody>
      </p:sp>
      <p:sp>
        <p:nvSpPr>
          <p:cNvPr id="20" name="Fact"/>
          <p:cNvSpPr txBox="1"/>
          <p:nvPr/>
        </p:nvSpPr>
        <p:spPr>
          <a:xfrm>
            <a:off x="8202168" y="4709160"/>
            <a:ext cx="3291840" cy="292608"/>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300" b="1" i="0" dirty="0">
                <a:solidFill>
                  <a:srgbClr val="FF9B8E"/>
                </a:solidFill>
                <a:latin typeface="Segoe UI Symbol"/>
                <a:cs typeface="Segoe UI Symbol"/>
              </a:rPr>
              <a:t>✗  </a:t>
            </a:r>
            <a:r>
              <a:rPr lang="en-SG" sz="1300" b="0" i="0" dirty="0">
                <a:solidFill>
                  <a:srgbClr val="B9C4D5"/>
                </a:solidFill>
                <a:latin typeface="Arial"/>
                <a:cs typeface="Arial"/>
              </a:rPr>
              <a:t>Message need not say “OK”</a:t>
            </a:r>
          </a:p>
        </p:txBody>
      </p:sp>
      <p:sp>
        <p:nvSpPr>
          <p:cNvPr id="21" name="Fact"/>
          <p:cNvSpPr txBox="1"/>
          <p:nvPr/>
        </p:nvSpPr>
        <p:spPr>
          <a:xfrm>
            <a:off x="8202168" y="5010912"/>
            <a:ext cx="3291840" cy="292608"/>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300" b="1" i="0" dirty="0">
                <a:solidFill>
                  <a:srgbClr val="FF9B8E"/>
                </a:solidFill>
                <a:latin typeface="Segoe UI Symbol"/>
                <a:cs typeface="Segoe UI Symbol"/>
              </a:rPr>
              <a:t>✗  </a:t>
            </a:r>
            <a:r>
              <a:rPr lang="en-SG" sz="1300" b="0" i="0" dirty="0">
                <a:solidFill>
                  <a:srgbClr val="B9C4D5"/>
                </a:solidFill>
                <a:latin typeface="Arial"/>
                <a:cs typeface="Arial"/>
              </a:rPr>
              <a:t>Content-Type header is ignored</a:t>
            </a:r>
          </a:p>
        </p:txBody>
      </p:sp>
      <p:sp>
        <p:nvSpPr>
          <p:cNvPr id="22" name="Fact"/>
          <p:cNvSpPr txBox="1"/>
          <p:nvPr/>
        </p:nvSpPr>
        <p:spPr>
          <a:xfrm>
            <a:off x="8202168" y="5312664"/>
            <a:ext cx="3291840" cy="292608"/>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300" b="1" i="0" dirty="0">
                <a:solidFill>
                  <a:srgbClr val="69DECC"/>
                </a:solidFill>
                <a:latin typeface="Segoe UI Symbol"/>
                <a:cs typeface="Segoe UI Symbol"/>
              </a:rPr>
              <a:t>✓  </a:t>
            </a:r>
            <a:r>
              <a:rPr lang="en-SG" sz="1300" b="1" i="0" dirty="0">
                <a:solidFill>
                  <a:srgbClr val="F5F3EB"/>
                </a:solidFill>
                <a:latin typeface="Arial"/>
                <a:cs typeface="Arial"/>
              </a:rPr>
              <a:t>Body is at most 65,536 bytes</a:t>
            </a:r>
          </a:p>
        </p:txBody>
      </p:sp>
      <p:sp>
        <p:nvSpPr>
          <p:cNvPr id="23" name="Fact total"/>
          <p:cNvSpPr txBox="1"/>
          <p:nvPr/>
        </p:nvSpPr>
        <p:spPr>
          <a:xfrm>
            <a:off x="8202168" y="5669280"/>
            <a:ext cx="3291840" cy="32004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600" b="1" i="0" dirty="0">
                <a:solidFill>
                  <a:srgbClr val="FFC36A"/>
                </a:solidFill>
                <a:latin typeface="Arial"/>
                <a:cs typeface="Arial"/>
              </a:rPr>
              <a:t>1 of 9 recovered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01B2D"/>
        </a:solidFill>
        <a:effectLst/>
      </p:bgPr>
    </p:bg>
    <p:spTree>
      <p:nvGrpSpPr>
        <p:cNvPr id="1" name=""/>
        <p:cNvGrpSpPr/>
        <p:nvPr/>
      </p:nvGrpSpPr>
      <p:grpSpPr>
        <a:xfrm>
          <a:off x="0" y="0"/>
          <a:ext cx="0" cy="0"/>
          <a:chOff x="0" y="0"/>
          <a:chExt cx="0" cy="0"/>
        </a:xfrm>
      </p:grpSpPr>
      <p:sp>
        <p:nvSpPr>
          <p:cNvPr id="2" name="Section label"/>
          <p:cNvSpPr txBox="1"/>
          <p:nvPr/>
        </p:nvSpPr>
        <p:spPr>
          <a:xfrm>
            <a:off x="548640" y="329184"/>
            <a:ext cx="9144000" cy="27432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200" b="1" i="0" spc="100" dirty="0">
                <a:solidFill>
                  <a:srgbClr val="69DECC"/>
                </a:solidFill>
                <a:latin typeface="Arial"/>
                <a:cs typeface="Arial"/>
              </a:rPr>
              <a:t>LIMITATIONS</a:t>
            </a:r>
          </a:p>
        </p:txBody>
      </p:sp>
      <p:sp>
        <p:nvSpPr>
          <p:cNvPr id="3" name="Title"/>
          <p:cNvSpPr>
            <a:spLocks noGrp="1"/>
          </p:cNvSpPr>
          <p:nvPr>
            <p:ph type="title"/>
          </p:nvPr>
        </p:nvSpPr>
        <p:spPr>
          <a:xfrm>
            <a:off x="548640" y="658368"/>
            <a:ext cx="11091672" cy="658368"/>
          </a:xfrm>
        </p:spPr>
        <p:txBody>
          <a:bodyPr vert="horz" wrap="square" lIns="0" tIns="0" rIns="0" bIns="0" rtlCol="0" anchor="t">
            <a:noAutofit/>
          </a:bodyPr>
          <a:lstStyle/>
          <a:p>
            <a:pPr marL="0" indent="0" algn="l">
              <a:lnSpc>
                <a:spcPct val="95000"/>
              </a:lnSpc>
              <a:spcBef>
                <a:spcPts val="0"/>
              </a:spcBef>
              <a:spcAft>
                <a:spcPts val="0"/>
              </a:spcAft>
              <a:buNone/>
            </a:pPr>
            <a:r>
              <a:rPr lang="en-SG" sz="3000" b="1" i="0" dirty="0">
                <a:solidFill>
                  <a:srgbClr val="F5F3EB"/>
                </a:solidFill>
                <a:latin typeface="Arial"/>
                <a:cs typeface="Arial"/>
              </a:rPr>
              <a:t>What this experiment can’t tell us</a:t>
            </a:r>
          </a:p>
        </p:txBody>
      </p:sp>
      <p:sp>
        <p:nvSpPr>
          <p:cNvPr id="4" name="Lead"/>
          <p:cNvSpPr txBox="1"/>
          <p:nvPr/>
        </p:nvSpPr>
        <p:spPr>
          <a:xfrm>
            <a:off x="548640" y="1353312"/>
            <a:ext cx="11091672" cy="731520"/>
          </a:xfrm>
          <a:prstGeom prst="rect">
            <a:avLst/>
          </a:prstGeom>
          <a:noFill/>
          <a:ln>
            <a:noFill/>
          </a:ln>
        </p:spPr>
        <p:txBody>
          <a:bodyPr vert="horz" wrap="square" lIns="0" tIns="0" rIns="0" bIns="0" rtlCol="0" anchor="t">
            <a:noAutofit/>
          </a:bodyPr>
          <a:lstStyle/>
          <a:p>
            <a:pPr marL="0" indent="0" algn="l">
              <a:lnSpc>
                <a:spcPct val="110000"/>
              </a:lnSpc>
              <a:spcBef>
                <a:spcPts val="0"/>
              </a:spcBef>
              <a:spcAft>
                <a:spcPts val="0"/>
              </a:spcAft>
              <a:buNone/>
            </a:pPr>
            <a:r>
              <a:rPr lang="en-SG" sz="1800" b="0" i="0" dirty="0">
                <a:solidFill>
                  <a:srgbClr val="D6DDE8"/>
                </a:solidFill>
                <a:latin typeface="Arial"/>
                <a:cs typeface="Arial"/>
              </a:rPr>
              <a:t>These results describe this one setup. They don’t show that either format is better in general.</a:t>
            </a:r>
          </a:p>
        </p:txBody>
      </p:sp>
      <p:sp>
        <p:nvSpPr>
          <p:cNvPr id="5" name="Slide number"/>
          <p:cNvSpPr txBox="1"/>
          <p:nvPr/>
        </p:nvSpPr>
        <p:spPr>
          <a:xfrm>
            <a:off x="10424160" y="6382512"/>
            <a:ext cx="1216152" cy="256032"/>
          </a:xfrm>
          <a:prstGeom prst="rect">
            <a:avLst/>
          </a:prstGeom>
          <a:noFill/>
          <a:ln>
            <a:noFill/>
          </a:ln>
        </p:spPr>
        <p:txBody>
          <a:bodyPr vert="horz" wrap="square" lIns="0" tIns="0" rIns="0" bIns="0" rtlCol="0" anchor="ctr">
            <a:noAutofit/>
          </a:bodyPr>
          <a:lstStyle/>
          <a:p>
            <a:pPr marL="0" indent="0" algn="r">
              <a:lnSpc>
                <a:spcPct val="100000"/>
              </a:lnSpc>
              <a:spcBef>
                <a:spcPts val="0"/>
              </a:spcBef>
              <a:spcAft>
                <a:spcPts val="0"/>
              </a:spcAft>
              <a:buNone/>
            </a:pPr>
            <a:r>
              <a:rPr lang="en-SG" sz="1050" b="0" i="0" dirty="0">
                <a:solidFill>
                  <a:srgbClr val="B9C4D5"/>
                </a:solidFill>
                <a:latin typeface="Arial"/>
                <a:cs typeface="Arial"/>
              </a:rPr>
              <a:t>11 / 12</a:t>
            </a:r>
          </a:p>
        </p:txBody>
      </p:sp>
      <p:sp>
        <p:nvSpPr>
          <p:cNvPr id="6" name="Limit 1" descr="1 coding task. And a quiz, not real follow-up work."/>
          <p:cNvSpPr/>
          <p:nvPr/>
        </p:nvSpPr>
        <p:spPr>
          <a:xfrm>
            <a:off x="548640" y="2286000"/>
            <a:ext cx="3547872" cy="1783080"/>
          </a:xfrm>
          <a:prstGeom prst="roundRect">
            <a:avLst>
              <a:gd name="adj" fmla="val 4102"/>
            </a:avLst>
          </a:prstGeom>
          <a:solidFill>
            <a:srgbClr val="1B2940"/>
          </a:solidFill>
          <a:ln>
            <a:noFill/>
          </a:ln>
        </p:spPr>
      </p:sp>
      <p:sp>
        <p:nvSpPr>
          <p:cNvPr id="7" name="Icon"/>
          <p:cNvSpPr/>
          <p:nvPr/>
        </p:nvSpPr>
        <p:spPr>
          <a:xfrm>
            <a:off x="740664" y="2478024"/>
            <a:ext cx="566928" cy="566928"/>
          </a:xfrm>
          <a:prstGeom prst="ellipse">
            <a:avLst/>
          </a:prstGeom>
          <a:solidFill>
            <a:srgbClr val="24334B"/>
          </a:solidFill>
          <a:ln w="19050">
            <a:solidFill>
              <a:srgbClr val="FFC36A"/>
            </a:solidFill>
          </a:ln>
        </p:spPr>
        <p:txBody>
          <a:bodyPr vert="horz" wrap="square" lIns="0" tIns="0" rIns="0" bIns="0" rtlCol="0" anchor="ctr">
            <a:noAutofit/>
          </a:bodyPr>
          <a:lstStyle/>
          <a:p>
            <a:pPr marL="0" indent="0" algn="ctr">
              <a:lnSpc>
                <a:spcPct val="100000"/>
              </a:lnSpc>
              <a:spcBef>
                <a:spcPts val="0"/>
              </a:spcBef>
              <a:spcAft>
                <a:spcPts val="0"/>
              </a:spcAft>
              <a:buNone/>
            </a:pPr>
            <a:r>
              <a:rPr lang="en-SG" sz="1400" b="1" i="0" dirty="0">
                <a:solidFill>
                  <a:srgbClr val="FFC36A"/>
                </a:solidFill>
                <a:latin typeface="Arial"/>
                <a:cs typeface="Arial"/>
              </a:rPr>
              <a:t>&lt;/&gt;</a:t>
            </a:r>
          </a:p>
        </p:txBody>
      </p:sp>
      <p:sp>
        <p:nvSpPr>
          <p:cNvPr id="8" name="Limit title"/>
          <p:cNvSpPr txBox="1"/>
          <p:nvPr/>
        </p:nvSpPr>
        <p:spPr>
          <a:xfrm>
            <a:off x="1444752" y="2487168"/>
            <a:ext cx="2514600" cy="566928"/>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500" b="1" i="0" dirty="0">
                <a:solidFill>
                  <a:srgbClr val="F5F3EB"/>
                </a:solidFill>
                <a:latin typeface="Arial"/>
                <a:cs typeface="Arial"/>
              </a:rPr>
              <a:t>1 coding task</a:t>
            </a:r>
          </a:p>
        </p:txBody>
      </p:sp>
      <p:sp>
        <p:nvSpPr>
          <p:cNvPr id="9" name="Limit detail"/>
          <p:cNvSpPr txBox="1"/>
          <p:nvPr/>
        </p:nvSpPr>
        <p:spPr>
          <a:xfrm>
            <a:off x="777240" y="3200400"/>
            <a:ext cx="3136392" cy="777240"/>
          </a:xfrm>
          <a:prstGeom prst="rect">
            <a:avLst/>
          </a:prstGeom>
          <a:noFill/>
          <a:ln>
            <a:noFill/>
          </a:ln>
        </p:spPr>
        <p:txBody>
          <a:bodyPr vert="horz" wrap="square" lIns="0" tIns="0" rIns="0" bIns="0" rtlCol="0" anchor="t">
            <a:noAutofit/>
          </a:bodyPr>
          <a:lstStyle/>
          <a:p>
            <a:pPr marL="0" indent="0" algn="l">
              <a:lnSpc>
                <a:spcPct val="108000"/>
              </a:lnSpc>
              <a:spcBef>
                <a:spcPts val="0"/>
              </a:spcBef>
              <a:spcAft>
                <a:spcPts val="0"/>
              </a:spcAft>
              <a:buNone/>
            </a:pPr>
            <a:r>
              <a:rPr lang="en-SG" sz="1500" b="0" i="0" dirty="0">
                <a:solidFill>
                  <a:srgbClr val="B9C4D5"/>
                </a:solidFill>
                <a:latin typeface="Arial"/>
                <a:cs typeface="Arial"/>
              </a:rPr>
              <a:t>And a quiz, not real follow-up work.</a:t>
            </a:r>
          </a:p>
        </p:txBody>
      </p:sp>
      <p:sp>
        <p:nvSpPr>
          <p:cNvPr id="10" name="Limit 2" descr="No replicates. Each model wrote each handoff once, so randomness could explain small gaps."/>
          <p:cNvSpPr/>
          <p:nvPr/>
        </p:nvSpPr>
        <p:spPr>
          <a:xfrm>
            <a:off x="4320540" y="2286000"/>
            <a:ext cx="3547872" cy="1783080"/>
          </a:xfrm>
          <a:prstGeom prst="roundRect">
            <a:avLst>
              <a:gd name="adj" fmla="val 4102"/>
            </a:avLst>
          </a:prstGeom>
          <a:solidFill>
            <a:srgbClr val="1B2940"/>
          </a:solidFill>
          <a:ln>
            <a:noFill/>
          </a:ln>
        </p:spPr>
      </p:sp>
      <p:sp>
        <p:nvSpPr>
          <p:cNvPr id="11" name="Icon"/>
          <p:cNvSpPr/>
          <p:nvPr/>
        </p:nvSpPr>
        <p:spPr>
          <a:xfrm>
            <a:off x="4512564" y="2478024"/>
            <a:ext cx="566928" cy="566928"/>
          </a:xfrm>
          <a:prstGeom prst="ellipse">
            <a:avLst/>
          </a:prstGeom>
          <a:solidFill>
            <a:srgbClr val="24334B"/>
          </a:solidFill>
          <a:ln w="19050">
            <a:solidFill>
              <a:srgbClr val="FFC36A"/>
            </a:solidFill>
          </a:ln>
        </p:spPr>
        <p:txBody>
          <a:bodyPr vert="horz" wrap="square" lIns="0" tIns="0" rIns="0" bIns="0" rtlCol="0" anchor="ctr">
            <a:noAutofit/>
          </a:bodyPr>
          <a:lstStyle/>
          <a:p>
            <a:pPr marL="0" indent="0" algn="ctr">
              <a:lnSpc>
                <a:spcPct val="100000"/>
              </a:lnSpc>
              <a:spcBef>
                <a:spcPts val="0"/>
              </a:spcBef>
              <a:spcAft>
                <a:spcPts val="0"/>
              </a:spcAft>
              <a:buNone/>
            </a:pPr>
            <a:r>
              <a:rPr lang="en-SG" sz="1400" b="1" i="0" dirty="0">
                <a:solidFill>
                  <a:srgbClr val="FFC36A"/>
                </a:solidFill>
                <a:latin typeface="Arial"/>
                <a:cs typeface="Arial"/>
              </a:rPr>
              <a:t>1×</a:t>
            </a:r>
          </a:p>
        </p:txBody>
      </p:sp>
      <p:sp>
        <p:nvSpPr>
          <p:cNvPr id="12" name="Limit title"/>
          <p:cNvSpPr txBox="1"/>
          <p:nvPr/>
        </p:nvSpPr>
        <p:spPr>
          <a:xfrm>
            <a:off x="5216652" y="2487168"/>
            <a:ext cx="2514600" cy="566928"/>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500" b="1" i="0" dirty="0">
                <a:solidFill>
                  <a:srgbClr val="F5F3EB"/>
                </a:solidFill>
                <a:latin typeface="Arial"/>
                <a:cs typeface="Arial"/>
              </a:rPr>
              <a:t>No replicates</a:t>
            </a:r>
          </a:p>
        </p:txBody>
      </p:sp>
      <p:sp>
        <p:nvSpPr>
          <p:cNvPr id="13" name="Limit detail"/>
          <p:cNvSpPr txBox="1"/>
          <p:nvPr/>
        </p:nvSpPr>
        <p:spPr>
          <a:xfrm>
            <a:off x="4549140" y="3200400"/>
            <a:ext cx="3136392" cy="777240"/>
          </a:xfrm>
          <a:prstGeom prst="rect">
            <a:avLst/>
          </a:prstGeom>
          <a:noFill/>
          <a:ln>
            <a:noFill/>
          </a:ln>
        </p:spPr>
        <p:txBody>
          <a:bodyPr vert="horz" wrap="square" lIns="0" tIns="0" rIns="0" bIns="0" rtlCol="0" anchor="t">
            <a:noAutofit/>
          </a:bodyPr>
          <a:lstStyle/>
          <a:p>
            <a:pPr marL="0" indent="0" algn="l">
              <a:lnSpc>
                <a:spcPct val="108000"/>
              </a:lnSpc>
              <a:spcBef>
                <a:spcPts val="0"/>
              </a:spcBef>
              <a:spcAft>
                <a:spcPts val="0"/>
              </a:spcAft>
              <a:buNone/>
            </a:pPr>
            <a:r>
              <a:rPr lang="en-SG" sz="1500" b="0" i="0" dirty="0">
                <a:solidFill>
                  <a:srgbClr val="B9C4D5"/>
                </a:solidFill>
                <a:latin typeface="Arial"/>
                <a:cs typeface="Arial"/>
              </a:rPr>
              <a:t>Each model wrote each handoff once, so randomness could explain small gaps.</a:t>
            </a:r>
          </a:p>
        </p:txBody>
      </p:sp>
      <p:sp>
        <p:nvSpPr>
          <p:cNvPr id="14" name="Limit 3" descr="The formats ended up alike. Most free-form summaries still used labels like “Inputs:”, just within a paragraph."/>
          <p:cNvSpPr/>
          <p:nvPr/>
        </p:nvSpPr>
        <p:spPr>
          <a:xfrm>
            <a:off x="8092440" y="2286000"/>
            <a:ext cx="3547872" cy="1783080"/>
          </a:xfrm>
          <a:prstGeom prst="roundRect">
            <a:avLst>
              <a:gd name="adj" fmla="val 4102"/>
            </a:avLst>
          </a:prstGeom>
          <a:solidFill>
            <a:srgbClr val="1B2940"/>
          </a:solidFill>
          <a:ln>
            <a:noFill/>
          </a:ln>
        </p:spPr>
      </p:sp>
      <p:sp>
        <p:nvSpPr>
          <p:cNvPr id="15" name="Icon"/>
          <p:cNvSpPr/>
          <p:nvPr/>
        </p:nvSpPr>
        <p:spPr>
          <a:xfrm>
            <a:off x="8284464" y="2478024"/>
            <a:ext cx="566928" cy="566928"/>
          </a:xfrm>
          <a:prstGeom prst="ellipse">
            <a:avLst/>
          </a:prstGeom>
          <a:solidFill>
            <a:srgbClr val="24334B"/>
          </a:solidFill>
          <a:ln w="19050">
            <a:solidFill>
              <a:srgbClr val="FFC36A"/>
            </a:solidFill>
          </a:ln>
        </p:spPr>
        <p:txBody>
          <a:bodyPr vert="horz" wrap="square" lIns="0" tIns="0" rIns="0" bIns="0" rtlCol="0" anchor="ctr">
            <a:noAutofit/>
          </a:bodyPr>
          <a:lstStyle/>
          <a:p>
            <a:pPr marL="0" indent="0" algn="ctr">
              <a:lnSpc>
                <a:spcPct val="100000"/>
              </a:lnSpc>
              <a:spcBef>
                <a:spcPts val="0"/>
              </a:spcBef>
              <a:spcAft>
                <a:spcPts val="0"/>
              </a:spcAft>
              <a:buNone/>
            </a:pPr>
            <a:r>
              <a:rPr lang="en-SG" sz="2000" b="1" i="0" dirty="0">
                <a:solidFill>
                  <a:srgbClr val="FFC36A"/>
                </a:solidFill>
                <a:latin typeface="Arial"/>
                <a:cs typeface="Arial"/>
              </a:rPr>
              <a:t>≈</a:t>
            </a:r>
          </a:p>
        </p:txBody>
      </p:sp>
      <p:sp>
        <p:nvSpPr>
          <p:cNvPr id="16" name="Limit title"/>
          <p:cNvSpPr txBox="1"/>
          <p:nvPr/>
        </p:nvSpPr>
        <p:spPr>
          <a:xfrm>
            <a:off x="8988552" y="2487168"/>
            <a:ext cx="2514600" cy="566928"/>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500" b="1" i="0" dirty="0">
                <a:solidFill>
                  <a:srgbClr val="F5F3EB"/>
                </a:solidFill>
                <a:latin typeface="Arial"/>
                <a:cs typeface="Arial"/>
              </a:rPr>
              <a:t>The formats ended up alike</a:t>
            </a:r>
          </a:p>
        </p:txBody>
      </p:sp>
      <p:sp>
        <p:nvSpPr>
          <p:cNvPr id="17" name="Limit detail"/>
          <p:cNvSpPr txBox="1"/>
          <p:nvPr/>
        </p:nvSpPr>
        <p:spPr>
          <a:xfrm>
            <a:off x="8321040" y="3200400"/>
            <a:ext cx="3136392" cy="777240"/>
          </a:xfrm>
          <a:prstGeom prst="rect">
            <a:avLst/>
          </a:prstGeom>
          <a:noFill/>
          <a:ln>
            <a:noFill/>
          </a:ln>
        </p:spPr>
        <p:txBody>
          <a:bodyPr vert="horz" wrap="square" lIns="0" tIns="0" rIns="0" bIns="0" rtlCol="0" anchor="t">
            <a:noAutofit/>
          </a:bodyPr>
          <a:lstStyle/>
          <a:p>
            <a:pPr marL="0" indent="0" algn="l">
              <a:lnSpc>
                <a:spcPct val="108000"/>
              </a:lnSpc>
              <a:spcBef>
                <a:spcPts val="0"/>
              </a:spcBef>
              <a:spcAft>
                <a:spcPts val="0"/>
              </a:spcAft>
              <a:buNone/>
            </a:pPr>
            <a:r>
              <a:rPr lang="en-SG" sz="1500" b="0" i="0" dirty="0">
                <a:solidFill>
                  <a:srgbClr val="B9C4D5"/>
                </a:solidFill>
                <a:latin typeface="Arial"/>
                <a:cs typeface="Arial"/>
              </a:rPr>
              <a:t>Most free-form summaries still used labels like “Inputs:”, just within a paragraph.</a:t>
            </a:r>
          </a:p>
        </p:txBody>
      </p:sp>
      <p:sp>
        <p:nvSpPr>
          <p:cNvPr id="18" name="Limit 4" descr="Some went over 200 words. 12 of 40 handoffs, including 9 of the 10 Claude checklists."/>
          <p:cNvSpPr/>
          <p:nvPr/>
        </p:nvSpPr>
        <p:spPr>
          <a:xfrm>
            <a:off x="548640" y="4251960"/>
            <a:ext cx="3547872" cy="1783080"/>
          </a:xfrm>
          <a:prstGeom prst="roundRect">
            <a:avLst>
              <a:gd name="adj" fmla="val 4102"/>
            </a:avLst>
          </a:prstGeom>
          <a:solidFill>
            <a:srgbClr val="1B2940"/>
          </a:solidFill>
          <a:ln>
            <a:noFill/>
          </a:ln>
        </p:spPr>
      </p:sp>
      <p:sp>
        <p:nvSpPr>
          <p:cNvPr id="19" name="Icon"/>
          <p:cNvSpPr/>
          <p:nvPr/>
        </p:nvSpPr>
        <p:spPr>
          <a:xfrm>
            <a:off x="740664" y="4443984"/>
            <a:ext cx="566928" cy="566928"/>
          </a:xfrm>
          <a:prstGeom prst="ellipse">
            <a:avLst/>
          </a:prstGeom>
          <a:solidFill>
            <a:srgbClr val="24334B"/>
          </a:solidFill>
          <a:ln w="19050">
            <a:solidFill>
              <a:srgbClr val="FFC36A"/>
            </a:solidFill>
          </a:ln>
        </p:spPr>
        <p:txBody>
          <a:bodyPr vert="horz" wrap="square" lIns="0" tIns="0" rIns="0" bIns="0" rtlCol="0" anchor="ctr">
            <a:noAutofit/>
          </a:bodyPr>
          <a:lstStyle/>
          <a:p>
            <a:pPr marL="0" indent="0" algn="ctr">
              <a:lnSpc>
                <a:spcPct val="100000"/>
              </a:lnSpc>
              <a:spcBef>
                <a:spcPts val="0"/>
              </a:spcBef>
              <a:spcAft>
                <a:spcPts val="0"/>
              </a:spcAft>
              <a:buNone/>
            </a:pPr>
            <a:r>
              <a:rPr lang="en-SG" sz="1200" b="1" i="0" dirty="0">
                <a:solidFill>
                  <a:srgbClr val="FFC36A"/>
                </a:solidFill>
                <a:latin typeface="Arial"/>
                <a:cs typeface="Arial"/>
              </a:rPr>
              <a:t>200+</a:t>
            </a:r>
          </a:p>
        </p:txBody>
      </p:sp>
      <p:sp>
        <p:nvSpPr>
          <p:cNvPr id="20" name="Limit title"/>
          <p:cNvSpPr txBox="1"/>
          <p:nvPr/>
        </p:nvSpPr>
        <p:spPr>
          <a:xfrm>
            <a:off x="1444752" y="4453128"/>
            <a:ext cx="2514600" cy="566928"/>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500" b="1" i="0" dirty="0">
                <a:solidFill>
                  <a:srgbClr val="F5F3EB"/>
                </a:solidFill>
                <a:latin typeface="Arial"/>
                <a:cs typeface="Arial"/>
              </a:rPr>
              <a:t>Some went over 200 words</a:t>
            </a:r>
          </a:p>
        </p:txBody>
      </p:sp>
      <p:sp>
        <p:nvSpPr>
          <p:cNvPr id="21" name="Limit detail"/>
          <p:cNvSpPr txBox="1"/>
          <p:nvPr/>
        </p:nvSpPr>
        <p:spPr>
          <a:xfrm>
            <a:off x="777240" y="5166360"/>
            <a:ext cx="3136392" cy="777240"/>
          </a:xfrm>
          <a:prstGeom prst="rect">
            <a:avLst/>
          </a:prstGeom>
          <a:noFill/>
          <a:ln>
            <a:noFill/>
          </a:ln>
        </p:spPr>
        <p:txBody>
          <a:bodyPr vert="horz" wrap="square" lIns="0" tIns="0" rIns="0" bIns="0" rtlCol="0" anchor="t">
            <a:noAutofit/>
          </a:bodyPr>
          <a:lstStyle/>
          <a:p>
            <a:pPr marL="0" indent="0" algn="l">
              <a:lnSpc>
                <a:spcPct val="108000"/>
              </a:lnSpc>
              <a:spcBef>
                <a:spcPts val="0"/>
              </a:spcBef>
              <a:spcAft>
                <a:spcPts val="0"/>
              </a:spcAft>
              <a:buNone/>
            </a:pPr>
            <a:r>
              <a:rPr lang="en-SG" sz="1500" b="0" i="0" dirty="0">
                <a:solidFill>
                  <a:srgbClr val="B9C4D5"/>
                </a:solidFill>
                <a:latin typeface="Arial"/>
                <a:cs typeface="Arial"/>
              </a:rPr>
              <a:t>12 of 40 handoffs, including 9 of the 10 Claude checklists.</a:t>
            </a:r>
          </a:p>
        </p:txBody>
      </p:sp>
      <p:sp>
        <p:nvSpPr>
          <p:cNvPr id="22" name="Limit 5" descr="1 reader model. Claude Opus 5.5 read every handoff, which may suit Claude-written ones."/>
          <p:cNvSpPr/>
          <p:nvPr/>
        </p:nvSpPr>
        <p:spPr>
          <a:xfrm>
            <a:off x="4320540" y="4251960"/>
            <a:ext cx="3547872" cy="1783080"/>
          </a:xfrm>
          <a:prstGeom prst="roundRect">
            <a:avLst>
              <a:gd name="adj" fmla="val 4102"/>
            </a:avLst>
          </a:prstGeom>
          <a:solidFill>
            <a:srgbClr val="1B2940"/>
          </a:solidFill>
          <a:ln>
            <a:noFill/>
          </a:ln>
        </p:spPr>
      </p:sp>
      <p:sp>
        <p:nvSpPr>
          <p:cNvPr id="23" name="Icon"/>
          <p:cNvSpPr/>
          <p:nvPr/>
        </p:nvSpPr>
        <p:spPr>
          <a:xfrm>
            <a:off x="4512564" y="4443984"/>
            <a:ext cx="566928" cy="566928"/>
          </a:xfrm>
          <a:prstGeom prst="ellipse">
            <a:avLst/>
          </a:prstGeom>
          <a:solidFill>
            <a:srgbClr val="24334B"/>
          </a:solidFill>
          <a:ln w="19050">
            <a:solidFill>
              <a:srgbClr val="FFC36A"/>
            </a:solidFill>
          </a:ln>
        </p:spPr>
        <p:txBody>
          <a:bodyPr vert="horz" wrap="square" lIns="0" tIns="0" rIns="0" bIns="0" rtlCol="0" anchor="ctr">
            <a:noAutofit/>
          </a:bodyPr>
          <a:lstStyle/>
          <a:p>
            <a:pPr marL="0" indent="0" algn="ctr">
              <a:lnSpc>
                <a:spcPct val="100000"/>
              </a:lnSpc>
              <a:spcBef>
                <a:spcPts val="0"/>
              </a:spcBef>
              <a:spcAft>
                <a:spcPts val="0"/>
              </a:spcAft>
              <a:buNone/>
            </a:pPr>
            <a:r>
              <a:rPr lang="en-SG" sz="1400" b="1" i="0" dirty="0">
                <a:solidFill>
                  <a:srgbClr val="FFC36A"/>
                </a:solidFill>
                <a:latin typeface="Arial"/>
                <a:cs typeface="Arial"/>
              </a:rPr>
              <a:t>1</a:t>
            </a:r>
          </a:p>
        </p:txBody>
      </p:sp>
      <p:sp>
        <p:nvSpPr>
          <p:cNvPr id="24" name="Limit title"/>
          <p:cNvSpPr txBox="1"/>
          <p:nvPr/>
        </p:nvSpPr>
        <p:spPr>
          <a:xfrm>
            <a:off x="5216652" y="4453128"/>
            <a:ext cx="2514600" cy="566928"/>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500" b="1" i="0" dirty="0">
                <a:solidFill>
                  <a:srgbClr val="F5F3EB"/>
                </a:solidFill>
                <a:latin typeface="Arial"/>
                <a:cs typeface="Arial"/>
              </a:rPr>
              <a:t>1 reader model</a:t>
            </a:r>
          </a:p>
        </p:txBody>
      </p:sp>
      <p:sp>
        <p:nvSpPr>
          <p:cNvPr id="25" name="Limit detail"/>
          <p:cNvSpPr txBox="1"/>
          <p:nvPr/>
        </p:nvSpPr>
        <p:spPr>
          <a:xfrm>
            <a:off x="4549140" y="5166360"/>
            <a:ext cx="3136392" cy="777240"/>
          </a:xfrm>
          <a:prstGeom prst="rect">
            <a:avLst/>
          </a:prstGeom>
          <a:noFill/>
          <a:ln>
            <a:noFill/>
          </a:ln>
        </p:spPr>
        <p:txBody>
          <a:bodyPr vert="horz" wrap="square" lIns="0" tIns="0" rIns="0" bIns="0" rtlCol="0" anchor="t">
            <a:noAutofit/>
          </a:bodyPr>
          <a:lstStyle/>
          <a:p>
            <a:pPr marL="0" indent="0" algn="l">
              <a:lnSpc>
                <a:spcPct val="108000"/>
              </a:lnSpc>
              <a:spcBef>
                <a:spcPts val="0"/>
              </a:spcBef>
              <a:spcAft>
                <a:spcPts val="0"/>
              </a:spcAft>
              <a:buNone/>
            </a:pPr>
            <a:r>
              <a:rPr lang="en-SG" sz="1500" b="0" i="0" dirty="0">
                <a:solidFill>
                  <a:srgbClr val="B9C4D5"/>
                </a:solidFill>
                <a:latin typeface="Arial"/>
                <a:cs typeface="Arial"/>
              </a:rPr>
              <a:t>Claude Opus 5.5 read every handoff, which may suit Claude-written ones.</a:t>
            </a:r>
          </a:p>
        </p:txBody>
      </p:sp>
      <p:sp>
        <p:nvSpPr>
          <p:cNvPr id="26" name="Limit 6" descr="Graded by AI. An AI marked every fact, so some marks may be wrong."/>
          <p:cNvSpPr/>
          <p:nvPr/>
        </p:nvSpPr>
        <p:spPr>
          <a:xfrm>
            <a:off x="8092440" y="4251960"/>
            <a:ext cx="3547872" cy="1783080"/>
          </a:xfrm>
          <a:prstGeom prst="roundRect">
            <a:avLst>
              <a:gd name="adj" fmla="val 4102"/>
            </a:avLst>
          </a:prstGeom>
          <a:solidFill>
            <a:srgbClr val="1B2940"/>
          </a:solidFill>
          <a:ln>
            <a:noFill/>
          </a:ln>
        </p:spPr>
      </p:sp>
      <p:sp>
        <p:nvSpPr>
          <p:cNvPr id="27" name="Icon"/>
          <p:cNvSpPr/>
          <p:nvPr/>
        </p:nvSpPr>
        <p:spPr>
          <a:xfrm>
            <a:off x="8284464" y="4443984"/>
            <a:ext cx="566928" cy="566928"/>
          </a:xfrm>
          <a:prstGeom prst="ellipse">
            <a:avLst/>
          </a:prstGeom>
          <a:solidFill>
            <a:srgbClr val="24334B"/>
          </a:solidFill>
          <a:ln w="19050">
            <a:solidFill>
              <a:srgbClr val="FFC36A"/>
            </a:solidFill>
          </a:ln>
        </p:spPr>
        <p:txBody>
          <a:bodyPr vert="horz" wrap="square" lIns="0" tIns="0" rIns="0" bIns="0" rtlCol="0" anchor="ctr">
            <a:noAutofit/>
          </a:bodyPr>
          <a:lstStyle/>
          <a:p>
            <a:pPr marL="0" indent="0" algn="ctr">
              <a:lnSpc>
                <a:spcPct val="100000"/>
              </a:lnSpc>
              <a:spcBef>
                <a:spcPts val="0"/>
              </a:spcBef>
              <a:spcAft>
                <a:spcPts val="0"/>
              </a:spcAft>
              <a:buNone/>
            </a:pPr>
            <a:r>
              <a:rPr lang="en-SG" sz="1400" b="1" i="0" dirty="0">
                <a:solidFill>
                  <a:srgbClr val="FFC36A"/>
                </a:solidFill>
                <a:latin typeface="Arial"/>
                <a:cs typeface="Arial"/>
              </a:rPr>
              <a:t>AI</a:t>
            </a:r>
          </a:p>
        </p:txBody>
      </p:sp>
      <p:sp>
        <p:nvSpPr>
          <p:cNvPr id="28" name="Limit title"/>
          <p:cNvSpPr txBox="1"/>
          <p:nvPr/>
        </p:nvSpPr>
        <p:spPr>
          <a:xfrm>
            <a:off x="8988552" y="4453128"/>
            <a:ext cx="2514600" cy="566928"/>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500" b="1" i="0" dirty="0">
                <a:solidFill>
                  <a:srgbClr val="F5F3EB"/>
                </a:solidFill>
                <a:latin typeface="Arial"/>
                <a:cs typeface="Arial"/>
              </a:rPr>
              <a:t>Graded by AI</a:t>
            </a:r>
          </a:p>
        </p:txBody>
      </p:sp>
      <p:sp>
        <p:nvSpPr>
          <p:cNvPr id="29" name="Limit detail"/>
          <p:cNvSpPr txBox="1"/>
          <p:nvPr/>
        </p:nvSpPr>
        <p:spPr>
          <a:xfrm>
            <a:off x="8321040" y="5166360"/>
            <a:ext cx="3136392" cy="777240"/>
          </a:xfrm>
          <a:prstGeom prst="rect">
            <a:avLst/>
          </a:prstGeom>
          <a:noFill/>
          <a:ln>
            <a:noFill/>
          </a:ln>
        </p:spPr>
        <p:txBody>
          <a:bodyPr vert="horz" wrap="square" lIns="0" tIns="0" rIns="0" bIns="0" rtlCol="0" anchor="t">
            <a:noAutofit/>
          </a:bodyPr>
          <a:lstStyle/>
          <a:p>
            <a:pPr marL="0" indent="0" algn="l">
              <a:lnSpc>
                <a:spcPct val="108000"/>
              </a:lnSpc>
              <a:spcBef>
                <a:spcPts val="0"/>
              </a:spcBef>
              <a:spcAft>
                <a:spcPts val="0"/>
              </a:spcAft>
              <a:buNone/>
            </a:pPr>
            <a:r>
              <a:rPr lang="en-SG" sz="1500" b="0" i="0" dirty="0">
                <a:solidFill>
                  <a:srgbClr val="B9C4D5"/>
                </a:solidFill>
                <a:latin typeface="Arial"/>
                <a:cs typeface="Arial"/>
              </a:rPr>
              <a:t>An AI marked every fact, so some marks may be wrong.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1B2D"/>
        </a:solidFill>
        <a:effectLst/>
      </p:bgPr>
    </p:bg>
    <p:spTree>
      <p:nvGrpSpPr>
        <p:cNvPr id="1" name=""/>
        <p:cNvGrpSpPr/>
        <p:nvPr/>
      </p:nvGrpSpPr>
      <p:grpSpPr>
        <a:xfrm>
          <a:off x="0" y="0"/>
          <a:ext cx="0" cy="0"/>
          <a:chOff x="0" y="0"/>
          <a:chExt cx="0" cy="0"/>
        </a:xfrm>
      </p:grpSpPr>
      <p:sp>
        <p:nvSpPr>
          <p:cNvPr id="2" name="Section label"/>
          <p:cNvSpPr txBox="1"/>
          <p:nvPr/>
        </p:nvSpPr>
        <p:spPr>
          <a:xfrm>
            <a:off x="548640" y="329184"/>
            <a:ext cx="9144000" cy="27432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200" b="1" i="0" spc="100" dirty="0">
                <a:solidFill>
                  <a:srgbClr val="69DECC"/>
                </a:solidFill>
                <a:latin typeface="Arial"/>
                <a:cs typeface="Arial"/>
              </a:rPr>
              <a:t>TAKEAWAY</a:t>
            </a:r>
          </a:p>
        </p:txBody>
      </p:sp>
      <p:sp>
        <p:nvSpPr>
          <p:cNvPr id="3" name="Title"/>
          <p:cNvSpPr>
            <a:spLocks noGrp="1"/>
          </p:cNvSpPr>
          <p:nvPr>
            <p:ph type="title"/>
          </p:nvPr>
        </p:nvSpPr>
        <p:spPr>
          <a:xfrm>
            <a:off x="548640" y="658368"/>
            <a:ext cx="11091672" cy="658368"/>
          </a:xfrm>
        </p:spPr>
        <p:txBody>
          <a:bodyPr vert="horz" wrap="square" lIns="0" tIns="0" rIns="0" bIns="0" rtlCol="0" anchor="t">
            <a:noAutofit/>
          </a:bodyPr>
          <a:lstStyle/>
          <a:p>
            <a:pPr marL="0" indent="0" algn="l">
              <a:lnSpc>
                <a:spcPct val="95000"/>
              </a:lnSpc>
              <a:spcBef>
                <a:spcPts val="0"/>
              </a:spcBef>
              <a:spcAft>
                <a:spcPts val="0"/>
              </a:spcAft>
              <a:buNone/>
            </a:pPr>
            <a:r>
              <a:rPr lang="en-SG" sz="3000" b="1" i="0" dirty="0">
                <a:solidFill>
                  <a:srgbClr val="F5F3EB"/>
                </a:solidFill>
                <a:latin typeface="Arial"/>
                <a:cs typeface="Arial"/>
              </a:rPr>
              <a:t>Decide what goes into a handoff, not just how it looks</a:t>
            </a:r>
          </a:p>
        </p:txBody>
      </p:sp>
      <p:sp>
        <p:nvSpPr>
          <p:cNvPr id="4" name="Lead"/>
          <p:cNvSpPr txBox="1"/>
          <p:nvPr/>
        </p:nvSpPr>
        <p:spPr>
          <a:xfrm>
            <a:off x="548640" y="1353312"/>
            <a:ext cx="11091672" cy="731520"/>
          </a:xfrm>
          <a:prstGeom prst="rect">
            <a:avLst/>
          </a:prstGeom>
          <a:noFill/>
          <a:ln>
            <a:noFill/>
          </a:ln>
        </p:spPr>
        <p:txBody>
          <a:bodyPr vert="horz" wrap="square" lIns="0" tIns="0" rIns="0" bIns="0" rtlCol="0" anchor="t">
            <a:noAutofit/>
          </a:bodyPr>
          <a:lstStyle/>
          <a:p>
            <a:pPr marL="0" indent="0" algn="l">
              <a:lnSpc>
                <a:spcPct val="110000"/>
              </a:lnSpc>
              <a:spcBef>
                <a:spcPts val="0"/>
              </a:spcBef>
              <a:spcAft>
                <a:spcPts val="0"/>
              </a:spcAft>
              <a:buNone/>
            </a:pPr>
            <a:r>
              <a:rPr lang="en-SG" sz="1800" b="0" i="0" dirty="0">
                <a:solidFill>
                  <a:srgbClr val="D6DDE8"/>
                </a:solidFill>
                <a:latin typeface="Arial"/>
                <a:cs typeface="Arial"/>
              </a:rPr>
              <a:t>No format won overall. Both left out rules we hadn’t asked them to include, even though the quiz asked about them.</a:t>
            </a:r>
          </a:p>
        </p:txBody>
      </p:sp>
      <p:sp>
        <p:nvSpPr>
          <p:cNvPr id="5" name="Slide number"/>
          <p:cNvSpPr txBox="1"/>
          <p:nvPr/>
        </p:nvSpPr>
        <p:spPr>
          <a:xfrm>
            <a:off x="10424160" y="6382512"/>
            <a:ext cx="1216152" cy="256032"/>
          </a:xfrm>
          <a:prstGeom prst="rect">
            <a:avLst/>
          </a:prstGeom>
          <a:noFill/>
          <a:ln>
            <a:noFill/>
          </a:ln>
        </p:spPr>
        <p:txBody>
          <a:bodyPr vert="horz" wrap="square" lIns="0" tIns="0" rIns="0" bIns="0" rtlCol="0" anchor="ctr">
            <a:noAutofit/>
          </a:bodyPr>
          <a:lstStyle/>
          <a:p>
            <a:pPr marL="0" indent="0" algn="r">
              <a:lnSpc>
                <a:spcPct val="100000"/>
              </a:lnSpc>
              <a:spcBef>
                <a:spcPts val="0"/>
              </a:spcBef>
              <a:spcAft>
                <a:spcPts val="0"/>
              </a:spcAft>
              <a:buNone/>
            </a:pPr>
            <a:r>
              <a:rPr lang="en-SG" sz="1050" b="0" i="0" dirty="0">
                <a:solidFill>
                  <a:srgbClr val="B9C4D5"/>
                </a:solidFill>
                <a:latin typeface="Arial"/>
                <a:cs typeface="Arial"/>
              </a:rPr>
              <a:t>12 / 12</a:t>
            </a:r>
          </a:p>
        </p:txBody>
      </p:sp>
      <p:sp>
        <p:nvSpPr>
          <p:cNvPr id="6" name="Recall first"/>
          <p:cNvSpPr/>
          <p:nvPr/>
        </p:nvSpPr>
        <p:spPr>
          <a:xfrm>
            <a:off x="548640" y="2286000"/>
            <a:ext cx="5120640" cy="3794760"/>
          </a:xfrm>
          <a:prstGeom prst="roundRect">
            <a:avLst>
              <a:gd name="adj" fmla="val 1927"/>
            </a:avLst>
          </a:prstGeom>
          <a:solidFill>
            <a:srgbClr val="1B2940"/>
          </a:solidFill>
          <a:ln>
            <a:noFill/>
          </a:ln>
        </p:spPr>
        <p:txBody>
          <a:bodyPr vert="horz" wrap="square" lIns="292608" tIns="237744" rIns="274320" bIns="182880" rtlCol="0" anchor="ctr">
            <a:noAutofit/>
          </a:bodyPr>
          <a:lstStyle/>
          <a:p>
            <a:pPr marL="0" indent="0" algn="l">
              <a:lnSpc>
                <a:spcPct val="108000"/>
              </a:lnSpc>
              <a:spcBef>
                <a:spcPts val="0"/>
              </a:spcBef>
              <a:spcAft>
                <a:spcPts val="2200"/>
              </a:spcAft>
              <a:buNone/>
            </a:pPr>
            <a:r>
              <a:rPr lang="en-SG" sz="2800" b="1" i="0" dirty="0">
                <a:solidFill>
                  <a:srgbClr val="F5F3EB"/>
                </a:solidFill>
                <a:latin typeface="Arial"/>
                <a:cs typeface="Arial"/>
              </a:rPr>
              <a:t>A handoff can cover every requested topic and still leave out facts the next agent is asked about.</a:t>
            </a:r>
          </a:p>
          <a:p>
            <a:pPr marL="0" indent="0" algn="l">
              <a:lnSpc>
                <a:spcPct val="112000"/>
              </a:lnSpc>
              <a:spcBef>
                <a:spcPts val="0"/>
              </a:spcBef>
              <a:spcAft>
                <a:spcPts val="0"/>
              </a:spcAft>
              <a:buNone/>
            </a:pPr>
            <a:r>
              <a:rPr lang="en-SG" sz="1700" b="0" i="0" dirty="0">
                <a:solidFill>
                  <a:srgbClr val="D6DDE8"/>
                </a:solidFill>
                <a:latin typeface="Arial"/>
                <a:cs typeface="Arial"/>
              </a:rPr>
              <a:t>We haven’t tested whether adding these rules would help with later coding.</a:t>
            </a:r>
          </a:p>
        </p:txBody>
      </p:sp>
      <p:sp>
        <p:nvSpPr>
          <p:cNvPr id="7" name="Label"/>
          <p:cNvSpPr txBox="1"/>
          <p:nvPr/>
        </p:nvSpPr>
        <p:spPr>
          <a:xfrm>
            <a:off x="6035040" y="2286000"/>
            <a:ext cx="5605272" cy="27432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200" b="1" i="0" spc="100" dirty="0">
                <a:solidFill>
                  <a:srgbClr val="69DECC"/>
                </a:solidFill>
                <a:latin typeface="Arial"/>
                <a:cs typeface="Arial"/>
              </a:rPr>
              <a:t>POTENTIAL FOLLOW-UP EXPERIMENTS</a:t>
            </a:r>
          </a:p>
        </p:txBody>
      </p:sp>
      <p:sp>
        <p:nvSpPr>
          <p:cNvPr id="8" name="Idea 1"/>
          <p:cNvSpPr/>
          <p:nvPr/>
        </p:nvSpPr>
        <p:spPr>
          <a:xfrm>
            <a:off x="6035040" y="2651760"/>
            <a:ext cx="5605272" cy="1417320"/>
          </a:xfrm>
          <a:prstGeom prst="roundRect">
            <a:avLst>
              <a:gd name="adj" fmla="val 5161"/>
            </a:avLst>
          </a:prstGeom>
          <a:solidFill>
            <a:srgbClr val="1B2940"/>
          </a:solidFill>
          <a:ln>
            <a:noFill/>
          </a:ln>
        </p:spPr>
      </p:sp>
      <p:sp>
        <p:nvSpPr>
          <p:cNvPr id="9" name="Number 1"/>
          <p:cNvSpPr/>
          <p:nvPr/>
        </p:nvSpPr>
        <p:spPr>
          <a:xfrm>
            <a:off x="6245352" y="2862072"/>
            <a:ext cx="457200" cy="457200"/>
          </a:xfrm>
          <a:prstGeom prst="ellipse">
            <a:avLst/>
          </a:prstGeom>
          <a:solidFill>
            <a:srgbClr val="69DECC"/>
          </a:solidFill>
          <a:ln>
            <a:noFill/>
          </a:ln>
        </p:spPr>
        <p:txBody>
          <a:bodyPr vert="horz" wrap="square" lIns="0" tIns="0" rIns="0" bIns="0" rtlCol="0" anchor="ctr">
            <a:noAutofit/>
          </a:bodyPr>
          <a:lstStyle/>
          <a:p>
            <a:pPr marL="0" indent="0" algn="ctr">
              <a:lnSpc>
                <a:spcPct val="100000"/>
              </a:lnSpc>
              <a:spcBef>
                <a:spcPts val="0"/>
              </a:spcBef>
              <a:spcAft>
                <a:spcPts val="0"/>
              </a:spcAft>
              <a:buNone/>
            </a:pPr>
            <a:r>
              <a:rPr lang="en-SG" sz="1400" b="1" i="0" dirty="0">
                <a:solidFill>
                  <a:srgbClr val="101B2D"/>
                </a:solidFill>
                <a:latin typeface="Arial"/>
                <a:cs typeface="Arial"/>
              </a:rPr>
              <a:t>1</a:t>
            </a:r>
          </a:p>
        </p:txBody>
      </p:sp>
      <p:sp>
        <p:nvSpPr>
          <p:cNvPr id="10" name="Idea title"/>
          <p:cNvSpPr txBox="1"/>
          <p:nvPr/>
        </p:nvSpPr>
        <p:spPr>
          <a:xfrm>
            <a:off x="6858000" y="2834640"/>
            <a:ext cx="4617720" cy="45720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700" b="1" i="0" dirty="0">
                <a:solidFill>
                  <a:srgbClr val="F5F3EB"/>
                </a:solidFill>
                <a:latin typeface="Arial"/>
                <a:cs typeface="Arial"/>
              </a:rPr>
              <a:t>Add a goal and success-criteria field</a:t>
            </a:r>
          </a:p>
        </p:txBody>
      </p:sp>
      <p:sp>
        <p:nvSpPr>
          <p:cNvPr id="11" name="Idea detail"/>
          <p:cNvSpPr txBox="1"/>
          <p:nvPr/>
        </p:nvSpPr>
        <p:spPr>
          <a:xfrm>
            <a:off x="6858000" y="3310128"/>
            <a:ext cx="4617720" cy="685800"/>
          </a:xfrm>
          <a:prstGeom prst="rect">
            <a:avLst/>
          </a:prstGeom>
          <a:noFill/>
          <a:ln>
            <a:noFill/>
          </a:ln>
        </p:spPr>
        <p:txBody>
          <a:bodyPr vert="horz" wrap="square" lIns="0" tIns="0" rIns="0" bIns="0" rtlCol="0" anchor="t">
            <a:noAutofit/>
          </a:bodyPr>
          <a:lstStyle/>
          <a:p>
            <a:pPr marL="0" indent="0" algn="l">
              <a:lnSpc>
                <a:spcPct val="108000"/>
              </a:lnSpc>
              <a:spcBef>
                <a:spcPts val="0"/>
              </a:spcBef>
              <a:spcAft>
                <a:spcPts val="0"/>
              </a:spcAft>
              <a:buNone/>
            </a:pPr>
            <a:r>
              <a:rPr lang="en-SG" sz="1350" b="1" i="0" dirty="0">
                <a:solidFill>
                  <a:srgbClr val="69DECC"/>
                </a:solidFill>
                <a:latin typeface="Arial"/>
                <a:cs typeface="Arial"/>
              </a:rPr>
              <a:t>Structured note taking (Week 9): </a:t>
            </a:r>
            <a:r>
              <a:rPr lang="en-SG" sz="1350" b="0" i="0" dirty="0">
                <a:solidFill>
                  <a:srgbClr val="D6DDE8"/>
                </a:solidFill>
                <a:latin typeface="Arial"/>
                <a:cs typeface="Arial"/>
              </a:rPr>
              <a:t>try adding the goal and the rules the next agent needs to know.</a:t>
            </a:r>
          </a:p>
        </p:txBody>
      </p:sp>
      <p:sp>
        <p:nvSpPr>
          <p:cNvPr id="12" name="Idea 2"/>
          <p:cNvSpPr/>
          <p:nvPr/>
        </p:nvSpPr>
        <p:spPr>
          <a:xfrm>
            <a:off x="6035040" y="4224528"/>
            <a:ext cx="5605272" cy="1417320"/>
          </a:xfrm>
          <a:prstGeom prst="roundRect">
            <a:avLst>
              <a:gd name="adj" fmla="val 5161"/>
            </a:avLst>
          </a:prstGeom>
          <a:solidFill>
            <a:srgbClr val="1B2940"/>
          </a:solidFill>
          <a:ln>
            <a:noFill/>
          </a:ln>
        </p:spPr>
      </p:sp>
      <p:sp>
        <p:nvSpPr>
          <p:cNvPr id="13" name="Number 2"/>
          <p:cNvSpPr/>
          <p:nvPr/>
        </p:nvSpPr>
        <p:spPr>
          <a:xfrm>
            <a:off x="6245352" y="4434840"/>
            <a:ext cx="457200" cy="457200"/>
          </a:xfrm>
          <a:prstGeom prst="ellipse">
            <a:avLst/>
          </a:prstGeom>
          <a:solidFill>
            <a:srgbClr val="69DECC"/>
          </a:solidFill>
          <a:ln>
            <a:noFill/>
          </a:ln>
        </p:spPr>
        <p:txBody>
          <a:bodyPr vert="horz" wrap="square" lIns="0" tIns="0" rIns="0" bIns="0" rtlCol="0" anchor="ctr">
            <a:noAutofit/>
          </a:bodyPr>
          <a:lstStyle/>
          <a:p>
            <a:pPr marL="0" indent="0" algn="ctr">
              <a:lnSpc>
                <a:spcPct val="100000"/>
              </a:lnSpc>
              <a:spcBef>
                <a:spcPts val="0"/>
              </a:spcBef>
              <a:spcAft>
                <a:spcPts val="0"/>
              </a:spcAft>
              <a:buNone/>
            </a:pPr>
            <a:r>
              <a:rPr lang="en-SG" sz="1400" b="1" i="0" dirty="0">
                <a:solidFill>
                  <a:srgbClr val="101B2D"/>
                </a:solidFill>
                <a:latin typeface="Arial"/>
                <a:cs typeface="Arial"/>
              </a:rPr>
              <a:t>2</a:t>
            </a:r>
          </a:p>
        </p:txBody>
      </p:sp>
      <p:sp>
        <p:nvSpPr>
          <p:cNvPr id="14" name="Idea title"/>
          <p:cNvSpPr txBox="1"/>
          <p:nvPr/>
        </p:nvSpPr>
        <p:spPr>
          <a:xfrm>
            <a:off x="6858000" y="4407408"/>
            <a:ext cx="4617720" cy="45720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700" b="1" i="0" dirty="0">
                <a:solidFill>
                  <a:srgbClr val="F5F3EB"/>
                </a:solidFill>
                <a:latin typeface="Arial"/>
                <a:cs typeface="Arial"/>
              </a:rPr>
              <a:t>Point to the requirements</a:t>
            </a:r>
          </a:p>
        </p:txBody>
      </p:sp>
      <p:sp>
        <p:nvSpPr>
          <p:cNvPr id="15" name="Idea detail"/>
          <p:cNvSpPr txBox="1"/>
          <p:nvPr/>
        </p:nvSpPr>
        <p:spPr>
          <a:xfrm>
            <a:off x="6858000" y="4882896"/>
            <a:ext cx="4617720" cy="685800"/>
          </a:xfrm>
          <a:prstGeom prst="rect">
            <a:avLst/>
          </a:prstGeom>
          <a:noFill/>
          <a:ln>
            <a:noFill/>
          </a:ln>
        </p:spPr>
        <p:txBody>
          <a:bodyPr vert="horz" wrap="square" lIns="0" tIns="0" rIns="0" bIns="0" rtlCol="0" anchor="t">
            <a:noAutofit/>
          </a:bodyPr>
          <a:lstStyle/>
          <a:p>
            <a:pPr marL="0" indent="0" algn="l">
              <a:lnSpc>
                <a:spcPct val="108000"/>
              </a:lnSpc>
              <a:spcBef>
                <a:spcPts val="0"/>
              </a:spcBef>
              <a:spcAft>
                <a:spcPts val="0"/>
              </a:spcAft>
              <a:buNone/>
            </a:pPr>
            <a:r>
              <a:rPr lang="en-SG" sz="1350" b="1" i="0" dirty="0">
                <a:solidFill>
                  <a:srgbClr val="69DECC"/>
                </a:solidFill>
                <a:latin typeface="Arial"/>
                <a:cs typeface="Arial"/>
              </a:rPr>
              <a:t>Just-in-time retrieval (Week 9): </a:t>
            </a:r>
            <a:r>
              <a:rPr lang="en-SG" sz="1350" b="0" i="0" dirty="0">
                <a:solidFill>
                  <a:srgbClr val="D6DDE8"/>
                </a:solidFill>
                <a:latin typeface="Arial"/>
                <a:cs typeface="Arial"/>
              </a:rPr>
              <a:t>link the contract, so the next agent can look the rules up itself.</a:t>
            </a:r>
          </a:p>
        </p:txBody>
      </p:sp>
      <p:sp>
        <p:nvSpPr>
          <p:cNvPr id="16" name="Untested note"/>
          <p:cNvSpPr txBox="1"/>
          <p:nvPr/>
        </p:nvSpPr>
        <p:spPr>
          <a:xfrm>
            <a:off x="6035040" y="5806440"/>
            <a:ext cx="5605272" cy="27432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250" b="0" i="1" dirty="0">
                <a:solidFill>
                  <a:srgbClr val="B9C4D5"/>
                </a:solidFill>
                <a:latin typeface="Arial"/>
                <a:cs typeface="Arial"/>
              </a:rPr>
              <a:t>Neither idea was tested in this experiment.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1B2D"/>
        </a:solidFill>
        <a:effectLst/>
      </p:bgPr>
    </p:bg>
    <p:spTree>
      <p:nvGrpSpPr>
        <p:cNvPr id="1" name=""/>
        <p:cNvGrpSpPr/>
        <p:nvPr/>
      </p:nvGrpSpPr>
      <p:grpSpPr>
        <a:xfrm>
          <a:off x="0" y="0"/>
          <a:ext cx="0" cy="0"/>
          <a:chOff x="0" y="0"/>
          <a:chExt cx="0" cy="0"/>
        </a:xfrm>
      </p:grpSpPr>
      <p:sp>
        <p:nvSpPr>
          <p:cNvPr id="2" name="Section label"/>
          <p:cNvSpPr txBox="1"/>
          <p:nvPr/>
        </p:nvSpPr>
        <p:spPr>
          <a:xfrm>
            <a:off x="548640" y="329184"/>
            <a:ext cx="9144000" cy="27432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200" b="1" i="0" spc="100" dirty="0">
                <a:solidFill>
                  <a:srgbClr val="69DECC"/>
                </a:solidFill>
                <a:latin typeface="Arial"/>
                <a:cs typeface="Arial"/>
              </a:rPr>
              <a:t>BACKUP</a:t>
            </a:r>
          </a:p>
        </p:txBody>
      </p:sp>
      <p:sp>
        <p:nvSpPr>
          <p:cNvPr id="3" name="Title"/>
          <p:cNvSpPr>
            <a:spLocks noGrp="1"/>
          </p:cNvSpPr>
          <p:nvPr>
            <p:ph type="title"/>
          </p:nvPr>
        </p:nvSpPr>
        <p:spPr>
          <a:xfrm>
            <a:off x="548640" y="658368"/>
            <a:ext cx="11091672" cy="658368"/>
          </a:xfrm>
        </p:spPr>
        <p:txBody>
          <a:bodyPr vert="horz" wrap="square" lIns="0" tIns="0" rIns="0" bIns="0" rtlCol="0" anchor="t">
            <a:noAutofit/>
          </a:bodyPr>
          <a:lstStyle/>
          <a:p>
            <a:pPr marL="0" indent="0" algn="l">
              <a:lnSpc>
                <a:spcPct val="95000"/>
              </a:lnSpc>
              <a:spcBef>
                <a:spcPts val="0"/>
              </a:spcBef>
              <a:spcAft>
                <a:spcPts val="0"/>
              </a:spcAft>
              <a:buNone/>
            </a:pPr>
            <a:r>
              <a:rPr lang="en-SG" sz="3000" b="1" i="0" dirty="0">
                <a:solidFill>
                  <a:srgbClr val="F5F3EB"/>
                </a:solidFill>
                <a:latin typeface="Arial"/>
                <a:cs typeface="Arial"/>
              </a:rPr>
              <a:t>Full results by model and format</a:t>
            </a:r>
          </a:p>
        </p:txBody>
      </p:sp>
      <p:sp>
        <p:nvSpPr>
          <p:cNvPr id="4" name="Lead"/>
          <p:cNvSpPr txBox="1"/>
          <p:nvPr/>
        </p:nvSpPr>
        <p:spPr>
          <a:xfrm>
            <a:off x="548640" y="1353312"/>
            <a:ext cx="11091672" cy="731520"/>
          </a:xfrm>
          <a:prstGeom prst="rect">
            <a:avLst/>
          </a:prstGeom>
          <a:noFill/>
          <a:ln>
            <a:noFill/>
          </a:ln>
        </p:spPr>
        <p:txBody>
          <a:bodyPr vert="horz" wrap="square" lIns="0" tIns="0" rIns="0" bIns="0" rtlCol="0" anchor="t">
            <a:noAutofit/>
          </a:bodyPr>
          <a:lstStyle/>
          <a:p>
            <a:pPr marL="0" indent="0" algn="l">
              <a:lnSpc>
                <a:spcPct val="110000"/>
              </a:lnSpc>
              <a:spcBef>
                <a:spcPts val="0"/>
              </a:spcBef>
              <a:spcAft>
                <a:spcPts val="0"/>
              </a:spcAft>
              <a:buNone/>
            </a:pPr>
            <a:r>
              <a:rPr lang="en-SG" sz="1800" b="0" i="0" dirty="0">
                <a:solidFill>
                  <a:srgbClr val="D6DDE8"/>
                </a:solidFill>
                <a:latin typeface="Arial"/>
                <a:cs typeface="Arial"/>
              </a:rPr>
              <a:t>Correct facts out of 136 expected facts, across all 5 coding runs. No expected fact was scored wrong; the rest were not stated.</a:t>
            </a:r>
          </a:p>
        </p:txBody>
      </p:sp>
      <p:sp>
        <p:nvSpPr>
          <p:cNvPr id="5" name="Slide number"/>
          <p:cNvSpPr txBox="1"/>
          <p:nvPr/>
        </p:nvSpPr>
        <p:spPr>
          <a:xfrm>
            <a:off x="10424160" y="6382512"/>
            <a:ext cx="1216152" cy="256032"/>
          </a:xfrm>
          <a:prstGeom prst="rect">
            <a:avLst/>
          </a:prstGeom>
          <a:noFill/>
          <a:ln>
            <a:noFill/>
          </a:ln>
        </p:spPr>
        <p:txBody>
          <a:bodyPr vert="horz" wrap="square" lIns="0" tIns="0" rIns="0" bIns="0" rtlCol="0" anchor="ctr">
            <a:noAutofit/>
          </a:bodyPr>
          <a:lstStyle/>
          <a:p>
            <a:pPr marL="0" indent="0" algn="r">
              <a:lnSpc>
                <a:spcPct val="100000"/>
              </a:lnSpc>
              <a:spcBef>
                <a:spcPts val="0"/>
              </a:spcBef>
              <a:spcAft>
                <a:spcPts val="0"/>
              </a:spcAft>
              <a:buNone/>
            </a:pPr>
            <a:r>
              <a:rPr lang="en-SG" sz="1050" b="0" i="0" dirty="0">
                <a:solidFill>
                  <a:srgbClr val="B9C4D5"/>
                </a:solidFill>
                <a:latin typeface="Arial"/>
                <a:cs typeface="Arial"/>
              </a:rPr>
              <a:t>Backup</a:t>
            </a:r>
          </a:p>
        </p:txBody>
      </p:sp>
      <p:graphicFrame>
        <p:nvGraphicFramePr>
          <p:cNvPr id="6" name="Results table" descr="Correct facts out of 136 for each handoff model and format, with how many handoffs went over 200 words"/>
          <p:cNvGraphicFramePr>
            <a:graphicFrameLocks noGrp="1"/>
          </p:cNvGraphicFramePr>
          <p:nvPr/>
        </p:nvGraphicFramePr>
        <p:xfrm>
          <a:off x="548640" y="2194560"/>
          <a:ext cx="11091672" cy="3785616"/>
        </p:xfrm>
        <a:graphic>
          <a:graphicData uri="http://schemas.openxmlformats.org/drawingml/2006/table">
            <a:tbl>
              <a:tblPr firstRow="1" bandRow="1"/>
              <a:tblGrid>
                <a:gridCol w="29260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993392">
                  <a:extLst>
                    <a:ext uri="{9D8B030D-6E8A-4147-A177-3AD203B41FA5}">
                      <a16:colId xmlns:a16="http://schemas.microsoft.com/office/drawing/2014/main" val="20004"/>
                    </a:ext>
                  </a:extLst>
                </a:gridCol>
              </a:tblGrid>
              <a:tr h="420624">
                <a:tc>
                  <a:txBody>
                    <a:bodyPr/>
                    <a:lstStyle/>
                    <a:p>
                      <a:pPr marL="0" indent="0" algn="l">
                        <a:lnSpc>
                          <a:spcPct val="100000"/>
                        </a:lnSpc>
                        <a:spcBef>
                          <a:spcPts val="0"/>
                        </a:spcBef>
                        <a:spcAft>
                          <a:spcPts val="0"/>
                        </a:spcAft>
                        <a:buNone/>
                      </a:pPr>
                      <a:r>
                        <a:rPr lang="en-SG" sz="1300" b="1" i="0" spc="50" dirty="0">
                          <a:solidFill>
                            <a:srgbClr val="69DECC"/>
                          </a:solidFill>
                          <a:latin typeface="Arial"/>
                          <a:cs typeface="Arial"/>
                        </a:rPr>
                        <a:t>HANDOFF MODEL</a:t>
                      </a:r>
                    </a:p>
                  </a:txBody>
                  <a:tcPr marL="137160" marR="137160" marT="36576" marB="36576" anchor="ctr">
                    <a:lnL>
                      <a:noFill/>
                    </a:lnL>
                    <a:lnR>
                      <a:noFill/>
                    </a:lnR>
                    <a:lnT>
                      <a:noFill/>
                    </a:lnT>
                    <a:lnB w="9525">
                      <a:solidFill>
                        <a:srgbClr val="3A4A63"/>
                      </a:solidFill>
                    </a:lnB>
                    <a:solidFill>
                      <a:srgbClr val="24334B"/>
                    </a:solidFill>
                  </a:tcPr>
                </a:tc>
                <a:tc>
                  <a:txBody>
                    <a:bodyPr/>
                    <a:lstStyle/>
                    <a:p>
                      <a:pPr marL="0" indent="0" algn="l">
                        <a:lnSpc>
                          <a:spcPct val="100000"/>
                        </a:lnSpc>
                        <a:spcBef>
                          <a:spcPts val="0"/>
                        </a:spcBef>
                        <a:spcAft>
                          <a:spcPts val="0"/>
                        </a:spcAft>
                        <a:buNone/>
                      </a:pPr>
                      <a:r>
                        <a:rPr lang="en-SG" sz="1300" b="1" i="0" spc="50" dirty="0">
                          <a:solidFill>
                            <a:srgbClr val="69DECC"/>
                          </a:solidFill>
                          <a:latin typeface="Arial"/>
                          <a:cs typeface="Arial"/>
                        </a:rPr>
                        <a:t>FORMAT</a:t>
                      </a:r>
                    </a:p>
                  </a:txBody>
                  <a:tcPr marL="137160" marR="137160" marT="36576" marB="36576" anchor="ctr">
                    <a:lnL>
                      <a:noFill/>
                    </a:lnL>
                    <a:lnR>
                      <a:noFill/>
                    </a:lnR>
                    <a:lnT>
                      <a:noFill/>
                    </a:lnT>
                    <a:lnB w="9525">
                      <a:solidFill>
                        <a:srgbClr val="3A4A63"/>
                      </a:solidFill>
                    </a:lnB>
                    <a:solidFill>
                      <a:srgbClr val="24334B"/>
                    </a:solidFill>
                  </a:tcPr>
                </a:tc>
                <a:tc>
                  <a:txBody>
                    <a:bodyPr/>
                    <a:lstStyle/>
                    <a:p>
                      <a:pPr marL="0" indent="0" algn="l">
                        <a:lnSpc>
                          <a:spcPct val="100000"/>
                        </a:lnSpc>
                        <a:spcBef>
                          <a:spcPts val="0"/>
                        </a:spcBef>
                        <a:spcAft>
                          <a:spcPts val="0"/>
                        </a:spcAft>
                        <a:buNone/>
                      </a:pPr>
                      <a:r>
                        <a:rPr lang="en-SG" sz="1300" b="1" i="0" spc="50" dirty="0">
                          <a:solidFill>
                            <a:srgbClr val="69DECC"/>
                          </a:solidFill>
                          <a:latin typeface="Arial"/>
                          <a:cs typeface="Arial"/>
                        </a:rPr>
                        <a:t>CORRECT FACTS</a:t>
                      </a:r>
                    </a:p>
                  </a:txBody>
                  <a:tcPr marL="137160" marR="137160" marT="36576" marB="36576" anchor="ctr">
                    <a:lnL>
                      <a:noFill/>
                    </a:lnL>
                    <a:lnR>
                      <a:noFill/>
                    </a:lnR>
                    <a:lnT>
                      <a:noFill/>
                    </a:lnT>
                    <a:lnB w="9525">
                      <a:solidFill>
                        <a:srgbClr val="3A4A63"/>
                      </a:solidFill>
                    </a:lnB>
                    <a:solidFill>
                      <a:srgbClr val="24334B"/>
                    </a:solidFill>
                  </a:tcPr>
                </a:tc>
                <a:tc>
                  <a:txBody>
                    <a:bodyPr/>
                    <a:lstStyle/>
                    <a:p>
                      <a:pPr marL="0" indent="0" algn="l">
                        <a:lnSpc>
                          <a:spcPct val="100000"/>
                        </a:lnSpc>
                        <a:spcBef>
                          <a:spcPts val="0"/>
                        </a:spcBef>
                        <a:spcAft>
                          <a:spcPts val="0"/>
                        </a:spcAft>
                        <a:buNone/>
                      </a:pPr>
                      <a:r>
                        <a:rPr lang="en-SG" sz="1300" b="1" i="0" spc="50" dirty="0">
                          <a:solidFill>
                            <a:srgbClr val="69DECC"/>
                          </a:solidFill>
                          <a:latin typeface="Arial"/>
                          <a:cs typeface="Arial"/>
                        </a:rPr>
                        <a:t>SHARE</a:t>
                      </a:r>
                    </a:p>
                  </a:txBody>
                  <a:tcPr marL="137160" marR="137160" marT="36576" marB="36576" anchor="ctr">
                    <a:lnL>
                      <a:noFill/>
                    </a:lnL>
                    <a:lnR>
                      <a:noFill/>
                    </a:lnR>
                    <a:lnT>
                      <a:noFill/>
                    </a:lnT>
                    <a:lnB w="9525">
                      <a:solidFill>
                        <a:srgbClr val="3A4A63"/>
                      </a:solidFill>
                    </a:lnB>
                    <a:solidFill>
                      <a:srgbClr val="24334B"/>
                    </a:solidFill>
                  </a:tcPr>
                </a:tc>
                <a:tc>
                  <a:txBody>
                    <a:bodyPr/>
                    <a:lstStyle/>
                    <a:p>
                      <a:pPr marL="0" indent="0" algn="l">
                        <a:lnSpc>
                          <a:spcPct val="100000"/>
                        </a:lnSpc>
                        <a:spcBef>
                          <a:spcPts val="0"/>
                        </a:spcBef>
                        <a:spcAft>
                          <a:spcPts val="0"/>
                        </a:spcAft>
                        <a:buNone/>
                      </a:pPr>
                      <a:r>
                        <a:rPr lang="en-SG" sz="1300" b="1" i="0" spc="50" dirty="0">
                          <a:solidFill>
                            <a:srgbClr val="69DECC"/>
                          </a:solidFill>
                          <a:latin typeface="Arial"/>
                          <a:cs typeface="Arial"/>
                        </a:rPr>
                        <a:t>OVER 200 WORDS</a:t>
                      </a:r>
                    </a:p>
                  </a:txBody>
                  <a:tcPr marL="137160" marR="137160" marT="36576" marB="36576" anchor="ctr">
                    <a:lnL>
                      <a:noFill/>
                    </a:lnL>
                    <a:lnR>
                      <a:noFill/>
                    </a:lnR>
                    <a:lnT>
                      <a:noFill/>
                    </a:lnT>
                    <a:lnB w="9525">
                      <a:solidFill>
                        <a:srgbClr val="3A4A63"/>
                      </a:solidFill>
                    </a:lnB>
                    <a:solidFill>
                      <a:srgbClr val="24334B"/>
                    </a:solidFill>
                  </a:tcPr>
                </a:tc>
                <a:extLst>
                  <a:ext uri="{0D108BD9-81ED-4DB2-BD59-A6C34878D82A}">
                    <a16:rowId xmlns:a16="http://schemas.microsoft.com/office/drawing/2014/main" val="10000"/>
                  </a:ext>
                </a:extLst>
              </a:tr>
              <a:tr h="420624">
                <a:tc>
                  <a:txBody>
                    <a:bodyPr/>
                    <a:lstStyle/>
                    <a:p>
                      <a:pPr marL="0" indent="0" algn="l">
                        <a:lnSpc>
                          <a:spcPct val="100000"/>
                        </a:lnSpc>
                        <a:spcBef>
                          <a:spcPts val="0"/>
                        </a:spcBef>
                        <a:spcAft>
                          <a:spcPts val="0"/>
                        </a:spcAft>
                        <a:buNone/>
                      </a:pPr>
                      <a:r>
                        <a:rPr lang="en-SG" sz="1500" b="1" i="0" dirty="0">
                          <a:solidFill>
                            <a:srgbClr val="F5F3EB"/>
                          </a:solidFill>
                          <a:latin typeface="Arial"/>
                          <a:cs typeface="Arial"/>
                        </a:rPr>
                        <a:t>GPT-5.6 Sol</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B2940"/>
                    </a:solidFill>
                  </a:tcPr>
                </a:tc>
                <a:tc>
                  <a:txBody>
                    <a:bodyPr/>
                    <a:lstStyle/>
                    <a:p>
                      <a:pPr marL="0" indent="0" algn="l">
                        <a:lnSpc>
                          <a:spcPct val="100000"/>
                        </a:lnSpc>
                        <a:spcBef>
                          <a:spcPts val="0"/>
                        </a:spcBef>
                        <a:spcAft>
                          <a:spcPts val="0"/>
                        </a:spcAft>
                        <a:buNone/>
                      </a:pPr>
                      <a:r>
                        <a:rPr lang="en-SG" sz="1500" b="0" i="0" dirty="0">
                          <a:solidFill>
                            <a:srgbClr val="B9C4D5"/>
                          </a:solidFill>
                          <a:latin typeface="Arial"/>
                          <a:cs typeface="Arial"/>
                        </a:rPr>
                        <a:t>Free-form summary</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B2940"/>
                    </a:solidFill>
                  </a:tcPr>
                </a:tc>
                <a:tc>
                  <a:txBody>
                    <a:bodyPr/>
                    <a:lstStyle/>
                    <a:p>
                      <a:pPr marL="0" indent="0" algn="l">
                        <a:lnSpc>
                          <a:spcPct val="100000"/>
                        </a:lnSpc>
                        <a:spcBef>
                          <a:spcPts val="0"/>
                        </a:spcBef>
                        <a:spcAft>
                          <a:spcPts val="0"/>
                        </a:spcAft>
                        <a:buNone/>
                      </a:pPr>
                      <a:r>
                        <a:rPr lang="en-SG" sz="1500" b="1" i="0" dirty="0">
                          <a:solidFill>
                            <a:srgbClr val="F5F3EB"/>
                          </a:solidFill>
                          <a:latin typeface="Arial"/>
                          <a:cs typeface="Arial"/>
                        </a:rPr>
                        <a:t>78 of 136</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B2940"/>
                    </a:solidFill>
                  </a:tcPr>
                </a:tc>
                <a:tc>
                  <a:txBody>
                    <a:bodyPr/>
                    <a:lstStyle/>
                    <a:p>
                      <a:pPr marL="0" indent="0" algn="l">
                        <a:lnSpc>
                          <a:spcPct val="100000"/>
                        </a:lnSpc>
                        <a:spcBef>
                          <a:spcPts val="0"/>
                        </a:spcBef>
                        <a:spcAft>
                          <a:spcPts val="0"/>
                        </a:spcAft>
                        <a:buNone/>
                      </a:pPr>
                      <a:r>
                        <a:rPr lang="en-SG" sz="1500" b="0" i="0" dirty="0">
                          <a:solidFill>
                            <a:srgbClr val="F5F3EB"/>
                          </a:solidFill>
                          <a:latin typeface="Arial"/>
                          <a:cs typeface="Arial"/>
                        </a:rPr>
                        <a:t>57%</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B2940"/>
                    </a:solidFill>
                  </a:tcPr>
                </a:tc>
                <a:tc>
                  <a:txBody>
                    <a:bodyPr/>
                    <a:lstStyle/>
                    <a:p>
                      <a:pPr marL="0" indent="0" algn="l">
                        <a:lnSpc>
                          <a:spcPct val="100000"/>
                        </a:lnSpc>
                        <a:spcBef>
                          <a:spcPts val="0"/>
                        </a:spcBef>
                        <a:spcAft>
                          <a:spcPts val="0"/>
                        </a:spcAft>
                        <a:buNone/>
                      </a:pPr>
                      <a:r>
                        <a:rPr lang="en-SG" sz="1500" b="0" i="0" dirty="0">
                          <a:solidFill>
                            <a:srgbClr val="D6DDE8"/>
                          </a:solidFill>
                          <a:latin typeface="Arial"/>
                          <a:cs typeface="Arial"/>
                        </a:rPr>
                        <a:t>0 of 5</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B2940"/>
                    </a:solidFill>
                  </a:tcPr>
                </a:tc>
                <a:extLst>
                  <a:ext uri="{0D108BD9-81ED-4DB2-BD59-A6C34878D82A}">
                    <a16:rowId xmlns:a16="http://schemas.microsoft.com/office/drawing/2014/main" val="10001"/>
                  </a:ext>
                </a:extLst>
              </a:tr>
              <a:tr h="420624">
                <a:tc>
                  <a:txBody>
                    <a:bodyPr/>
                    <a:lstStyle/>
                    <a:p>
                      <a:pPr marL="0" indent="0" algn="l">
                        <a:lnSpc>
                          <a:spcPct val="100000"/>
                        </a:lnSpc>
                        <a:spcBef>
                          <a:spcPts val="0"/>
                        </a:spcBef>
                        <a:spcAft>
                          <a:spcPts val="0"/>
                        </a:spcAft>
                        <a:buNone/>
                      </a:pPr>
                      <a:r>
                        <a:rPr lang="en-SG" sz="1500" b="1" i="0" dirty="0">
                          <a:solidFill>
                            <a:srgbClr val="F5F3EB"/>
                          </a:solidFill>
                          <a:latin typeface="Arial"/>
                          <a:cs typeface="Arial"/>
                        </a:rPr>
                        <a:t>GPT-5.6 Sol</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6233A"/>
                    </a:solidFill>
                  </a:tcPr>
                </a:tc>
                <a:tc>
                  <a:txBody>
                    <a:bodyPr/>
                    <a:lstStyle/>
                    <a:p>
                      <a:pPr marL="0" indent="0" algn="l">
                        <a:lnSpc>
                          <a:spcPct val="100000"/>
                        </a:lnSpc>
                        <a:spcBef>
                          <a:spcPts val="0"/>
                        </a:spcBef>
                        <a:spcAft>
                          <a:spcPts val="0"/>
                        </a:spcAft>
                        <a:buNone/>
                      </a:pPr>
                      <a:r>
                        <a:rPr lang="en-SG" sz="1500" b="0" i="0" dirty="0">
                          <a:solidFill>
                            <a:srgbClr val="69DECC"/>
                          </a:solidFill>
                          <a:latin typeface="Arial"/>
                          <a:cs typeface="Arial"/>
                        </a:rPr>
                        <a:t>Checklist</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6233A"/>
                    </a:solidFill>
                  </a:tcPr>
                </a:tc>
                <a:tc>
                  <a:txBody>
                    <a:bodyPr/>
                    <a:lstStyle/>
                    <a:p>
                      <a:pPr marL="0" indent="0" algn="l">
                        <a:lnSpc>
                          <a:spcPct val="100000"/>
                        </a:lnSpc>
                        <a:spcBef>
                          <a:spcPts val="0"/>
                        </a:spcBef>
                        <a:spcAft>
                          <a:spcPts val="0"/>
                        </a:spcAft>
                        <a:buNone/>
                      </a:pPr>
                      <a:r>
                        <a:rPr lang="en-SG" sz="1500" b="1" i="0" dirty="0">
                          <a:solidFill>
                            <a:srgbClr val="F5F3EB"/>
                          </a:solidFill>
                          <a:latin typeface="Arial"/>
                          <a:cs typeface="Arial"/>
                        </a:rPr>
                        <a:t>73 of 136</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6233A"/>
                    </a:solidFill>
                  </a:tcPr>
                </a:tc>
                <a:tc>
                  <a:txBody>
                    <a:bodyPr/>
                    <a:lstStyle/>
                    <a:p>
                      <a:pPr marL="0" indent="0" algn="l">
                        <a:lnSpc>
                          <a:spcPct val="100000"/>
                        </a:lnSpc>
                        <a:spcBef>
                          <a:spcPts val="0"/>
                        </a:spcBef>
                        <a:spcAft>
                          <a:spcPts val="0"/>
                        </a:spcAft>
                        <a:buNone/>
                      </a:pPr>
                      <a:r>
                        <a:rPr lang="en-SG" sz="1500" b="0" i="0" dirty="0">
                          <a:solidFill>
                            <a:srgbClr val="F5F3EB"/>
                          </a:solidFill>
                          <a:latin typeface="Arial"/>
                          <a:cs typeface="Arial"/>
                        </a:rPr>
                        <a:t>54%</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6233A"/>
                    </a:solidFill>
                  </a:tcPr>
                </a:tc>
                <a:tc>
                  <a:txBody>
                    <a:bodyPr/>
                    <a:lstStyle/>
                    <a:p>
                      <a:pPr marL="0" indent="0" algn="l">
                        <a:lnSpc>
                          <a:spcPct val="100000"/>
                        </a:lnSpc>
                        <a:spcBef>
                          <a:spcPts val="0"/>
                        </a:spcBef>
                        <a:spcAft>
                          <a:spcPts val="0"/>
                        </a:spcAft>
                        <a:buNone/>
                      </a:pPr>
                      <a:r>
                        <a:rPr lang="en-SG" sz="1500" b="0" i="0" dirty="0">
                          <a:solidFill>
                            <a:srgbClr val="D6DDE8"/>
                          </a:solidFill>
                          <a:latin typeface="Arial"/>
                          <a:cs typeface="Arial"/>
                        </a:rPr>
                        <a:t>0 of 5</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6233A"/>
                    </a:solidFill>
                  </a:tcPr>
                </a:tc>
                <a:extLst>
                  <a:ext uri="{0D108BD9-81ED-4DB2-BD59-A6C34878D82A}">
                    <a16:rowId xmlns:a16="http://schemas.microsoft.com/office/drawing/2014/main" val="10002"/>
                  </a:ext>
                </a:extLst>
              </a:tr>
              <a:tr h="420624">
                <a:tc>
                  <a:txBody>
                    <a:bodyPr/>
                    <a:lstStyle/>
                    <a:p>
                      <a:pPr marL="0" indent="0" algn="l">
                        <a:lnSpc>
                          <a:spcPct val="100000"/>
                        </a:lnSpc>
                        <a:spcBef>
                          <a:spcPts val="0"/>
                        </a:spcBef>
                        <a:spcAft>
                          <a:spcPts val="0"/>
                        </a:spcAft>
                        <a:buNone/>
                      </a:pPr>
                      <a:r>
                        <a:rPr lang="en-SG" sz="1500" b="1" i="0" dirty="0">
                          <a:solidFill>
                            <a:srgbClr val="F5F3EB"/>
                          </a:solidFill>
                          <a:latin typeface="Arial"/>
                          <a:cs typeface="Arial"/>
                        </a:rPr>
                        <a:t>GPT-5.6 Luna</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B2940"/>
                    </a:solidFill>
                  </a:tcPr>
                </a:tc>
                <a:tc>
                  <a:txBody>
                    <a:bodyPr/>
                    <a:lstStyle/>
                    <a:p>
                      <a:pPr marL="0" indent="0" algn="l">
                        <a:lnSpc>
                          <a:spcPct val="100000"/>
                        </a:lnSpc>
                        <a:spcBef>
                          <a:spcPts val="0"/>
                        </a:spcBef>
                        <a:spcAft>
                          <a:spcPts val="0"/>
                        </a:spcAft>
                        <a:buNone/>
                      </a:pPr>
                      <a:r>
                        <a:rPr lang="en-SG" sz="1500" b="0" i="0" dirty="0">
                          <a:solidFill>
                            <a:srgbClr val="B9C4D5"/>
                          </a:solidFill>
                          <a:latin typeface="Arial"/>
                          <a:cs typeface="Arial"/>
                        </a:rPr>
                        <a:t>Free-form summary</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B2940"/>
                    </a:solidFill>
                  </a:tcPr>
                </a:tc>
                <a:tc>
                  <a:txBody>
                    <a:bodyPr/>
                    <a:lstStyle/>
                    <a:p>
                      <a:pPr marL="0" indent="0" algn="l">
                        <a:lnSpc>
                          <a:spcPct val="100000"/>
                        </a:lnSpc>
                        <a:spcBef>
                          <a:spcPts val="0"/>
                        </a:spcBef>
                        <a:spcAft>
                          <a:spcPts val="0"/>
                        </a:spcAft>
                        <a:buNone/>
                      </a:pPr>
                      <a:r>
                        <a:rPr lang="en-SG" sz="1500" b="1" i="0" dirty="0">
                          <a:solidFill>
                            <a:srgbClr val="F5F3EB"/>
                          </a:solidFill>
                          <a:latin typeface="Arial"/>
                          <a:cs typeface="Arial"/>
                        </a:rPr>
                        <a:t>64 of 136</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B2940"/>
                    </a:solidFill>
                  </a:tcPr>
                </a:tc>
                <a:tc>
                  <a:txBody>
                    <a:bodyPr/>
                    <a:lstStyle/>
                    <a:p>
                      <a:pPr marL="0" indent="0" algn="l">
                        <a:lnSpc>
                          <a:spcPct val="100000"/>
                        </a:lnSpc>
                        <a:spcBef>
                          <a:spcPts val="0"/>
                        </a:spcBef>
                        <a:spcAft>
                          <a:spcPts val="0"/>
                        </a:spcAft>
                        <a:buNone/>
                      </a:pPr>
                      <a:r>
                        <a:rPr lang="en-SG" sz="1500" b="0" i="0" dirty="0">
                          <a:solidFill>
                            <a:srgbClr val="F5F3EB"/>
                          </a:solidFill>
                          <a:latin typeface="Arial"/>
                          <a:cs typeface="Arial"/>
                        </a:rPr>
                        <a:t>47%</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B2940"/>
                    </a:solidFill>
                  </a:tcPr>
                </a:tc>
                <a:tc>
                  <a:txBody>
                    <a:bodyPr/>
                    <a:lstStyle/>
                    <a:p>
                      <a:pPr marL="0" indent="0" algn="l">
                        <a:lnSpc>
                          <a:spcPct val="100000"/>
                        </a:lnSpc>
                        <a:spcBef>
                          <a:spcPts val="0"/>
                        </a:spcBef>
                        <a:spcAft>
                          <a:spcPts val="0"/>
                        </a:spcAft>
                        <a:buNone/>
                      </a:pPr>
                      <a:r>
                        <a:rPr lang="en-SG" sz="1500" b="0" i="0" dirty="0">
                          <a:solidFill>
                            <a:srgbClr val="D6DDE8"/>
                          </a:solidFill>
                          <a:latin typeface="Arial"/>
                          <a:cs typeface="Arial"/>
                        </a:rPr>
                        <a:t>0 of 5</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B2940"/>
                    </a:solidFill>
                  </a:tcPr>
                </a:tc>
                <a:extLst>
                  <a:ext uri="{0D108BD9-81ED-4DB2-BD59-A6C34878D82A}">
                    <a16:rowId xmlns:a16="http://schemas.microsoft.com/office/drawing/2014/main" val="10003"/>
                  </a:ext>
                </a:extLst>
              </a:tr>
              <a:tr h="420624">
                <a:tc>
                  <a:txBody>
                    <a:bodyPr/>
                    <a:lstStyle/>
                    <a:p>
                      <a:pPr marL="0" indent="0" algn="l">
                        <a:lnSpc>
                          <a:spcPct val="100000"/>
                        </a:lnSpc>
                        <a:spcBef>
                          <a:spcPts val="0"/>
                        </a:spcBef>
                        <a:spcAft>
                          <a:spcPts val="0"/>
                        </a:spcAft>
                        <a:buNone/>
                      </a:pPr>
                      <a:r>
                        <a:rPr lang="en-SG" sz="1500" b="1" i="0" dirty="0">
                          <a:solidFill>
                            <a:srgbClr val="F5F3EB"/>
                          </a:solidFill>
                          <a:latin typeface="Arial"/>
                          <a:cs typeface="Arial"/>
                        </a:rPr>
                        <a:t>GPT-5.6 Luna</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6233A"/>
                    </a:solidFill>
                  </a:tcPr>
                </a:tc>
                <a:tc>
                  <a:txBody>
                    <a:bodyPr/>
                    <a:lstStyle/>
                    <a:p>
                      <a:pPr marL="0" indent="0" algn="l">
                        <a:lnSpc>
                          <a:spcPct val="100000"/>
                        </a:lnSpc>
                        <a:spcBef>
                          <a:spcPts val="0"/>
                        </a:spcBef>
                        <a:spcAft>
                          <a:spcPts val="0"/>
                        </a:spcAft>
                        <a:buNone/>
                      </a:pPr>
                      <a:r>
                        <a:rPr lang="en-SG" sz="1500" b="0" i="0" dirty="0">
                          <a:solidFill>
                            <a:srgbClr val="69DECC"/>
                          </a:solidFill>
                          <a:latin typeface="Arial"/>
                          <a:cs typeface="Arial"/>
                        </a:rPr>
                        <a:t>Checklist</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6233A"/>
                    </a:solidFill>
                  </a:tcPr>
                </a:tc>
                <a:tc>
                  <a:txBody>
                    <a:bodyPr/>
                    <a:lstStyle/>
                    <a:p>
                      <a:pPr marL="0" indent="0" algn="l">
                        <a:lnSpc>
                          <a:spcPct val="100000"/>
                        </a:lnSpc>
                        <a:spcBef>
                          <a:spcPts val="0"/>
                        </a:spcBef>
                        <a:spcAft>
                          <a:spcPts val="0"/>
                        </a:spcAft>
                        <a:buNone/>
                      </a:pPr>
                      <a:r>
                        <a:rPr lang="en-SG" sz="1500" b="1" i="0" dirty="0">
                          <a:solidFill>
                            <a:srgbClr val="F5F3EB"/>
                          </a:solidFill>
                          <a:latin typeface="Arial"/>
                          <a:cs typeface="Arial"/>
                        </a:rPr>
                        <a:t>62 of 136</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6233A"/>
                    </a:solidFill>
                  </a:tcPr>
                </a:tc>
                <a:tc>
                  <a:txBody>
                    <a:bodyPr/>
                    <a:lstStyle/>
                    <a:p>
                      <a:pPr marL="0" indent="0" algn="l">
                        <a:lnSpc>
                          <a:spcPct val="100000"/>
                        </a:lnSpc>
                        <a:spcBef>
                          <a:spcPts val="0"/>
                        </a:spcBef>
                        <a:spcAft>
                          <a:spcPts val="0"/>
                        </a:spcAft>
                        <a:buNone/>
                      </a:pPr>
                      <a:r>
                        <a:rPr lang="en-SG" sz="1500" b="0" i="0" dirty="0">
                          <a:solidFill>
                            <a:srgbClr val="F5F3EB"/>
                          </a:solidFill>
                          <a:latin typeface="Arial"/>
                          <a:cs typeface="Arial"/>
                        </a:rPr>
                        <a:t>46%</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6233A"/>
                    </a:solidFill>
                  </a:tcPr>
                </a:tc>
                <a:tc>
                  <a:txBody>
                    <a:bodyPr/>
                    <a:lstStyle/>
                    <a:p>
                      <a:pPr marL="0" indent="0" algn="l">
                        <a:lnSpc>
                          <a:spcPct val="100000"/>
                        </a:lnSpc>
                        <a:spcBef>
                          <a:spcPts val="0"/>
                        </a:spcBef>
                        <a:spcAft>
                          <a:spcPts val="0"/>
                        </a:spcAft>
                        <a:buNone/>
                      </a:pPr>
                      <a:r>
                        <a:rPr lang="en-SG" sz="1500" b="0" i="0" dirty="0">
                          <a:solidFill>
                            <a:srgbClr val="D6DDE8"/>
                          </a:solidFill>
                          <a:latin typeface="Arial"/>
                          <a:cs typeface="Arial"/>
                        </a:rPr>
                        <a:t>0 of 5</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6233A"/>
                    </a:solidFill>
                  </a:tcPr>
                </a:tc>
                <a:extLst>
                  <a:ext uri="{0D108BD9-81ED-4DB2-BD59-A6C34878D82A}">
                    <a16:rowId xmlns:a16="http://schemas.microsoft.com/office/drawing/2014/main" val="10004"/>
                  </a:ext>
                </a:extLst>
              </a:tr>
              <a:tr h="420624">
                <a:tc>
                  <a:txBody>
                    <a:bodyPr/>
                    <a:lstStyle/>
                    <a:p>
                      <a:pPr marL="0" indent="0" algn="l">
                        <a:lnSpc>
                          <a:spcPct val="100000"/>
                        </a:lnSpc>
                        <a:spcBef>
                          <a:spcPts val="0"/>
                        </a:spcBef>
                        <a:spcAft>
                          <a:spcPts val="0"/>
                        </a:spcAft>
                        <a:buNone/>
                      </a:pPr>
                      <a:r>
                        <a:rPr lang="en-SG" sz="1500" b="1" i="0" dirty="0">
                          <a:solidFill>
                            <a:srgbClr val="F5F3EB"/>
                          </a:solidFill>
                          <a:latin typeface="Arial"/>
                          <a:cs typeface="Arial"/>
                        </a:rPr>
                        <a:t>Claude Opus 5.5</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B2940"/>
                    </a:solidFill>
                  </a:tcPr>
                </a:tc>
                <a:tc>
                  <a:txBody>
                    <a:bodyPr/>
                    <a:lstStyle/>
                    <a:p>
                      <a:pPr marL="0" indent="0" algn="l">
                        <a:lnSpc>
                          <a:spcPct val="100000"/>
                        </a:lnSpc>
                        <a:spcBef>
                          <a:spcPts val="0"/>
                        </a:spcBef>
                        <a:spcAft>
                          <a:spcPts val="0"/>
                        </a:spcAft>
                        <a:buNone/>
                      </a:pPr>
                      <a:r>
                        <a:rPr lang="en-SG" sz="1500" b="0" i="0" dirty="0">
                          <a:solidFill>
                            <a:srgbClr val="B9C4D5"/>
                          </a:solidFill>
                          <a:latin typeface="Arial"/>
                          <a:cs typeface="Arial"/>
                        </a:rPr>
                        <a:t>Free-form summary</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B2940"/>
                    </a:solidFill>
                  </a:tcPr>
                </a:tc>
                <a:tc>
                  <a:txBody>
                    <a:bodyPr/>
                    <a:lstStyle/>
                    <a:p>
                      <a:pPr marL="0" indent="0" algn="l">
                        <a:lnSpc>
                          <a:spcPct val="100000"/>
                        </a:lnSpc>
                        <a:spcBef>
                          <a:spcPts val="0"/>
                        </a:spcBef>
                        <a:spcAft>
                          <a:spcPts val="0"/>
                        </a:spcAft>
                        <a:buNone/>
                      </a:pPr>
                      <a:r>
                        <a:rPr lang="en-SG" sz="1500" b="1" i="0" dirty="0">
                          <a:solidFill>
                            <a:srgbClr val="F5F3EB"/>
                          </a:solidFill>
                          <a:latin typeface="Arial"/>
                          <a:cs typeface="Arial"/>
                        </a:rPr>
                        <a:t>78 of 136</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B2940"/>
                    </a:solidFill>
                  </a:tcPr>
                </a:tc>
                <a:tc>
                  <a:txBody>
                    <a:bodyPr/>
                    <a:lstStyle/>
                    <a:p>
                      <a:pPr marL="0" indent="0" algn="l">
                        <a:lnSpc>
                          <a:spcPct val="100000"/>
                        </a:lnSpc>
                        <a:spcBef>
                          <a:spcPts val="0"/>
                        </a:spcBef>
                        <a:spcAft>
                          <a:spcPts val="0"/>
                        </a:spcAft>
                        <a:buNone/>
                      </a:pPr>
                      <a:r>
                        <a:rPr lang="en-SG" sz="1500" b="0" i="0" dirty="0">
                          <a:solidFill>
                            <a:srgbClr val="F5F3EB"/>
                          </a:solidFill>
                          <a:latin typeface="Arial"/>
                          <a:cs typeface="Arial"/>
                        </a:rPr>
                        <a:t>57%</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B2940"/>
                    </a:solidFill>
                  </a:tcPr>
                </a:tc>
                <a:tc>
                  <a:txBody>
                    <a:bodyPr/>
                    <a:lstStyle/>
                    <a:p>
                      <a:pPr marL="0" indent="0" algn="l">
                        <a:lnSpc>
                          <a:spcPct val="100000"/>
                        </a:lnSpc>
                        <a:spcBef>
                          <a:spcPts val="0"/>
                        </a:spcBef>
                        <a:spcAft>
                          <a:spcPts val="0"/>
                        </a:spcAft>
                        <a:buNone/>
                      </a:pPr>
                      <a:r>
                        <a:rPr lang="en-SG" sz="1500" b="0" i="0" dirty="0">
                          <a:solidFill>
                            <a:srgbClr val="D6DDE8"/>
                          </a:solidFill>
                          <a:latin typeface="Arial"/>
                          <a:cs typeface="Arial"/>
                        </a:rPr>
                        <a:t>3 of 5</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B2940"/>
                    </a:solidFill>
                  </a:tcPr>
                </a:tc>
                <a:extLst>
                  <a:ext uri="{0D108BD9-81ED-4DB2-BD59-A6C34878D82A}">
                    <a16:rowId xmlns:a16="http://schemas.microsoft.com/office/drawing/2014/main" val="10005"/>
                  </a:ext>
                </a:extLst>
              </a:tr>
              <a:tr h="420624">
                <a:tc>
                  <a:txBody>
                    <a:bodyPr/>
                    <a:lstStyle/>
                    <a:p>
                      <a:pPr marL="0" indent="0" algn="l">
                        <a:lnSpc>
                          <a:spcPct val="100000"/>
                        </a:lnSpc>
                        <a:spcBef>
                          <a:spcPts val="0"/>
                        </a:spcBef>
                        <a:spcAft>
                          <a:spcPts val="0"/>
                        </a:spcAft>
                        <a:buNone/>
                      </a:pPr>
                      <a:r>
                        <a:rPr lang="en-SG" sz="1500" b="1" i="0" dirty="0">
                          <a:solidFill>
                            <a:srgbClr val="F5F3EB"/>
                          </a:solidFill>
                          <a:latin typeface="Arial"/>
                          <a:cs typeface="Arial"/>
                        </a:rPr>
                        <a:t>Claude Opus 5.5</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6233A"/>
                    </a:solidFill>
                  </a:tcPr>
                </a:tc>
                <a:tc>
                  <a:txBody>
                    <a:bodyPr/>
                    <a:lstStyle/>
                    <a:p>
                      <a:pPr marL="0" indent="0" algn="l">
                        <a:lnSpc>
                          <a:spcPct val="100000"/>
                        </a:lnSpc>
                        <a:spcBef>
                          <a:spcPts val="0"/>
                        </a:spcBef>
                        <a:spcAft>
                          <a:spcPts val="0"/>
                        </a:spcAft>
                        <a:buNone/>
                      </a:pPr>
                      <a:r>
                        <a:rPr lang="en-SG" sz="1500" b="0" i="0" dirty="0">
                          <a:solidFill>
                            <a:srgbClr val="69DECC"/>
                          </a:solidFill>
                          <a:latin typeface="Arial"/>
                          <a:cs typeface="Arial"/>
                        </a:rPr>
                        <a:t>Checklist</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6233A"/>
                    </a:solidFill>
                  </a:tcPr>
                </a:tc>
                <a:tc>
                  <a:txBody>
                    <a:bodyPr/>
                    <a:lstStyle/>
                    <a:p>
                      <a:pPr marL="0" indent="0" algn="l">
                        <a:lnSpc>
                          <a:spcPct val="100000"/>
                        </a:lnSpc>
                        <a:spcBef>
                          <a:spcPts val="0"/>
                        </a:spcBef>
                        <a:spcAft>
                          <a:spcPts val="0"/>
                        </a:spcAft>
                        <a:buNone/>
                      </a:pPr>
                      <a:r>
                        <a:rPr lang="en-SG" sz="1500" b="1" i="0" dirty="0">
                          <a:solidFill>
                            <a:srgbClr val="F5F3EB"/>
                          </a:solidFill>
                          <a:latin typeface="Arial"/>
                          <a:cs typeface="Arial"/>
                        </a:rPr>
                        <a:t>79 of 136</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6233A"/>
                    </a:solidFill>
                  </a:tcPr>
                </a:tc>
                <a:tc>
                  <a:txBody>
                    <a:bodyPr/>
                    <a:lstStyle/>
                    <a:p>
                      <a:pPr marL="0" indent="0" algn="l">
                        <a:lnSpc>
                          <a:spcPct val="100000"/>
                        </a:lnSpc>
                        <a:spcBef>
                          <a:spcPts val="0"/>
                        </a:spcBef>
                        <a:spcAft>
                          <a:spcPts val="0"/>
                        </a:spcAft>
                        <a:buNone/>
                      </a:pPr>
                      <a:r>
                        <a:rPr lang="en-SG" sz="1500" b="0" i="0" dirty="0">
                          <a:solidFill>
                            <a:srgbClr val="F5F3EB"/>
                          </a:solidFill>
                          <a:latin typeface="Arial"/>
                          <a:cs typeface="Arial"/>
                        </a:rPr>
                        <a:t>58%</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6233A"/>
                    </a:solidFill>
                  </a:tcPr>
                </a:tc>
                <a:tc>
                  <a:txBody>
                    <a:bodyPr/>
                    <a:lstStyle/>
                    <a:p>
                      <a:pPr marL="0" indent="0" algn="l">
                        <a:lnSpc>
                          <a:spcPct val="100000"/>
                        </a:lnSpc>
                        <a:spcBef>
                          <a:spcPts val="0"/>
                        </a:spcBef>
                        <a:spcAft>
                          <a:spcPts val="0"/>
                        </a:spcAft>
                        <a:buNone/>
                      </a:pPr>
                      <a:r>
                        <a:rPr lang="en-SG" sz="1500" b="0" i="0" dirty="0">
                          <a:solidFill>
                            <a:srgbClr val="D6DDE8"/>
                          </a:solidFill>
                          <a:latin typeface="Arial"/>
                          <a:cs typeface="Arial"/>
                        </a:rPr>
                        <a:t>5 of 5</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6233A"/>
                    </a:solidFill>
                  </a:tcPr>
                </a:tc>
                <a:extLst>
                  <a:ext uri="{0D108BD9-81ED-4DB2-BD59-A6C34878D82A}">
                    <a16:rowId xmlns:a16="http://schemas.microsoft.com/office/drawing/2014/main" val="10006"/>
                  </a:ext>
                </a:extLst>
              </a:tr>
              <a:tr h="420624">
                <a:tc>
                  <a:txBody>
                    <a:bodyPr/>
                    <a:lstStyle/>
                    <a:p>
                      <a:pPr marL="0" indent="0" algn="l">
                        <a:lnSpc>
                          <a:spcPct val="100000"/>
                        </a:lnSpc>
                        <a:spcBef>
                          <a:spcPts val="0"/>
                        </a:spcBef>
                        <a:spcAft>
                          <a:spcPts val="0"/>
                        </a:spcAft>
                        <a:buNone/>
                      </a:pPr>
                      <a:r>
                        <a:rPr lang="en-SG" sz="1500" b="1" i="0" dirty="0">
                          <a:solidFill>
                            <a:srgbClr val="F5F3EB"/>
                          </a:solidFill>
                          <a:latin typeface="Arial"/>
                          <a:cs typeface="Arial"/>
                        </a:rPr>
                        <a:t>Claude Sonnet 5.5</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B2940"/>
                    </a:solidFill>
                  </a:tcPr>
                </a:tc>
                <a:tc>
                  <a:txBody>
                    <a:bodyPr/>
                    <a:lstStyle/>
                    <a:p>
                      <a:pPr marL="0" indent="0" algn="l">
                        <a:lnSpc>
                          <a:spcPct val="100000"/>
                        </a:lnSpc>
                        <a:spcBef>
                          <a:spcPts val="0"/>
                        </a:spcBef>
                        <a:spcAft>
                          <a:spcPts val="0"/>
                        </a:spcAft>
                        <a:buNone/>
                      </a:pPr>
                      <a:r>
                        <a:rPr lang="en-SG" sz="1500" b="0" i="0" dirty="0">
                          <a:solidFill>
                            <a:srgbClr val="B9C4D5"/>
                          </a:solidFill>
                          <a:latin typeface="Arial"/>
                          <a:cs typeface="Arial"/>
                        </a:rPr>
                        <a:t>Free-form summary</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B2940"/>
                    </a:solidFill>
                  </a:tcPr>
                </a:tc>
                <a:tc>
                  <a:txBody>
                    <a:bodyPr/>
                    <a:lstStyle/>
                    <a:p>
                      <a:pPr marL="0" indent="0" algn="l">
                        <a:lnSpc>
                          <a:spcPct val="100000"/>
                        </a:lnSpc>
                        <a:spcBef>
                          <a:spcPts val="0"/>
                        </a:spcBef>
                        <a:spcAft>
                          <a:spcPts val="0"/>
                        </a:spcAft>
                        <a:buNone/>
                      </a:pPr>
                      <a:r>
                        <a:rPr lang="en-SG" sz="1500" b="1" i="0" dirty="0">
                          <a:solidFill>
                            <a:srgbClr val="F5F3EB"/>
                          </a:solidFill>
                          <a:latin typeface="Arial"/>
                          <a:cs typeface="Arial"/>
                        </a:rPr>
                        <a:t>74 of 136</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B2940"/>
                    </a:solidFill>
                  </a:tcPr>
                </a:tc>
                <a:tc>
                  <a:txBody>
                    <a:bodyPr/>
                    <a:lstStyle/>
                    <a:p>
                      <a:pPr marL="0" indent="0" algn="l">
                        <a:lnSpc>
                          <a:spcPct val="100000"/>
                        </a:lnSpc>
                        <a:spcBef>
                          <a:spcPts val="0"/>
                        </a:spcBef>
                        <a:spcAft>
                          <a:spcPts val="0"/>
                        </a:spcAft>
                        <a:buNone/>
                      </a:pPr>
                      <a:r>
                        <a:rPr lang="en-SG" sz="1500" b="0" i="0" dirty="0">
                          <a:solidFill>
                            <a:srgbClr val="F5F3EB"/>
                          </a:solidFill>
                          <a:latin typeface="Arial"/>
                          <a:cs typeface="Arial"/>
                        </a:rPr>
                        <a:t>54%</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B2940"/>
                    </a:solidFill>
                  </a:tcPr>
                </a:tc>
                <a:tc>
                  <a:txBody>
                    <a:bodyPr/>
                    <a:lstStyle/>
                    <a:p>
                      <a:pPr marL="0" indent="0" algn="l">
                        <a:lnSpc>
                          <a:spcPct val="100000"/>
                        </a:lnSpc>
                        <a:spcBef>
                          <a:spcPts val="0"/>
                        </a:spcBef>
                        <a:spcAft>
                          <a:spcPts val="0"/>
                        </a:spcAft>
                        <a:buNone/>
                      </a:pPr>
                      <a:r>
                        <a:rPr lang="en-SG" sz="1500" b="0" i="0" dirty="0">
                          <a:solidFill>
                            <a:srgbClr val="D6DDE8"/>
                          </a:solidFill>
                          <a:latin typeface="Arial"/>
                          <a:cs typeface="Arial"/>
                        </a:rPr>
                        <a:t>0 of 5</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B2940"/>
                    </a:solidFill>
                  </a:tcPr>
                </a:tc>
                <a:extLst>
                  <a:ext uri="{0D108BD9-81ED-4DB2-BD59-A6C34878D82A}">
                    <a16:rowId xmlns:a16="http://schemas.microsoft.com/office/drawing/2014/main" val="10007"/>
                  </a:ext>
                </a:extLst>
              </a:tr>
              <a:tr h="420624">
                <a:tc>
                  <a:txBody>
                    <a:bodyPr/>
                    <a:lstStyle/>
                    <a:p>
                      <a:pPr marL="0" indent="0" algn="l">
                        <a:lnSpc>
                          <a:spcPct val="100000"/>
                        </a:lnSpc>
                        <a:spcBef>
                          <a:spcPts val="0"/>
                        </a:spcBef>
                        <a:spcAft>
                          <a:spcPts val="0"/>
                        </a:spcAft>
                        <a:buNone/>
                      </a:pPr>
                      <a:r>
                        <a:rPr lang="en-SG" sz="1500" b="1" i="0" dirty="0">
                          <a:solidFill>
                            <a:srgbClr val="F5F3EB"/>
                          </a:solidFill>
                          <a:latin typeface="Arial"/>
                          <a:cs typeface="Arial"/>
                        </a:rPr>
                        <a:t>Claude Sonnet 5.5</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6233A"/>
                    </a:solidFill>
                  </a:tcPr>
                </a:tc>
                <a:tc>
                  <a:txBody>
                    <a:bodyPr/>
                    <a:lstStyle/>
                    <a:p>
                      <a:pPr marL="0" indent="0" algn="l">
                        <a:lnSpc>
                          <a:spcPct val="100000"/>
                        </a:lnSpc>
                        <a:spcBef>
                          <a:spcPts val="0"/>
                        </a:spcBef>
                        <a:spcAft>
                          <a:spcPts val="0"/>
                        </a:spcAft>
                        <a:buNone/>
                      </a:pPr>
                      <a:r>
                        <a:rPr lang="en-SG" sz="1500" b="0" i="0" dirty="0">
                          <a:solidFill>
                            <a:srgbClr val="69DECC"/>
                          </a:solidFill>
                          <a:latin typeface="Arial"/>
                          <a:cs typeface="Arial"/>
                        </a:rPr>
                        <a:t>Checklist</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6233A"/>
                    </a:solidFill>
                  </a:tcPr>
                </a:tc>
                <a:tc>
                  <a:txBody>
                    <a:bodyPr/>
                    <a:lstStyle/>
                    <a:p>
                      <a:pPr marL="0" indent="0" algn="l">
                        <a:lnSpc>
                          <a:spcPct val="100000"/>
                        </a:lnSpc>
                        <a:spcBef>
                          <a:spcPts val="0"/>
                        </a:spcBef>
                        <a:spcAft>
                          <a:spcPts val="0"/>
                        </a:spcAft>
                        <a:buNone/>
                      </a:pPr>
                      <a:r>
                        <a:rPr lang="en-SG" sz="1500" b="1" i="0" dirty="0">
                          <a:solidFill>
                            <a:srgbClr val="F5F3EB"/>
                          </a:solidFill>
                          <a:latin typeface="Arial"/>
                          <a:cs typeface="Arial"/>
                        </a:rPr>
                        <a:t>75 of 136</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6233A"/>
                    </a:solidFill>
                  </a:tcPr>
                </a:tc>
                <a:tc>
                  <a:txBody>
                    <a:bodyPr/>
                    <a:lstStyle/>
                    <a:p>
                      <a:pPr marL="0" indent="0" algn="l">
                        <a:lnSpc>
                          <a:spcPct val="100000"/>
                        </a:lnSpc>
                        <a:spcBef>
                          <a:spcPts val="0"/>
                        </a:spcBef>
                        <a:spcAft>
                          <a:spcPts val="0"/>
                        </a:spcAft>
                        <a:buNone/>
                      </a:pPr>
                      <a:r>
                        <a:rPr lang="en-SG" sz="1500" b="0" i="0" dirty="0">
                          <a:solidFill>
                            <a:srgbClr val="F5F3EB"/>
                          </a:solidFill>
                          <a:latin typeface="Arial"/>
                          <a:cs typeface="Arial"/>
                        </a:rPr>
                        <a:t>55%</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6233A"/>
                    </a:solidFill>
                  </a:tcPr>
                </a:tc>
                <a:tc>
                  <a:txBody>
                    <a:bodyPr/>
                    <a:lstStyle/>
                    <a:p>
                      <a:pPr marL="0" indent="0" algn="l">
                        <a:lnSpc>
                          <a:spcPct val="100000"/>
                        </a:lnSpc>
                        <a:spcBef>
                          <a:spcPts val="0"/>
                        </a:spcBef>
                        <a:spcAft>
                          <a:spcPts val="0"/>
                        </a:spcAft>
                        <a:buNone/>
                      </a:pPr>
                      <a:r>
                        <a:rPr lang="en-SG" sz="1500" b="0" i="0" dirty="0">
                          <a:solidFill>
                            <a:srgbClr val="D6DDE8"/>
                          </a:solidFill>
                          <a:latin typeface="Arial"/>
                          <a:cs typeface="Arial"/>
                        </a:rPr>
                        <a:t>4 of 5</a:t>
                      </a:r>
                    </a:p>
                  </a:txBody>
                  <a:tcPr marL="137160" marR="137160" marT="36576" marB="36576" anchor="ctr">
                    <a:lnL>
                      <a:noFill/>
                    </a:lnL>
                    <a:lnR>
                      <a:noFill/>
                    </a:lnR>
                    <a:lnT w="9525" cap="flat" cmpd="sng" algn="ctr">
                      <a:solidFill>
                        <a:srgbClr val="3A4A63"/>
                      </a:solidFill>
                      <a:prstDash val="solid"/>
                      <a:round/>
                      <a:headEnd type="none" w="med" len="med"/>
                      <a:tailEnd type="none" w="med" len="med"/>
                    </a:lnT>
                    <a:lnB w="9525">
                      <a:solidFill>
                        <a:srgbClr val="3A4A63"/>
                      </a:solidFill>
                    </a:lnB>
                    <a:solidFill>
                      <a:srgbClr val="16233A"/>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01B2D"/>
        </a:solidFill>
        <a:effectLst/>
      </p:bgPr>
    </p:bg>
    <p:spTree>
      <p:nvGrpSpPr>
        <p:cNvPr id="1" name=""/>
        <p:cNvGrpSpPr/>
        <p:nvPr/>
      </p:nvGrpSpPr>
      <p:grpSpPr>
        <a:xfrm>
          <a:off x="0" y="0"/>
          <a:ext cx="0" cy="0"/>
          <a:chOff x="0" y="0"/>
          <a:chExt cx="0" cy="0"/>
        </a:xfrm>
      </p:grpSpPr>
      <p:sp>
        <p:nvSpPr>
          <p:cNvPr id="2" name="Section label"/>
          <p:cNvSpPr txBox="1"/>
          <p:nvPr/>
        </p:nvSpPr>
        <p:spPr>
          <a:xfrm>
            <a:off x="548640" y="329184"/>
            <a:ext cx="9144000" cy="274320"/>
          </a:xfrm>
          <a:prstGeom prst="rect">
            <a:avLst/>
          </a:prstGeom>
          <a:noFill/>
          <a:ln>
            <a:noFill/>
          </a:ln>
        </p:spPr>
        <p:txBody>
          <a:bodyPr vert="horz" wrap="square" lIns="0" tIns="0" rIns="0" bIns="0" rtlCol="0" anchor="ctr">
            <a:noAutofit/>
          </a:bodyPr>
          <a:lstStyle/>
          <a:p>
            <a:pPr marL="0" indent="0" algn="l">
              <a:lnSpc>
                <a:spcPct val="100000"/>
              </a:lnSpc>
              <a:spcBef>
                <a:spcPts val="0"/>
              </a:spcBef>
              <a:spcAft>
                <a:spcPts val="0"/>
              </a:spcAft>
              <a:buNone/>
            </a:pPr>
            <a:r>
              <a:rPr lang="en-SG" sz="1200" b="1" i="0" spc="100" dirty="0">
                <a:solidFill>
                  <a:srgbClr val="69DECC"/>
                </a:solidFill>
                <a:latin typeface="Arial"/>
                <a:cs typeface="Arial"/>
              </a:rPr>
              <a:t>BACKUP</a:t>
            </a:r>
          </a:p>
        </p:txBody>
      </p:sp>
      <p:sp>
        <p:nvSpPr>
          <p:cNvPr id="3" name="Title"/>
          <p:cNvSpPr>
            <a:spLocks noGrp="1"/>
          </p:cNvSpPr>
          <p:nvPr>
            <p:ph type="title"/>
          </p:nvPr>
        </p:nvSpPr>
        <p:spPr>
          <a:xfrm>
            <a:off x="548640" y="658368"/>
            <a:ext cx="11091672" cy="658368"/>
          </a:xfrm>
        </p:spPr>
        <p:txBody>
          <a:bodyPr vert="horz" wrap="square" lIns="0" tIns="0" rIns="0" bIns="0" rtlCol="0" anchor="t">
            <a:noAutofit/>
          </a:bodyPr>
          <a:lstStyle/>
          <a:p>
            <a:pPr marL="0" indent="0" algn="l">
              <a:lnSpc>
                <a:spcPct val="95000"/>
              </a:lnSpc>
              <a:spcBef>
                <a:spcPts val="0"/>
              </a:spcBef>
              <a:spcAft>
                <a:spcPts val="0"/>
              </a:spcAft>
              <a:buNone/>
            </a:pPr>
            <a:r>
              <a:rPr lang="en-SG" sz="3000" b="1" i="0" dirty="0">
                <a:solidFill>
                  <a:srgbClr val="F5F3EB"/>
                </a:solidFill>
                <a:latin typeface="Arial"/>
                <a:cs typeface="Arial"/>
              </a:rPr>
              <a:t>How the test was kept fair</a:t>
            </a:r>
          </a:p>
        </p:txBody>
      </p:sp>
      <p:sp>
        <p:nvSpPr>
          <p:cNvPr id="4" name="Slide number"/>
          <p:cNvSpPr txBox="1"/>
          <p:nvPr/>
        </p:nvSpPr>
        <p:spPr>
          <a:xfrm>
            <a:off x="10424160" y="6382512"/>
            <a:ext cx="1216152" cy="256032"/>
          </a:xfrm>
          <a:prstGeom prst="rect">
            <a:avLst/>
          </a:prstGeom>
          <a:noFill/>
          <a:ln>
            <a:noFill/>
          </a:ln>
        </p:spPr>
        <p:txBody>
          <a:bodyPr vert="horz" wrap="square" lIns="0" tIns="0" rIns="0" bIns="0" rtlCol="0" anchor="ctr">
            <a:noAutofit/>
          </a:bodyPr>
          <a:lstStyle/>
          <a:p>
            <a:pPr marL="0" indent="0" algn="r">
              <a:lnSpc>
                <a:spcPct val="100000"/>
              </a:lnSpc>
              <a:spcBef>
                <a:spcPts val="0"/>
              </a:spcBef>
              <a:spcAft>
                <a:spcPts val="0"/>
              </a:spcAft>
              <a:buNone/>
            </a:pPr>
            <a:r>
              <a:rPr lang="en-SG" sz="1050" b="0" i="0" dirty="0">
                <a:solidFill>
                  <a:srgbClr val="B9C4D5"/>
                </a:solidFill>
                <a:latin typeface="Arial"/>
                <a:cs typeface="Arial"/>
              </a:rPr>
              <a:t>Backup</a:t>
            </a:r>
          </a:p>
        </p:txBody>
      </p:sp>
      <p:sp>
        <p:nvSpPr>
          <p:cNvPr id="5" name="Same start for every coding run"/>
          <p:cNvSpPr/>
          <p:nvPr/>
        </p:nvSpPr>
        <p:spPr>
          <a:xfrm>
            <a:off x="548640" y="1600200"/>
            <a:ext cx="5431536" cy="1645920"/>
          </a:xfrm>
          <a:prstGeom prst="roundRect">
            <a:avLst>
              <a:gd name="adj" fmla="val 4444"/>
            </a:avLst>
          </a:prstGeom>
          <a:solidFill>
            <a:srgbClr val="1B2940"/>
          </a:solidFill>
          <a:ln>
            <a:noFill/>
          </a:ln>
        </p:spPr>
        <p:txBody>
          <a:bodyPr vert="horz" wrap="square" lIns="256032" tIns="182880" rIns="237744" bIns="128016" rtlCol="0" anchor="t">
            <a:noAutofit/>
          </a:bodyPr>
          <a:lstStyle/>
          <a:p>
            <a:pPr marL="0" indent="0" algn="l">
              <a:lnSpc>
                <a:spcPct val="100000"/>
              </a:lnSpc>
              <a:spcBef>
                <a:spcPts val="0"/>
              </a:spcBef>
              <a:spcAft>
                <a:spcPts val="600"/>
              </a:spcAft>
              <a:buNone/>
            </a:pPr>
            <a:r>
              <a:rPr lang="en-SG" sz="1600" b="1" i="0" dirty="0">
                <a:solidFill>
                  <a:srgbClr val="F5F3EB"/>
                </a:solidFill>
                <a:latin typeface="Arial"/>
                <a:cs typeface="Arial"/>
              </a:rPr>
              <a:t>Same start for every coding run</a:t>
            </a:r>
          </a:p>
          <a:p>
            <a:pPr marL="0" indent="0" algn="l">
              <a:lnSpc>
                <a:spcPct val="110000"/>
              </a:lnSpc>
              <a:spcBef>
                <a:spcPts val="0"/>
              </a:spcBef>
              <a:spcAft>
                <a:spcPts val="0"/>
              </a:spcAft>
              <a:buNone/>
            </a:pPr>
            <a:r>
              <a:rPr lang="en-SG" sz="1400" b="0" i="0" dirty="0">
                <a:solidFill>
                  <a:srgbClr val="D6DDE8"/>
                </a:solidFill>
                <a:latin typeface="Arial"/>
                <a:cs typeface="Arial"/>
              </a:rPr>
              <a:t>Each coding run had its own folder, with the same starting code, requirements and tests. All 5 repairs passed all 30 tests.</a:t>
            </a:r>
          </a:p>
        </p:txBody>
      </p:sp>
      <p:sp>
        <p:nvSpPr>
          <p:cNvPr id="6" name="Separate agents, no peeking"/>
          <p:cNvSpPr/>
          <p:nvPr/>
        </p:nvSpPr>
        <p:spPr>
          <a:xfrm>
            <a:off x="6208776" y="1600200"/>
            <a:ext cx="5431536" cy="1645920"/>
          </a:xfrm>
          <a:prstGeom prst="roundRect">
            <a:avLst>
              <a:gd name="adj" fmla="val 4444"/>
            </a:avLst>
          </a:prstGeom>
          <a:solidFill>
            <a:srgbClr val="1B2940"/>
          </a:solidFill>
          <a:ln>
            <a:noFill/>
          </a:ln>
        </p:spPr>
        <p:txBody>
          <a:bodyPr vert="horz" wrap="square" lIns="256032" tIns="182880" rIns="237744" bIns="128016" rtlCol="0" anchor="t">
            <a:noAutofit/>
          </a:bodyPr>
          <a:lstStyle/>
          <a:p>
            <a:pPr marL="0" indent="0" algn="l">
              <a:lnSpc>
                <a:spcPct val="100000"/>
              </a:lnSpc>
              <a:spcBef>
                <a:spcPts val="0"/>
              </a:spcBef>
              <a:spcAft>
                <a:spcPts val="600"/>
              </a:spcAft>
              <a:buNone/>
            </a:pPr>
            <a:r>
              <a:rPr lang="en-SG" sz="1600" b="1" i="0" dirty="0">
                <a:solidFill>
                  <a:srgbClr val="F5F3EB"/>
                </a:solidFill>
                <a:latin typeface="Arial"/>
                <a:cs typeface="Arial"/>
              </a:rPr>
              <a:t>Separate agents, no peeking</a:t>
            </a:r>
          </a:p>
          <a:p>
            <a:pPr marL="0" indent="0" algn="l">
              <a:lnSpc>
                <a:spcPct val="110000"/>
              </a:lnSpc>
              <a:spcBef>
                <a:spcPts val="0"/>
              </a:spcBef>
              <a:spcAft>
                <a:spcPts val="0"/>
              </a:spcAft>
              <a:buNone/>
            </a:pPr>
            <a:r>
              <a:rPr lang="en-SG" sz="1400" b="0" i="0" dirty="0">
                <a:solidFill>
                  <a:srgbClr val="D6DDE8"/>
                </a:solidFill>
                <a:latin typeface="Arial"/>
                <a:cs typeface="Arial"/>
              </a:rPr>
              <a:t>Every agent started in a fresh session. No agent saw the other handoff or the answer key.</a:t>
            </a:r>
          </a:p>
        </p:txBody>
      </p:sp>
      <p:sp>
        <p:nvSpPr>
          <p:cNvPr id="7" name="Fixed before the handoffs"/>
          <p:cNvSpPr/>
          <p:nvPr/>
        </p:nvSpPr>
        <p:spPr>
          <a:xfrm>
            <a:off x="548640" y="3474720"/>
            <a:ext cx="5431536" cy="1645920"/>
          </a:xfrm>
          <a:prstGeom prst="roundRect">
            <a:avLst>
              <a:gd name="adj" fmla="val 4444"/>
            </a:avLst>
          </a:prstGeom>
          <a:solidFill>
            <a:srgbClr val="1B2940"/>
          </a:solidFill>
          <a:ln>
            <a:noFill/>
          </a:ln>
        </p:spPr>
        <p:txBody>
          <a:bodyPr vert="horz" wrap="square" lIns="256032" tIns="182880" rIns="237744" bIns="128016" rtlCol="0" anchor="t">
            <a:noAutofit/>
          </a:bodyPr>
          <a:lstStyle/>
          <a:p>
            <a:pPr marL="0" indent="0" algn="l">
              <a:lnSpc>
                <a:spcPct val="100000"/>
              </a:lnSpc>
              <a:spcBef>
                <a:spcPts val="0"/>
              </a:spcBef>
              <a:spcAft>
                <a:spcPts val="600"/>
              </a:spcAft>
              <a:buNone/>
            </a:pPr>
            <a:r>
              <a:rPr lang="en-SG" sz="1600" b="1" i="0" dirty="0">
                <a:solidFill>
                  <a:srgbClr val="F5F3EB"/>
                </a:solidFill>
                <a:latin typeface="Arial"/>
                <a:cs typeface="Arial"/>
              </a:rPr>
              <a:t>Fixed before the handoffs</a:t>
            </a:r>
          </a:p>
          <a:p>
            <a:pPr marL="0" indent="0" algn="l">
              <a:lnSpc>
                <a:spcPct val="110000"/>
              </a:lnSpc>
              <a:spcBef>
                <a:spcPts val="0"/>
              </a:spcBef>
              <a:spcAft>
                <a:spcPts val="0"/>
              </a:spcAft>
              <a:buNone/>
            </a:pPr>
            <a:r>
              <a:rPr lang="en-SG" sz="1400" b="0" i="0" dirty="0">
                <a:solidFill>
                  <a:srgbClr val="D6DDE8"/>
                </a:solidFill>
                <a:latin typeface="Arial"/>
                <a:cs typeface="Arial"/>
              </a:rPr>
              <a:t>Questions, prompts and each run’s answer key were frozen before that run’s handoffs were written.</a:t>
            </a:r>
          </a:p>
        </p:txBody>
      </p:sp>
      <p:sp>
        <p:nvSpPr>
          <p:cNvPr id="8" name="Isolated and audited"/>
          <p:cNvSpPr/>
          <p:nvPr/>
        </p:nvSpPr>
        <p:spPr>
          <a:xfrm>
            <a:off x="6208776" y="3474720"/>
            <a:ext cx="5431536" cy="1645920"/>
          </a:xfrm>
          <a:prstGeom prst="roundRect">
            <a:avLst>
              <a:gd name="adj" fmla="val 4444"/>
            </a:avLst>
          </a:prstGeom>
          <a:solidFill>
            <a:srgbClr val="1B2940"/>
          </a:solidFill>
          <a:ln>
            <a:noFill/>
          </a:ln>
        </p:spPr>
        <p:txBody>
          <a:bodyPr vert="horz" wrap="square" lIns="256032" tIns="182880" rIns="237744" bIns="128016" rtlCol="0" anchor="t">
            <a:noAutofit/>
          </a:bodyPr>
          <a:lstStyle/>
          <a:p>
            <a:pPr marL="0" indent="0" algn="l">
              <a:lnSpc>
                <a:spcPct val="100000"/>
              </a:lnSpc>
              <a:spcBef>
                <a:spcPts val="0"/>
              </a:spcBef>
              <a:spcAft>
                <a:spcPts val="600"/>
              </a:spcAft>
              <a:buNone/>
            </a:pPr>
            <a:r>
              <a:rPr lang="en-SG" sz="1600" b="1" i="0" dirty="0">
                <a:solidFill>
                  <a:srgbClr val="F5F3EB"/>
                </a:solidFill>
                <a:latin typeface="Arial"/>
                <a:cs typeface="Arial"/>
              </a:rPr>
              <a:t>Isolated and audited</a:t>
            </a:r>
          </a:p>
          <a:p>
            <a:pPr marL="0" indent="0" algn="l">
              <a:lnSpc>
                <a:spcPct val="110000"/>
              </a:lnSpc>
              <a:spcBef>
                <a:spcPts val="0"/>
              </a:spcBef>
              <a:spcAft>
                <a:spcPts val="0"/>
              </a:spcAft>
              <a:buNone/>
            </a:pPr>
            <a:r>
              <a:rPr lang="en-SG" sz="1400" b="0" i="0" dirty="0">
                <a:solidFill>
                  <a:srgbClr val="D6DDE8"/>
                </a:solidFill>
                <a:latin typeface="Arial"/>
                <a:cs typeface="Arial"/>
              </a:rPr>
              <a:t>The coding agent could only read its 3 files, rewrite llm.py and run the tests, with no network or other commands. Records of all 110 scored model calls showed no other tool 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3781</Words>
  <Application>Microsoft Office PowerPoint</Application>
  <PresentationFormat>Widescreen</PresentationFormat>
  <Paragraphs>370</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Segoe UI Symbol</vt:lpstr>
      <vt:lpstr>Office Theme</vt:lpstr>
      <vt:lpstr>Free-form summaries vs structured checklists</vt:lpstr>
      <vt:lpstr>Our MP3 agents pass work along in handoffs</vt:lpstr>
      <vt:lpstr>A handoff squeezes a long history into a short note</vt:lpstr>
      <vt:lpstr>Which handoff format keeps more information?</vt:lpstr>
      <vt:lpstr>The task: fix 5 bugs in Deskmate’s LLM health check</vt:lpstr>
      <vt:lpstr>3 agents pass the work along</vt:lpstr>
      <vt:lpstr>Scoring: how many expected facts survived?</vt:lpstr>
      <vt:lpstr>GPT leaned free-form, Claude leaned checklist</vt:lpstr>
      <vt:lpstr>The real gap was in which facts survived</vt:lpstr>
      <vt:lpstr>The checklist kept the test results but lost the rules</vt:lpstr>
      <vt:lpstr>What this experiment can’t tell us</vt:lpstr>
      <vt:lpstr>Decide what goes into a handoff, not just how it looks</vt:lpstr>
      <vt:lpstr>Full results by model and format</vt:lpstr>
      <vt:lpstr>How the test was kept fair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2</cp:revision>
  <dcterms:created xsi:type="dcterms:W3CDTF">2026-10-19T11:51:30Z</dcterms:created>
  <dcterms:modified xsi:type="dcterms:W3CDTF">2026-10-19T16:58:06Z</dcterms:modified>
</cp:coreProperties>
</file>